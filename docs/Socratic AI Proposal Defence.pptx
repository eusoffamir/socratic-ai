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B5563"/>
                </a:solidFill>
                <a:latin typeface="Arial"/>
              </a:defRPr>
            </a:pPr>
            <a:r>
              <a:rPr sz="1300" b="0" i="0" u="none" strike="noStrike">
                <a:solidFill>
                  <a:srgbClr val="4B5563"/>
                </a:solidFill>
                <a:latin typeface="Arial"/>
              </a:rPr>
              <a:t>Average standards met, out of 9 (approximate)</a:t>
            </a:r>
          </a:p>
        </c:rich>
      </c:tx>
      <c:layout/>
      <c:overlay val="0"/>
    </c:title>
    <c:autoTitleDeleted val="0"/>
    <c:plotArea>
      <c:layout/>
      <c:barChart>
        <c:barDir val="bar"/>
        <c:grouping val="clustered"/>
        <c:varyColors val="0"/>
        <c:ser>
          <c:idx val="0"/>
          <c:order val="0"/>
          <c:tx>
            <c:strRef>
              <c:f>Sheet1!$B$1</c:f>
              <c:strCache>
                <c:ptCount val="1"/>
                <c:pt idx="0">
                  <c:v>Standards met (of 9)</c:v>
                </c:pt>
              </c:strCache>
            </c:strRef>
          </c:tx>
          <c:spPr>
            <a:solidFill>
              <a:srgbClr val="07517A"/>
            </a:solidFill>
            <a:effectLst/>
          </c:spPr>
          <c:invertIfNegative val="0"/>
          <c:dLbls>
            <c:numFmt formatCode="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Trick answers</c:v>
                  </c:pt>
                  <c:pt idx="1">
                    <c:v>Keyword-only answers</c:v>
                  </c:pt>
                  <c:pt idx="2">
                    <c:v>Strong answers</c:v>
                  </c:pt>
                </c:lvl>
              </c:multiLvlStrCache>
            </c:multiLvlStrRef>
          </c:cat>
          <c:val>
            <c:numRef>
              <c:f>Sheet1!$B$2:$B$4</c:f>
              <c:numCache>
                <c:formatCode>General</c:formatCode>
                <c:ptCount val="3"/>
                <c:pt idx="0">
                  <c:v>1.5</c:v>
                </c:pt>
                <c:pt idx="1">
                  <c:v>4</c:v>
                </c:pt>
                <c:pt idx="2">
                  <c:v>8.5</c:v>
                </c:pt>
              </c:numCache>
            </c:numRef>
          </c:val>
        </c:ser>
        <c:dLbls>
          <c:numFmt formatCode="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Eusoff, and my supervisor is Dr Ho Tatt Wei. My project is Socratic AI, an AI tutor that does not give answers. It asks questions step by step and measures how well the student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outline. I will cover the introduction, the problem, objectives and scope, the literature, my methodology, the timeline, my first results and the conclusion. On the right is the working app, which is already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now ask an AI for a finished answer and copy it. A QS report found 62 percent of students use generative AI every week, and a study of 319 workers found that people who trust AI more think less critically. My idea is to use the same AI the other way round: a tutor that asks questions in a set order, and that measures how well the student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tools already refuse to give answers, like Gemini Gems. I tested two of them and found three problems. The questions have no structure, there is no real assessment of reasoning, and the experience is poor. My tester wrote: bro I explained this before. So one prompt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five objectives. Build the multi-agent tutor. Use the six Socratic levels and the nine standards. Objective three, in gold, is new from my latest meeting with Dr Ho: show which type of reasoning and knowledge the learner used, over many questions. Then adapt to each learner, and evaluate against the baseline tutors.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it small, the prototype covers one quant topic: is a pattern in data real, or just luck. It uses four AI agents guarded by code, and it assesses reasoning against a framework. A second topic, real reading material and knowledge graphs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gives several frameworks. From Paul and Elder, the six question levels tell the tutor what to ask, and the nine standards tell the assessor how good the answer is. The eight elements of thought, the revised Bloom's taxonomy and the SOLO taxonomy will add the type of knowledge and the complexity,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Studies in education, nursing and healthcare show that Socratic questioning improves reasoning, but a human tutor cannot do it for every student. AI can do it at scale. Degen and Asanov in 2025 found a Socratic AI tutor gave more support for reflective thinking than a plain chatbot, and they argue for multi-agent systems. But most of this work is self-reported, and it does not measure the reasoning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comparison of existing tutors. They refuse to give answers, but none combine a principled question ladder, assessment against a framework, and a clear goal with progress and an end. None show which type of reasoning the learner used. Socratic AI covers these, and the last column is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gap is this. AI can reduce thinking, Socratic tutors have no principled ladder, reasoning is rarely measured against a framework, and no tool shows which type of reasoning a learner used. My project answers each point: a tutor that follows the six levels, a separate assessor marking the nine standards, code rules guarding the AI, and next, reasoning and knowledge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 is iterative prototyping in five phases. I tested existing tutors, turned what failed into nine design requirements, built the prototype, tested it with real sessions and fixed what broke, and next I evaluate it. It uses Python, FastAPI, LangGraph and the free Gemini model, and it is hosted for free. No GPU is needed, because the AI runs in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Every answer goes through these steps. The Assessor marks it. The Planner proposes the next move. Then plain code rules check the plan, so the AI cannot break important rules. The Tutor writes the reply and may run a small simulation, and the Checker reviews it before the learner sees it. So the agents decide, and the rules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learner sees. On the left, each case starts with a short reading. On the right, a real session: the tutor gives short feedback, one question, a hint that stays hidden until the learner opens it, and here it ran a simulation: out of 500 random stocks, 15 went up every day by luck. Underneath are the other features from the design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my last meeting, Dr Ho and I widened the framework. Navy parts are built, gold parts are planned. Besides quality, we want to know which type of reasoning the student used, like inductive or deductive, and which type of knowledge, like causal or relational. New agents will do this, without rebuilding the old ones. Each skill is measured over several questions, then simple statistics. For example, noticing that all regional banks fell, not just one bank, is inductive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evaluate in four ways. A requirement check against the baseline tutors. The Assessor against human markers using Cohen's kappa, where the parent grant targets 0.8. Switching agents on and off to see what each one adds. And a short questionnaire with real learners after ethics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timeline. The dark bars are done: the tests, the requirements and the working prototype. By mid November I add the reasoning and knowledge layer, then the interim report. In FYP 2 I validate the Assessor with human markers, test with learners and try a second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results from real sessions with Gemini. On the left is the end profile from a real 3-round session: the level reached, the nine standards and the Coach's comment. In my two full test sessions, the tutor never gave the answer away, even when I asked it to ignore its rules. I found five problems and fixed all five, and a session uses about 24 AI calls, which fits the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then ran the Assessor on 61 test answers. Strong answers met about 8 or 9 standards and trick answers about 1 or 2, which is the right direction. But answers that only repeat keywords still score about 4, so that is the next fix. These numbers are approximate and not yet compared with human markers. On the right are the five problems I found in testing and how each was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AI makes it easy to skip thinking, and current tutors have no structure or real assessment. I built a working multi-agent tutor that follows the six levels, marks the nine standards and is guarded by code. Next I will show which type of reasoning and knowledge a learner used, and validate the marks against human markers. The take-home message: it is a reasoning trainer, not an answer machine, built in a new way with many agents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references. The full list is in my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82880"/>
            <a:ext cx="3749040" cy="54864"/>
          </a:xfrm>
          <a:prstGeom prst="rect">
            <a:avLst/>
          </a:prstGeom>
          <a:solidFill>
            <a:srgbClr val="07517A"/>
          </a:solidFill>
          <a:ln w="12700">
            <a:solidFill>
              <a:srgbClr val="07517A"/>
            </a:solidFill>
            <a:prstDash val="solid"/>
          </a:ln>
        </p:spPr>
      </p:sp>
      <p:sp>
        <p:nvSpPr>
          <p:cNvPr id="3" name="Shape 1"/>
          <p:cNvSpPr/>
          <p:nvPr/>
        </p:nvSpPr>
        <p:spPr>
          <a:xfrm>
            <a:off x="4114800" y="182880"/>
            <a:ext cx="3931920" cy="54864"/>
          </a:xfrm>
          <a:prstGeom prst="rect">
            <a:avLst/>
          </a:prstGeom>
          <a:solidFill>
            <a:srgbClr val="7A6E3C"/>
          </a:solidFill>
          <a:ln w="12700">
            <a:solidFill>
              <a:srgbClr val="7A6E3C"/>
            </a:solidFill>
            <a:prstDash val="solid"/>
          </a:ln>
        </p:spPr>
      </p:sp>
      <p:sp>
        <p:nvSpPr>
          <p:cNvPr id="4" name="Shape 2"/>
          <p:cNvSpPr/>
          <p:nvPr/>
        </p:nvSpPr>
        <p:spPr>
          <a:xfrm>
            <a:off x="8183880" y="182880"/>
            <a:ext cx="3776472" cy="54864"/>
          </a:xfrm>
          <a:prstGeom prst="rect">
            <a:avLst/>
          </a:prstGeom>
          <a:solidFill>
            <a:srgbClr val="07517A"/>
          </a:solidFill>
          <a:ln w="12700">
            <a:solidFill>
              <a:srgbClr val="07517A"/>
            </a:solidFill>
            <a:prstDash val="solid"/>
          </a:ln>
        </p:spPr>
      </p:sp>
      <p:pic>
        <p:nvPicPr>
          <p:cNvPr id="5" name="Image 0" descr="C:\Users\eizma\AppData\Local\Temp\claude\c--Users-eizma-Desktop-socratic-ai\1d6c8d6d-fece-4855-be96-8b6833d2ef11\scratchpad\deck\utp_logo_cover.jpeg">    </p:cNvPr>
          <p:cNvPicPr>
            <a:picLocks noChangeAspect="1"/>
          </p:cNvPicPr>
          <p:nvPr/>
        </p:nvPicPr>
        <p:blipFill>
          <a:blip r:embed="rId1"/>
          <a:stretch>
            <a:fillRect/>
          </a:stretch>
        </p:blipFill>
        <p:spPr>
          <a:xfrm>
            <a:off x="502920" y="1143000"/>
            <a:ext cx="2377440" cy="2377440"/>
          </a:xfrm>
          <a:prstGeom prst="rect">
            <a:avLst/>
          </a:prstGeom>
        </p:spPr>
      </p:pic>
      <p:sp>
        <p:nvSpPr>
          <p:cNvPr id="6" name="Text 3"/>
          <p:cNvSpPr/>
          <p:nvPr/>
        </p:nvSpPr>
        <p:spPr>
          <a:xfrm>
            <a:off x="3291840" y="685800"/>
            <a:ext cx="8229600" cy="411480"/>
          </a:xfrm>
          <a:prstGeom prst="rect">
            <a:avLst/>
          </a:prstGeom>
          <a:noFill/>
          <a:ln/>
        </p:spPr>
        <p:txBody>
          <a:bodyPr wrap="square" lIns="0" tIns="0" rIns="0" bIns="0" rtlCol="0" anchor="ctr"/>
          <a:lstStyle/>
          <a:p>
            <a:pPr indent="0" marL="0">
              <a:buNone/>
            </a:pPr>
            <a:r>
              <a:rPr lang="en-US" sz="1800" dirty="0">
                <a:solidFill>
                  <a:srgbClr val="07517A"/>
                </a:solidFill>
                <a:latin typeface="Arial" pitchFamily="34" charset="0"/>
                <a:ea typeface="Arial" pitchFamily="34" charset="-122"/>
                <a:cs typeface="Arial" pitchFamily="34" charset="-120"/>
              </a:rPr>
              <a:t>Proposal Defense</a:t>
            </a:r>
            <a:endParaRPr lang="en-US" sz="1800" dirty="0"/>
          </a:p>
        </p:txBody>
      </p:sp>
      <p:sp>
        <p:nvSpPr>
          <p:cNvPr id="7" name="Text 4"/>
          <p:cNvSpPr/>
          <p:nvPr/>
        </p:nvSpPr>
        <p:spPr>
          <a:xfrm>
            <a:off x="3291840" y="1143000"/>
            <a:ext cx="8412480" cy="1234440"/>
          </a:xfrm>
          <a:prstGeom prst="rect">
            <a:avLst/>
          </a:prstGeom>
          <a:noFill/>
          <a:ln/>
        </p:spPr>
        <p:txBody>
          <a:bodyPr wrap="square" lIns="0" tIns="0" rIns="0" bIns="0" rtlCol="0" anchor="t"/>
          <a:lstStyle/>
          <a:p>
            <a:pPr indent="0" marL="0">
              <a:buNone/>
            </a:pPr>
            <a:r>
              <a:rPr lang="en-US" sz="3000" b="1" dirty="0">
                <a:solidFill>
                  <a:srgbClr val="07517A"/>
                </a:solidFill>
                <a:latin typeface="Arial" pitchFamily="34" charset="0"/>
                <a:ea typeface="Arial" pitchFamily="34" charset="-122"/>
                <a:cs typeface="Arial" pitchFamily="34" charset="-120"/>
              </a:rPr>
              <a:t>Socratic AI: Agentic AI for Fostering Critical Thinking Education</a:t>
            </a:r>
            <a:endParaRPr lang="en-US" sz="3000" dirty="0"/>
          </a:p>
        </p:txBody>
      </p:sp>
      <p:sp>
        <p:nvSpPr>
          <p:cNvPr id="8" name="Text 5"/>
          <p:cNvSpPr/>
          <p:nvPr/>
        </p:nvSpPr>
        <p:spPr>
          <a:xfrm>
            <a:off x="3291840" y="2423160"/>
            <a:ext cx="8412480" cy="457200"/>
          </a:xfrm>
          <a:prstGeom prst="rect">
            <a:avLst/>
          </a:prstGeom>
          <a:noFill/>
          <a:ln/>
        </p:spPr>
        <p:txBody>
          <a:bodyPr wrap="square" lIns="0" tIns="0" rIns="0" bIns="0" rtlCol="0" anchor="ctr"/>
          <a:lstStyle/>
          <a:p>
            <a:pPr indent="0" marL="0">
              <a:buNone/>
            </a:pPr>
            <a:r>
              <a:rPr lang="en-US" sz="1600" i="1" dirty="0">
                <a:solidFill>
                  <a:srgbClr val="7A6E3C"/>
                </a:solidFill>
                <a:latin typeface="Arial" pitchFamily="34" charset="0"/>
                <a:ea typeface="Arial" pitchFamily="34" charset="-122"/>
                <a:cs typeface="Arial" pitchFamily="34" charset="-120"/>
              </a:rPr>
              <a:t>A multi-agent tutor that asks instead of answers, and measures how well the learner reasons</a:t>
            </a:r>
            <a:endParaRPr lang="en-US" sz="1600" dirty="0"/>
          </a:p>
        </p:txBody>
      </p:sp>
      <p:sp>
        <p:nvSpPr>
          <p:cNvPr id="9" name="Shape 6"/>
          <p:cNvSpPr/>
          <p:nvPr/>
        </p:nvSpPr>
        <p:spPr>
          <a:xfrm>
            <a:off x="3291840" y="3154680"/>
            <a:ext cx="8412480" cy="3246120"/>
          </a:xfrm>
          <a:prstGeom prst="rect">
            <a:avLst/>
          </a:prstGeom>
          <a:solidFill>
            <a:srgbClr val="07517A"/>
          </a:solidFill>
          <a:ln w="12700">
            <a:solidFill>
              <a:srgbClr val="07517A"/>
            </a:solidFill>
            <a:prstDash val="solid"/>
          </a:ln>
        </p:spPr>
      </p:sp>
      <p:sp>
        <p:nvSpPr>
          <p:cNvPr id="10" name="Text 7"/>
          <p:cNvSpPr/>
          <p:nvPr/>
        </p:nvSpPr>
        <p:spPr>
          <a:xfrm>
            <a:off x="3566160" y="3291840"/>
            <a:ext cx="7955280" cy="2971800"/>
          </a:xfrm>
          <a:prstGeom prst="rect">
            <a:avLst/>
          </a:prstGeom>
          <a:noFill/>
          <a:ln/>
        </p:spPr>
        <p:txBody>
          <a:bodyPr wrap="square" lIns="0" tIns="0" rIns="0" bIns="0" rtlCol="0" anchor="ctr"/>
          <a:lstStyle/>
          <a:p>
            <a:pPr indent="0" marL="0">
              <a:spcAft>
                <a:spcPts val="900"/>
              </a:spcAft>
              <a:buNone/>
            </a:pPr>
            <a:r>
              <a:rPr lang="en-US" sz="1500" dirty="0">
                <a:solidFill>
                  <a:srgbClr val="FFFFFF"/>
                </a:solidFill>
                <a:latin typeface="Arial" pitchFamily="34" charset="0"/>
                <a:ea typeface="Arial" pitchFamily="34" charset="-122"/>
                <a:cs typeface="Arial" pitchFamily="34" charset="-120"/>
              </a:rPr>
              <a:t>Presented by : Eusoff Amir  ([Student ID])</a:t>
            </a:r>
            <a:endParaRPr lang="en-US" sz="1500" dirty="0"/>
          </a:p>
          <a:p>
            <a:pPr indent="0" marL="0">
              <a:spcAft>
                <a:spcPts val="900"/>
              </a:spcAft>
              <a:buNone/>
            </a:pPr>
            <a:r>
              <a:rPr lang="en-US" sz="1500" dirty="0">
                <a:solidFill>
                  <a:srgbClr val="FFFFFF"/>
                </a:solidFill>
                <a:latin typeface="Arial" pitchFamily="34" charset="0"/>
                <a:ea typeface="Arial" pitchFamily="34" charset="-122"/>
                <a:cs typeface="Arial" pitchFamily="34" charset="-120"/>
              </a:rPr>
              <a:t>Supervised by : Dr Ho Tatt Wei</a:t>
            </a:r>
            <a:endParaRPr lang="en-US" sz="1500" dirty="0"/>
          </a:p>
          <a:p>
            <a:pPr indent="0" marL="0">
              <a:spcAft>
                <a:spcPts val="900"/>
              </a:spcAft>
              <a:buNone/>
            </a:pPr>
            <a:r>
              <a:rPr lang="en-US" sz="1500" dirty="0">
                <a:solidFill>
                  <a:srgbClr val="FFFFFF"/>
                </a:solidFill>
                <a:latin typeface="Arial" pitchFamily="34" charset="0"/>
                <a:ea typeface="Arial" pitchFamily="34" charset="-122"/>
                <a:cs typeface="Arial" pitchFamily="34" charset="-120"/>
              </a:rPr>
              <a:t>Internal Examiner : [Name]</a:t>
            </a:r>
            <a:endParaRPr lang="en-US" sz="1500" dirty="0"/>
          </a:p>
          <a:p>
            <a:pPr indent="0" marL="0">
              <a:spcAft>
                <a:spcPts val="900"/>
              </a:spcAft>
              <a:buNone/>
            </a:pPr>
            <a:r>
              <a:rPr lang="en-US" sz="1500" dirty="0">
                <a:solidFill>
                  <a:srgbClr val="FFFFFF"/>
                </a:solidFill>
                <a:latin typeface="Arial" pitchFamily="34" charset="0"/>
                <a:ea typeface="Arial" pitchFamily="34" charset="-122"/>
                <a:cs typeface="Arial" pitchFamily="34" charset="-120"/>
              </a:rPr>
              <a:t>Course : [Course code] Final Year Project I</a:t>
            </a:r>
            <a:endParaRPr lang="en-US" sz="1500" dirty="0"/>
          </a:p>
          <a:p>
            <a:pPr indent="0" marL="0">
              <a:spcAft>
                <a:spcPts val="900"/>
              </a:spcAft>
              <a:buNone/>
            </a:pPr>
            <a:r>
              <a:rPr lang="en-US" sz="1500" dirty="0">
                <a:solidFill>
                  <a:srgbClr val="FFFFFF"/>
                </a:solidFill>
                <a:latin typeface="Arial" pitchFamily="34" charset="0"/>
                <a:ea typeface="Arial" pitchFamily="34" charset="-122"/>
                <a:cs typeface="Arial" pitchFamily="34" charset="-120"/>
              </a:rPr>
              <a:t>Project code : 26S004</a:t>
            </a:r>
            <a:endParaRPr lang="en-US" sz="1500" dirty="0"/>
          </a:p>
          <a:p>
            <a:pPr indent="0" marL="0">
              <a:spcAft>
                <a:spcPts val="900"/>
              </a:spcAft>
              <a:buNone/>
            </a:pPr>
            <a:r>
              <a:rPr lang="en-US" sz="1500" dirty="0">
                <a:solidFill>
                  <a:srgbClr val="FFFFFF"/>
                </a:solidFill>
                <a:latin typeface="Arial" pitchFamily="34" charset="0"/>
                <a:ea typeface="Arial" pitchFamily="34" charset="-122"/>
                <a:cs typeface="Arial" pitchFamily="34" charset="-120"/>
              </a:rPr>
              <a:t>Date : 21st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OUTLINE OF PRESENTATION</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2</a:t>
            </a:r>
            <a:endParaRPr lang="en-US" sz="1000" dirty="0"/>
          </a:p>
        </p:txBody>
      </p:sp>
      <p:sp>
        <p:nvSpPr>
          <p:cNvPr id="9" name="Shape 6"/>
          <p:cNvSpPr/>
          <p:nvPr/>
        </p:nvSpPr>
        <p:spPr>
          <a:xfrm>
            <a:off x="1097280" y="1188720"/>
            <a:ext cx="530352" cy="530352"/>
          </a:xfrm>
          <a:prstGeom prst="ellipse">
            <a:avLst/>
          </a:prstGeom>
          <a:solidFill>
            <a:srgbClr val="07517A"/>
          </a:solidFill>
          <a:ln w="12700">
            <a:solidFill>
              <a:srgbClr val="07517A"/>
            </a:solidFill>
            <a:prstDash val="solid"/>
          </a:ln>
        </p:spPr>
      </p:sp>
      <p:sp>
        <p:nvSpPr>
          <p:cNvPr id="10" name="Text 7"/>
          <p:cNvSpPr/>
          <p:nvPr/>
        </p:nvSpPr>
        <p:spPr>
          <a:xfrm>
            <a:off x="1097280" y="118872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1" name="Text 8"/>
          <p:cNvSpPr/>
          <p:nvPr/>
        </p:nvSpPr>
        <p:spPr>
          <a:xfrm>
            <a:off x="1874520" y="118872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Introduction</a:t>
            </a:r>
            <a:endParaRPr lang="en-US" sz="2000" dirty="0"/>
          </a:p>
        </p:txBody>
      </p:sp>
      <p:sp>
        <p:nvSpPr>
          <p:cNvPr id="12" name="Shape 9"/>
          <p:cNvSpPr/>
          <p:nvPr/>
        </p:nvSpPr>
        <p:spPr>
          <a:xfrm>
            <a:off x="1097280" y="1920240"/>
            <a:ext cx="530352" cy="530352"/>
          </a:xfrm>
          <a:prstGeom prst="ellipse">
            <a:avLst/>
          </a:prstGeom>
          <a:solidFill>
            <a:srgbClr val="07517A"/>
          </a:solidFill>
          <a:ln w="12700">
            <a:solidFill>
              <a:srgbClr val="07517A"/>
            </a:solidFill>
            <a:prstDash val="solid"/>
          </a:ln>
        </p:spPr>
      </p:sp>
      <p:sp>
        <p:nvSpPr>
          <p:cNvPr id="13" name="Text 10"/>
          <p:cNvSpPr/>
          <p:nvPr/>
        </p:nvSpPr>
        <p:spPr>
          <a:xfrm>
            <a:off x="1097280" y="192024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1"/>
          <p:cNvSpPr/>
          <p:nvPr/>
        </p:nvSpPr>
        <p:spPr>
          <a:xfrm>
            <a:off x="1874520" y="192024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Problem Statement, Objectives, Scope of Study</a:t>
            </a:r>
            <a:endParaRPr lang="en-US" sz="2000" dirty="0"/>
          </a:p>
        </p:txBody>
      </p:sp>
      <p:sp>
        <p:nvSpPr>
          <p:cNvPr id="15" name="Shape 12"/>
          <p:cNvSpPr/>
          <p:nvPr/>
        </p:nvSpPr>
        <p:spPr>
          <a:xfrm>
            <a:off x="1097280" y="2651760"/>
            <a:ext cx="530352" cy="530352"/>
          </a:xfrm>
          <a:prstGeom prst="ellipse">
            <a:avLst/>
          </a:prstGeom>
          <a:solidFill>
            <a:srgbClr val="07517A"/>
          </a:solidFill>
          <a:ln w="12700">
            <a:solidFill>
              <a:srgbClr val="07517A"/>
            </a:solidFill>
            <a:prstDash val="solid"/>
          </a:ln>
        </p:spPr>
      </p:sp>
      <p:sp>
        <p:nvSpPr>
          <p:cNvPr id="16" name="Text 13"/>
          <p:cNvSpPr/>
          <p:nvPr/>
        </p:nvSpPr>
        <p:spPr>
          <a:xfrm>
            <a:off x="1097280" y="265176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4"/>
          <p:cNvSpPr/>
          <p:nvPr/>
        </p:nvSpPr>
        <p:spPr>
          <a:xfrm>
            <a:off x="1874520" y="265176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Literature Review</a:t>
            </a:r>
            <a:endParaRPr lang="en-US" sz="2000" dirty="0"/>
          </a:p>
        </p:txBody>
      </p:sp>
      <p:sp>
        <p:nvSpPr>
          <p:cNvPr id="18" name="Shape 15"/>
          <p:cNvSpPr/>
          <p:nvPr/>
        </p:nvSpPr>
        <p:spPr>
          <a:xfrm>
            <a:off x="1097280" y="3383280"/>
            <a:ext cx="530352" cy="530352"/>
          </a:xfrm>
          <a:prstGeom prst="ellipse">
            <a:avLst/>
          </a:prstGeom>
          <a:solidFill>
            <a:srgbClr val="07517A"/>
          </a:solidFill>
          <a:ln w="12700">
            <a:solidFill>
              <a:srgbClr val="07517A"/>
            </a:solidFill>
            <a:prstDash val="solid"/>
          </a:ln>
        </p:spPr>
      </p:sp>
      <p:sp>
        <p:nvSpPr>
          <p:cNvPr id="19" name="Text 16"/>
          <p:cNvSpPr/>
          <p:nvPr/>
        </p:nvSpPr>
        <p:spPr>
          <a:xfrm>
            <a:off x="1097280" y="338328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7"/>
          <p:cNvSpPr/>
          <p:nvPr/>
        </p:nvSpPr>
        <p:spPr>
          <a:xfrm>
            <a:off x="1874520" y="338328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Proposed Methodology</a:t>
            </a:r>
            <a:endParaRPr lang="en-US" sz="2000" dirty="0"/>
          </a:p>
        </p:txBody>
      </p:sp>
      <p:sp>
        <p:nvSpPr>
          <p:cNvPr id="21" name="Shape 18"/>
          <p:cNvSpPr/>
          <p:nvPr/>
        </p:nvSpPr>
        <p:spPr>
          <a:xfrm>
            <a:off x="1097280" y="4114800"/>
            <a:ext cx="530352" cy="530352"/>
          </a:xfrm>
          <a:prstGeom prst="ellipse">
            <a:avLst/>
          </a:prstGeom>
          <a:solidFill>
            <a:srgbClr val="07517A"/>
          </a:solidFill>
          <a:ln w="12700">
            <a:solidFill>
              <a:srgbClr val="07517A"/>
            </a:solidFill>
            <a:prstDash val="solid"/>
          </a:ln>
        </p:spPr>
      </p:sp>
      <p:sp>
        <p:nvSpPr>
          <p:cNvPr id="22" name="Text 19"/>
          <p:cNvSpPr/>
          <p:nvPr/>
        </p:nvSpPr>
        <p:spPr>
          <a:xfrm>
            <a:off x="1097280" y="411480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3" name="Text 20"/>
          <p:cNvSpPr/>
          <p:nvPr/>
        </p:nvSpPr>
        <p:spPr>
          <a:xfrm>
            <a:off x="1874520" y="411480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Gantt Chart &amp; Milestones</a:t>
            </a:r>
            <a:endParaRPr lang="en-US" sz="2000" dirty="0"/>
          </a:p>
        </p:txBody>
      </p:sp>
      <p:sp>
        <p:nvSpPr>
          <p:cNvPr id="24" name="Shape 21"/>
          <p:cNvSpPr/>
          <p:nvPr/>
        </p:nvSpPr>
        <p:spPr>
          <a:xfrm>
            <a:off x="1097280" y="4846320"/>
            <a:ext cx="530352" cy="530352"/>
          </a:xfrm>
          <a:prstGeom prst="ellipse">
            <a:avLst/>
          </a:prstGeom>
          <a:solidFill>
            <a:srgbClr val="07517A"/>
          </a:solidFill>
          <a:ln w="12700">
            <a:solidFill>
              <a:srgbClr val="07517A"/>
            </a:solidFill>
            <a:prstDash val="solid"/>
          </a:ln>
        </p:spPr>
      </p:sp>
      <p:sp>
        <p:nvSpPr>
          <p:cNvPr id="25" name="Text 22"/>
          <p:cNvSpPr/>
          <p:nvPr/>
        </p:nvSpPr>
        <p:spPr>
          <a:xfrm>
            <a:off x="1097280" y="484632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6" name="Text 23"/>
          <p:cNvSpPr/>
          <p:nvPr/>
        </p:nvSpPr>
        <p:spPr>
          <a:xfrm>
            <a:off x="1874520" y="484632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Preliminary Results</a:t>
            </a:r>
            <a:endParaRPr lang="en-US" sz="2000" dirty="0"/>
          </a:p>
        </p:txBody>
      </p:sp>
      <p:sp>
        <p:nvSpPr>
          <p:cNvPr id="27" name="Shape 24"/>
          <p:cNvSpPr/>
          <p:nvPr/>
        </p:nvSpPr>
        <p:spPr>
          <a:xfrm>
            <a:off x="1097280" y="5577840"/>
            <a:ext cx="530352" cy="530352"/>
          </a:xfrm>
          <a:prstGeom prst="ellipse">
            <a:avLst/>
          </a:prstGeom>
          <a:solidFill>
            <a:srgbClr val="07517A"/>
          </a:solidFill>
          <a:ln w="12700">
            <a:solidFill>
              <a:srgbClr val="07517A"/>
            </a:solidFill>
            <a:prstDash val="solid"/>
          </a:ln>
        </p:spPr>
      </p:sp>
      <p:sp>
        <p:nvSpPr>
          <p:cNvPr id="28" name="Text 25"/>
          <p:cNvSpPr/>
          <p:nvPr/>
        </p:nvSpPr>
        <p:spPr>
          <a:xfrm>
            <a:off x="1097280" y="557784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29" name="Text 26"/>
          <p:cNvSpPr/>
          <p:nvPr/>
        </p:nvSpPr>
        <p:spPr>
          <a:xfrm>
            <a:off x="1874520" y="5577840"/>
            <a:ext cx="5943600" cy="530352"/>
          </a:xfrm>
          <a:prstGeom prst="rect">
            <a:avLst/>
          </a:prstGeom>
          <a:noFill/>
          <a:ln/>
        </p:spPr>
        <p:txBody>
          <a:bodyPr wrap="square" lIns="0" tIns="0" rIns="0" bIns="0" rtlCol="0" anchor="ctr"/>
          <a:lstStyle/>
          <a:p>
            <a:pPr indent="0" marL="0">
              <a:buNone/>
            </a:pPr>
            <a:r>
              <a:rPr lang="en-US" sz="2000" dirty="0">
                <a:solidFill>
                  <a:srgbClr val="111827"/>
                </a:solidFill>
                <a:latin typeface="Arial" pitchFamily="34" charset="0"/>
                <a:ea typeface="Arial" pitchFamily="34" charset="-122"/>
                <a:cs typeface="Arial" pitchFamily="34" charset="-120"/>
              </a:rPr>
              <a:t>Conclusion</a:t>
            </a:r>
            <a:endParaRPr lang="en-US" sz="2000" dirty="0"/>
          </a:p>
        </p:txBody>
      </p:sp>
      <p:sp>
        <p:nvSpPr>
          <p:cNvPr id="30" name="Shape 27"/>
          <p:cNvSpPr/>
          <p:nvPr/>
        </p:nvSpPr>
        <p:spPr>
          <a:xfrm>
            <a:off x="7379208" y="1298448"/>
            <a:ext cx="4352544" cy="2621534"/>
          </a:xfrm>
          <a:prstGeom prst="rect">
            <a:avLst/>
          </a:prstGeom>
          <a:solidFill>
            <a:srgbClr val="CBD5E1"/>
          </a:solidFill>
          <a:ln w="12700">
            <a:solidFill>
              <a:srgbClr val="CBD5E1"/>
            </a:solidFill>
            <a:prstDash val="solid"/>
          </a:ln>
        </p:spPr>
      </p:sp>
      <p:pic>
        <p:nvPicPr>
          <p:cNvPr id="31" name="Image 1" descr="C:\Users\eizma\AppData\Local\Temp\claude\c--Users-eizma-Desktop-socratic-ai\1d6c8d6d-fece-4855-be96-8b6833d2ef11\scratchpad\shots\01_home.png">    </p:cNvPr>
          <p:cNvPicPr>
            <a:picLocks noChangeAspect="1"/>
          </p:cNvPicPr>
          <p:nvPr/>
        </p:nvPicPr>
        <p:blipFill>
          <a:blip r:embed="rId2"/>
          <a:stretch>
            <a:fillRect/>
          </a:stretch>
        </p:blipFill>
        <p:spPr>
          <a:xfrm>
            <a:off x="7406640" y="1325880"/>
            <a:ext cx="4297680" cy="2566670"/>
          </a:xfrm>
          <a:prstGeom prst="rect">
            <a:avLst/>
          </a:prstGeom>
        </p:spPr>
      </p:pic>
      <p:sp>
        <p:nvSpPr>
          <p:cNvPr id="32" name="Text 28"/>
          <p:cNvSpPr/>
          <p:nvPr/>
        </p:nvSpPr>
        <p:spPr>
          <a:xfrm>
            <a:off x="7406640" y="3977640"/>
            <a:ext cx="4297680" cy="320040"/>
          </a:xfrm>
          <a:prstGeom prst="rect">
            <a:avLst/>
          </a:prstGeom>
          <a:noFill/>
          <a:ln/>
        </p:spPr>
        <p:txBody>
          <a:bodyPr wrap="square" lIns="0" tIns="0" rIns="0" bIns="0" rtlCol="0" anchor="ctr"/>
          <a:lstStyle/>
          <a:p>
            <a:pPr algn="ctr" indent="0" marL="0">
              <a:buNone/>
            </a:pPr>
            <a:r>
              <a:rPr lang="en-US" sz="1200" i="1" dirty="0">
                <a:solidFill>
                  <a:srgbClr val="4B5563"/>
                </a:solidFill>
                <a:latin typeface="Arial" pitchFamily="34" charset="0"/>
                <a:ea typeface="Arial" pitchFamily="34" charset="-122"/>
                <a:cs typeface="Arial" pitchFamily="34" charset="-120"/>
              </a:rPr>
              <a:t>The working prototype, live online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INTRODUCTION</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3</a:t>
            </a:r>
            <a:endParaRPr lang="en-US" sz="1000" dirty="0"/>
          </a:p>
        </p:txBody>
      </p:sp>
      <p:sp>
        <p:nvSpPr>
          <p:cNvPr id="9" name="Text 6"/>
          <p:cNvSpPr/>
          <p:nvPr/>
        </p:nvSpPr>
        <p:spPr>
          <a:xfrm>
            <a:off x="502920" y="1051560"/>
            <a:ext cx="11185855" cy="457200"/>
          </a:xfrm>
          <a:prstGeom prst="rect">
            <a:avLst/>
          </a:prstGeom>
          <a:noFill/>
          <a:ln/>
        </p:spPr>
        <p:txBody>
          <a:bodyPr wrap="square" lIns="0" tIns="0" rIns="0" bIns="0" rtlCol="0" anchor="ctr"/>
          <a:lstStyle/>
          <a:p>
            <a:pPr indent="0" marL="0">
              <a:buNone/>
            </a:pPr>
            <a:r>
              <a:rPr lang="en-US" sz="1800" b="1" dirty="0">
                <a:solidFill>
                  <a:srgbClr val="111827"/>
                </a:solidFill>
                <a:latin typeface="Arial" pitchFamily="34" charset="0"/>
                <a:ea typeface="Arial" pitchFamily="34" charset="-122"/>
                <a:cs typeface="Arial" pitchFamily="34" charset="-120"/>
              </a:rPr>
              <a:t>Generative AI now gives students a finished answer in seconds, so they can skip the thinking.</a:t>
            </a:r>
            <a:endParaRPr lang="en-US" sz="1800" dirty="0"/>
          </a:p>
        </p:txBody>
      </p:sp>
      <p:sp>
        <p:nvSpPr>
          <p:cNvPr id="10" name="Shape 7"/>
          <p:cNvSpPr/>
          <p:nvPr/>
        </p:nvSpPr>
        <p:spPr>
          <a:xfrm>
            <a:off x="502920" y="1691640"/>
            <a:ext cx="3547872" cy="2377440"/>
          </a:xfrm>
          <a:prstGeom prst="roundRect">
            <a:avLst>
              <a:gd name="adj" fmla="val 3846"/>
            </a:avLst>
          </a:prstGeom>
          <a:solidFill>
            <a:srgbClr val="F7F9FB"/>
          </a:solidFill>
          <a:ln w="12700">
            <a:solidFill>
              <a:srgbClr val="CBD5E1"/>
            </a:solidFill>
            <a:prstDash val="solid"/>
          </a:ln>
        </p:spPr>
      </p:sp>
      <p:sp>
        <p:nvSpPr>
          <p:cNvPr id="11" name="Text 8"/>
          <p:cNvSpPr/>
          <p:nvPr/>
        </p:nvSpPr>
        <p:spPr>
          <a:xfrm>
            <a:off x="731520" y="1783080"/>
            <a:ext cx="3108960" cy="960120"/>
          </a:xfrm>
          <a:prstGeom prst="rect">
            <a:avLst/>
          </a:prstGeom>
          <a:noFill/>
          <a:ln/>
        </p:spPr>
        <p:txBody>
          <a:bodyPr wrap="square" lIns="0" tIns="0" rIns="0" bIns="0" rtlCol="0" anchor="ctr"/>
          <a:lstStyle/>
          <a:p>
            <a:pPr indent="0" marL="0">
              <a:buNone/>
            </a:pPr>
            <a:r>
              <a:rPr lang="en-US" sz="5000" b="1" dirty="0">
                <a:solidFill>
                  <a:srgbClr val="07517A"/>
                </a:solidFill>
                <a:latin typeface="Arial" pitchFamily="34" charset="0"/>
                <a:ea typeface="Arial" pitchFamily="34" charset="-122"/>
                <a:cs typeface="Arial" pitchFamily="34" charset="-120"/>
              </a:rPr>
              <a:t>62%</a:t>
            </a:r>
            <a:endParaRPr lang="en-US" sz="5000" dirty="0"/>
          </a:p>
        </p:txBody>
      </p:sp>
      <p:sp>
        <p:nvSpPr>
          <p:cNvPr id="12" name="Text 9"/>
          <p:cNvSpPr/>
          <p:nvPr/>
        </p:nvSpPr>
        <p:spPr>
          <a:xfrm>
            <a:off x="731520" y="2788920"/>
            <a:ext cx="3108960" cy="114300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of students use generative AI at least weekly [12]</a:t>
            </a:r>
            <a:endParaRPr lang="en-US" sz="1500" dirty="0"/>
          </a:p>
        </p:txBody>
      </p:sp>
      <p:sp>
        <p:nvSpPr>
          <p:cNvPr id="13" name="Shape 10"/>
          <p:cNvSpPr/>
          <p:nvPr/>
        </p:nvSpPr>
        <p:spPr>
          <a:xfrm>
            <a:off x="4270248" y="1691640"/>
            <a:ext cx="3547872" cy="2377440"/>
          </a:xfrm>
          <a:prstGeom prst="roundRect">
            <a:avLst>
              <a:gd name="adj" fmla="val 3846"/>
            </a:avLst>
          </a:prstGeom>
          <a:solidFill>
            <a:srgbClr val="F7F9FB"/>
          </a:solidFill>
          <a:ln w="12700">
            <a:solidFill>
              <a:srgbClr val="CBD5E1"/>
            </a:solidFill>
            <a:prstDash val="solid"/>
          </a:ln>
        </p:spPr>
      </p:sp>
      <p:sp>
        <p:nvSpPr>
          <p:cNvPr id="14" name="Text 11"/>
          <p:cNvSpPr/>
          <p:nvPr/>
        </p:nvSpPr>
        <p:spPr>
          <a:xfrm>
            <a:off x="4498848" y="1783080"/>
            <a:ext cx="3108960" cy="960120"/>
          </a:xfrm>
          <a:prstGeom prst="rect">
            <a:avLst/>
          </a:prstGeom>
          <a:noFill/>
          <a:ln/>
        </p:spPr>
        <p:txBody>
          <a:bodyPr wrap="square" lIns="0" tIns="0" rIns="0" bIns="0" rtlCol="0" anchor="ctr"/>
          <a:lstStyle/>
          <a:p>
            <a:pPr indent="0" marL="0">
              <a:buNone/>
            </a:pPr>
            <a:r>
              <a:rPr lang="en-US" sz="5000" b="1" dirty="0">
                <a:solidFill>
                  <a:srgbClr val="07517A"/>
                </a:solidFill>
                <a:latin typeface="Arial" pitchFamily="34" charset="0"/>
                <a:ea typeface="Arial" pitchFamily="34" charset="-122"/>
                <a:cs typeface="Arial" pitchFamily="34" charset="-120"/>
              </a:rPr>
              <a:t>319</a:t>
            </a:r>
            <a:endParaRPr lang="en-US" sz="5000" dirty="0"/>
          </a:p>
        </p:txBody>
      </p:sp>
      <p:sp>
        <p:nvSpPr>
          <p:cNvPr id="15" name="Text 12"/>
          <p:cNvSpPr/>
          <p:nvPr/>
        </p:nvSpPr>
        <p:spPr>
          <a:xfrm>
            <a:off x="4498848" y="2788920"/>
            <a:ext cx="3108960" cy="114300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knowledge workers studied: more trust in AI meant less critical thinking [10]</a:t>
            </a:r>
            <a:endParaRPr lang="en-US" sz="1500" dirty="0"/>
          </a:p>
        </p:txBody>
      </p:sp>
      <p:sp>
        <p:nvSpPr>
          <p:cNvPr id="16" name="Shape 13"/>
          <p:cNvSpPr/>
          <p:nvPr/>
        </p:nvSpPr>
        <p:spPr>
          <a:xfrm>
            <a:off x="8037576" y="1691640"/>
            <a:ext cx="3547872" cy="2377440"/>
          </a:xfrm>
          <a:prstGeom prst="roundRect">
            <a:avLst>
              <a:gd name="adj" fmla="val 3846"/>
            </a:avLst>
          </a:prstGeom>
          <a:solidFill>
            <a:srgbClr val="F7F9FB"/>
          </a:solidFill>
          <a:ln w="12700">
            <a:solidFill>
              <a:srgbClr val="CBD5E1"/>
            </a:solidFill>
            <a:prstDash val="solid"/>
          </a:ln>
        </p:spPr>
      </p:sp>
      <p:sp>
        <p:nvSpPr>
          <p:cNvPr id="17" name="Text 14"/>
          <p:cNvSpPr/>
          <p:nvPr/>
        </p:nvSpPr>
        <p:spPr>
          <a:xfrm>
            <a:off x="8266176" y="1783080"/>
            <a:ext cx="3108960" cy="960120"/>
          </a:xfrm>
          <a:prstGeom prst="rect">
            <a:avLst/>
          </a:prstGeom>
          <a:noFill/>
          <a:ln/>
        </p:spPr>
        <p:txBody>
          <a:bodyPr wrap="square" lIns="0" tIns="0" rIns="0" bIns="0" rtlCol="0" anchor="ctr"/>
          <a:lstStyle/>
          <a:p>
            <a:pPr indent="0" marL="0">
              <a:buNone/>
            </a:pPr>
            <a:r>
              <a:rPr lang="en-US" sz="5000" b="1" dirty="0">
                <a:solidFill>
                  <a:srgbClr val="07517A"/>
                </a:solidFill>
                <a:latin typeface="Arial" pitchFamily="34" charset="0"/>
                <a:ea typeface="Arial" pitchFamily="34" charset="-122"/>
                <a:cs typeface="Arial" pitchFamily="34" charset="-120"/>
              </a:rPr>
              <a:t>4</a:t>
            </a:r>
            <a:endParaRPr lang="en-US" sz="5000" dirty="0"/>
          </a:p>
        </p:txBody>
      </p:sp>
      <p:sp>
        <p:nvSpPr>
          <p:cNvPr id="18" name="Text 15"/>
          <p:cNvSpPr/>
          <p:nvPr/>
        </p:nvSpPr>
        <p:spPr>
          <a:xfrm>
            <a:off x="8266176" y="2788920"/>
            <a:ext cx="3108960" cy="114300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costs of "outsourced reasoning": fewer ideas, less effort, weaker memory, less reflection [11]</a:t>
            </a:r>
            <a:endParaRPr lang="en-US" sz="1500" dirty="0"/>
          </a:p>
        </p:txBody>
      </p:sp>
      <p:sp>
        <p:nvSpPr>
          <p:cNvPr id="19" name="Shape 16"/>
          <p:cNvSpPr/>
          <p:nvPr/>
        </p:nvSpPr>
        <p:spPr>
          <a:xfrm>
            <a:off x="502920" y="4343400"/>
            <a:ext cx="11185855" cy="1920240"/>
          </a:xfrm>
          <a:prstGeom prst="roundRect">
            <a:avLst>
              <a:gd name="adj" fmla="val 4762"/>
            </a:avLst>
          </a:prstGeom>
          <a:solidFill>
            <a:srgbClr val="F3EEDC"/>
          </a:solidFill>
          <a:ln w="12700">
            <a:solidFill>
              <a:srgbClr val="F3EEDC"/>
            </a:solidFill>
            <a:prstDash val="solid"/>
          </a:ln>
        </p:spPr>
      </p:sp>
      <p:sp>
        <p:nvSpPr>
          <p:cNvPr id="20" name="Text 17"/>
          <p:cNvSpPr/>
          <p:nvPr/>
        </p:nvSpPr>
        <p:spPr>
          <a:xfrm>
            <a:off x="777240" y="4434840"/>
            <a:ext cx="10637215" cy="1737360"/>
          </a:xfrm>
          <a:prstGeom prst="rect">
            <a:avLst/>
          </a:prstGeom>
          <a:noFill/>
          <a:ln/>
        </p:spPr>
        <p:txBody>
          <a:bodyPr wrap="square" lIns="0" tIns="0" rIns="0" bIns="0" rtlCol="0" anchor="ctr"/>
          <a:lstStyle/>
          <a:p>
            <a:pPr indent="0" marL="0">
              <a:spcAft>
                <a:spcPts val="600"/>
              </a:spcAft>
              <a:buNone/>
            </a:pPr>
            <a:r>
              <a:rPr lang="en-US" sz="1700" b="1" dirty="0">
                <a:solidFill>
                  <a:srgbClr val="7A6E3C"/>
                </a:solidFill>
                <a:latin typeface="Arial" pitchFamily="34" charset="0"/>
                <a:ea typeface="Arial" pitchFamily="34" charset="-122"/>
                <a:cs typeface="Arial" pitchFamily="34" charset="-120"/>
              </a:rPr>
              <a:t>The idea of this project</a:t>
            </a:r>
            <a:endParaRPr lang="en-US" sz="1700" dirty="0"/>
          </a:p>
          <a:p>
            <a:pPr indent="0" marL="0">
              <a:spcAft>
                <a:spcPts val="600"/>
              </a:spcAft>
              <a:buNone/>
            </a:pPr>
            <a:r>
              <a:rPr lang="en-US" sz="1700" dirty="0">
                <a:solidFill>
                  <a:srgbClr val="111827"/>
                </a:solidFill>
                <a:latin typeface="Arial" pitchFamily="34" charset="0"/>
                <a:ea typeface="Arial" pitchFamily="34" charset="-122"/>
                <a:cs typeface="Arial" pitchFamily="34" charset="-120"/>
              </a:rPr>
              <a:t>Turn the same AI around. Instead of an answer machine, build a tutor that asks Socratic questions in a set order, so the learner builds the understanding, and then measure the quality of the learner's reasoning against a framework.</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PROBLEM STATEMENT</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4</a:t>
            </a:r>
            <a:endParaRPr lang="en-US" sz="1000" dirty="0"/>
          </a:p>
        </p:txBody>
      </p:sp>
      <p:sp>
        <p:nvSpPr>
          <p:cNvPr id="9" name="Text 6"/>
          <p:cNvSpPr/>
          <p:nvPr/>
        </p:nvSpPr>
        <p:spPr>
          <a:xfrm>
            <a:off x="502920" y="1051560"/>
            <a:ext cx="11185855" cy="411480"/>
          </a:xfrm>
          <a:prstGeom prst="rect">
            <a:avLst/>
          </a:prstGeom>
          <a:noFill/>
          <a:ln/>
        </p:spPr>
        <p:txBody>
          <a:bodyPr wrap="square" lIns="0" tIns="0" rIns="0" bIns="0" rtlCol="0" anchor="ctr"/>
          <a:lstStyle/>
          <a:p>
            <a:pPr indent="0" marL="0">
              <a:buNone/>
            </a:pPr>
            <a:r>
              <a:rPr lang="en-US" sz="1500" dirty="0">
                <a:solidFill>
                  <a:srgbClr val="4B5563"/>
                </a:solidFill>
                <a:latin typeface="Arial" pitchFamily="34" charset="0"/>
                <a:ea typeface="Arial" pitchFamily="34" charset="-122"/>
                <a:cs typeface="Arial" pitchFamily="34" charset="-120"/>
              </a:rPr>
              <a:t>Two Gemini Gem tutors were tested (an online Socratic Tutor and the first project prompt). Three problems were found.</a:t>
            </a:r>
            <a:endParaRPr lang="en-US" sz="1500" dirty="0"/>
          </a:p>
        </p:txBody>
      </p:sp>
      <p:sp>
        <p:nvSpPr>
          <p:cNvPr id="10" name="Shape 7"/>
          <p:cNvSpPr/>
          <p:nvPr/>
        </p:nvSpPr>
        <p:spPr>
          <a:xfrm>
            <a:off x="502920" y="1645920"/>
            <a:ext cx="3547872" cy="2514600"/>
          </a:xfrm>
          <a:prstGeom prst="roundRect">
            <a:avLst>
              <a:gd name="adj" fmla="val 3636"/>
            </a:avLst>
          </a:prstGeom>
          <a:solidFill>
            <a:srgbClr val="F7F9FB"/>
          </a:solidFill>
          <a:ln w="12700">
            <a:solidFill>
              <a:srgbClr val="CBD5E1"/>
            </a:solidFill>
            <a:prstDash val="solid"/>
          </a:ln>
        </p:spPr>
      </p:sp>
      <p:sp>
        <p:nvSpPr>
          <p:cNvPr id="11" name="Shape 8"/>
          <p:cNvSpPr/>
          <p:nvPr/>
        </p:nvSpPr>
        <p:spPr>
          <a:xfrm>
            <a:off x="731520" y="1828800"/>
            <a:ext cx="530352" cy="530352"/>
          </a:xfrm>
          <a:prstGeom prst="ellipse">
            <a:avLst/>
          </a:prstGeom>
          <a:solidFill>
            <a:srgbClr val="7A6E3C"/>
          </a:solidFill>
          <a:ln w="12700">
            <a:solidFill>
              <a:srgbClr val="7A6E3C"/>
            </a:solidFill>
            <a:prstDash val="solid"/>
          </a:ln>
        </p:spPr>
      </p:sp>
      <p:sp>
        <p:nvSpPr>
          <p:cNvPr id="12" name="Text 9"/>
          <p:cNvSpPr/>
          <p:nvPr/>
        </p:nvSpPr>
        <p:spPr>
          <a:xfrm>
            <a:off x="731520" y="182880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3" name="Text 10"/>
          <p:cNvSpPr/>
          <p:nvPr/>
        </p:nvSpPr>
        <p:spPr>
          <a:xfrm>
            <a:off x="731520" y="2514600"/>
            <a:ext cx="3108960" cy="457200"/>
          </a:xfrm>
          <a:prstGeom prst="rect">
            <a:avLst/>
          </a:prstGeom>
          <a:noFill/>
          <a:ln/>
        </p:spPr>
        <p:txBody>
          <a:bodyPr wrap="square" lIns="0" tIns="0" rIns="0" bIns="0" rtlCol="0" anchor="ctr"/>
          <a:lstStyle/>
          <a:p>
            <a:pPr indent="0" marL="0">
              <a:buNone/>
            </a:pPr>
            <a:r>
              <a:rPr lang="en-US" sz="2000" b="1" dirty="0">
                <a:solidFill>
                  <a:srgbClr val="07517A"/>
                </a:solidFill>
                <a:latin typeface="Arial" pitchFamily="34" charset="0"/>
                <a:ea typeface="Arial" pitchFamily="34" charset="-122"/>
                <a:cs typeface="Arial" pitchFamily="34" charset="-120"/>
              </a:rPr>
              <a:t>No structure</a:t>
            </a:r>
            <a:endParaRPr lang="en-US" sz="2000" dirty="0"/>
          </a:p>
        </p:txBody>
      </p:sp>
      <p:sp>
        <p:nvSpPr>
          <p:cNvPr id="14" name="Text 11"/>
          <p:cNvSpPr/>
          <p:nvPr/>
        </p:nvSpPr>
        <p:spPr>
          <a:xfrm>
            <a:off x="731520" y="3017520"/>
            <a:ext cx="3108960" cy="105156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Questions do not climb step by step from clarifying to questioning the question itself.</a:t>
            </a:r>
            <a:endParaRPr lang="en-US" sz="1500" dirty="0"/>
          </a:p>
        </p:txBody>
      </p:sp>
      <p:sp>
        <p:nvSpPr>
          <p:cNvPr id="15" name="Shape 12"/>
          <p:cNvSpPr/>
          <p:nvPr/>
        </p:nvSpPr>
        <p:spPr>
          <a:xfrm>
            <a:off x="4270248" y="1645920"/>
            <a:ext cx="3547872" cy="2514600"/>
          </a:xfrm>
          <a:prstGeom prst="roundRect">
            <a:avLst>
              <a:gd name="adj" fmla="val 3636"/>
            </a:avLst>
          </a:prstGeom>
          <a:solidFill>
            <a:srgbClr val="F7F9FB"/>
          </a:solidFill>
          <a:ln w="12700">
            <a:solidFill>
              <a:srgbClr val="CBD5E1"/>
            </a:solidFill>
            <a:prstDash val="solid"/>
          </a:ln>
        </p:spPr>
      </p:sp>
      <p:sp>
        <p:nvSpPr>
          <p:cNvPr id="16" name="Shape 13"/>
          <p:cNvSpPr/>
          <p:nvPr/>
        </p:nvSpPr>
        <p:spPr>
          <a:xfrm>
            <a:off x="4498848" y="1828800"/>
            <a:ext cx="530352" cy="530352"/>
          </a:xfrm>
          <a:prstGeom prst="ellipse">
            <a:avLst/>
          </a:prstGeom>
          <a:solidFill>
            <a:srgbClr val="7A6E3C"/>
          </a:solidFill>
          <a:ln w="12700">
            <a:solidFill>
              <a:srgbClr val="7A6E3C"/>
            </a:solidFill>
            <a:prstDash val="solid"/>
          </a:ln>
        </p:spPr>
      </p:sp>
      <p:sp>
        <p:nvSpPr>
          <p:cNvPr id="17" name="Text 14"/>
          <p:cNvSpPr/>
          <p:nvPr/>
        </p:nvSpPr>
        <p:spPr>
          <a:xfrm>
            <a:off x="4498848" y="182880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8" name="Text 15"/>
          <p:cNvSpPr/>
          <p:nvPr/>
        </p:nvSpPr>
        <p:spPr>
          <a:xfrm>
            <a:off x="4498848" y="2514600"/>
            <a:ext cx="3108960" cy="457200"/>
          </a:xfrm>
          <a:prstGeom prst="rect">
            <a:avLst/>
          </a:prstGeom>
          <a:noFill/>
          <a:ln/>
        </p:spPr>
        <p:txBody>
          <a:bodyPr wrap="square" lIns="0" tIns="0" rIns="0" bIns="0" rtlCol="0" anchor="ctr"/>
          <a:lstStyle/>
          <a:p>
            <a:pPr indent="0" marL="0">
              <a:buNone/>
            </a:pPr>
            <a:r>
              <a:rPr lang="en-US" sz="2000" b="1" dirty="0">
                <a:solidFill>
                  <a:srgbClr val="07517A"/>
                </a:solidFill>
                <a:latin typeface="Arial" pitchFamily="34" charset="0"/>
                <a:ea typeface="Arial" pitchFamily="34" charset="-122"/>
                <a:cs typeface="Arial" pitchFamily="34" charset="-120"/>
              </a:rPr>
              <a:t>No assessment</a:t>
            </a:r>
            <a:endParaRPr lang="en-US" sz="2000" dirty="0"/>
          </a:p>
        </p:txBody>
      </p:sp>
      <p:sp>
        <p:nvSpPr>
          <p:cNvPr id="19" name="Text 16"/>
          <p:cNvSpPr/>
          <p:nvPr/>
        </p:nvSpPr>
        <p:spPr>
          <a:xfrm>
            <a:off x="4498848" y="3017520"/>
            <a:ext cx="3108960" cy="105156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The tutor cannot say how well the learner reasoned against any framework.</a:t>
            </a:r>
            <a:endParaRPr lang="en-US" sz="1500" dirty="0"/>
          </a:p>
        </p:txBody>
      </p:sp>
      <p:sp>
        <p:nvSpPr>
          <p:cNvPr id="20" name="Shape 17"/>
          <p:cNvSpPr/>
          <p:nvPr/>
        </p:nvSpPr>
        <p:spPr>
          <a:xfrm>
            <a:off x="8037576" y="1645920"/>
            <a:ext cx="3547872" cy="2514600"/>
          </a:xfrm>
          <a:prstGeom prst="roundRect">
            <a:avLst>
              <a:gd name="adj" fmla="val 3636"/>
            </a:avLst>
          </a:prstGeom>
          <a:solidFill>
            <a:srgbClr val="F7F9FB"/>
          </a:solidFill>
          <a:ln w="12700">
            <a:solidFill>
              <a:srgbClr val="CBD5E1"/>
            </a:solidFill>
            <a:prstDash val="solid"/>
          </a:ln>
        </p:spPr>
      </p:sp>
      <p:sp>
        <p:nvSpPr>
          <p:cNvPr id="21" name="Shape 18"/>
          <p:cNvSpPr/>
          <p:nvPr/>
        </p:nvSpPr>
        <p:spPr>
          <a:xfrm>
            <a:off x="8266176" y="1828800"/>
            <a:ext cx="530352" cy="530352"/>
          </a:xfrm>
          <a:prstGeom prst="ellipse">
            <a:avLst/>
          </a:prstGeom>
          <a:solidFill>
            <a:srgbClr val="7A6E3C"/>
          </a:solidFill>
          <a:ln w="12700">
            <a:solidFill>
              <a:srgbClr val="7A6E3C"/>
            </a:solidFill>
            <a:prstDash val="solid"/>
          </a:ln>
        </p:spPr>
      </p:sp>
      <p:sp>
        <p:nvSpPr>
          <p:cNvPr id="22" name="Text 19"/>
          <p:cNvSpPr/>
          <p:nvPr/>
        </p:nvSpPr>
        <p:spPr>
          <a:xfrm>
            <a:off x="8266176" y="182880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3" name="Text 20"/>
          <p:cNvSpPr/>
          <p:nvPr/>
        </p:nvSpPr>
        <p:spPr>
          <a:xfrm>
            <a:off x="8266176" y="2514600"/>
            <a:ext cx="3108960" cy="457200"/>
          </a:xfrm>
          <a:prstGeom prst="rect">
            <a:avLst/>
          </a:prstGeom>
          <a:noFill/>
          <a:ln/>
        </p:spPr>
        <p:txBody>
          <a:bodyPr wrap="square" lIns="0" tIns="0" rIns="0" bIns="0" rtlCol="0" anchor="ctr"/>
          <a:lstStyle/>
          <a:p>
            <a:pPr indent="0" marL="0">
              <a:buNone/>
            </a:pPr>
            <a:r>
              <a:rPr lang="en-US" sz="2000" b="1" dirty="0">
                <a:solidFill>
                  <a:srgbClr val="07517A"/>
                </a:solidFill>
                <a:latin typeface="Arial" pitchFamily="34" charset="0"/>
                <a:ea typeface="Arial" pitchFamily="34" charset="-122"/>
                <a:cs typeface="Arial" pitchFamily="34" charset="-120"/>
              </a:rPr>
              <a:t>Poor experience</a:t>
            </a:r>
            <a:endParaRPr lang="en-US" sz="2000" dirty="0"/>
          </a:p>
        </p:txBody>
      </p:sp>
      <p:sp>
        <p:nvSpPr>
          <p:cNvPr id="24" name="Text 21"/>
          <p:cNvSpPr/>
          <p:nvPr/>
        </p:nvSpPr>
        <p:spPr>
          <a:xfrm>
            <a:off x="8266176" y="3017520"/>
            <a:ext cx="3108960" cy="105156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It repeated questions, forgot answers, ignored frustration and never said when it would end.</a:t>
            </a:r>
            <a:endParaRPr lang="en-US" sz="1500" dirty="0"/>
          </a:p>
        </p:txBody>
      </p:sp>
      <p:sp>
        <p:nvSpPr>
          <p:cNvPr id="25" name="Shape 22"/>
          <p:cNvSpPr/>
          <p:nvPr/>
        </p:nvSpPr>
        <p:spPr>
          <a:xfrm>
            <a:off x="502920" y="4434840"/>
            <a:ext cx="11185855" cy="1783080"/>
          </a:xfrm>
          <a:prstGeom prst="rect">
            <a:avLst/>
          </a:prstGeom>
          <a:solidFill>
            <a:srgbClr val="07517A"/>
          </a:solidFill>
          <a:ln w="12700">
            <a:solidFill>
              <a:srgbClr val="07517A"/>
            </a:solidFill>
            <a:prstDash val="solid"/>
          </a:ln>
        </p:spPr>
      </p:sp>
      <p:sp>
        <p:nvSpPr>
          <p:cNvPr id="26" name="Text 23"/>
          <p:cNvSpPr/>
          <p:nvPr/>
        </p:nvSpPr>
        <p:spPr>
          <a:xfrm>
            <a:off x="777240" y="4526280"/>
            <a:ext cx="10637215" cy="1600200"/>
          </a:xfrm>
          <a:prstGeom prst="rect">
            <a:avLst/>
          </a:prstGeom>
          <a:noFill/>
          <a:ln/>
        </p:spPr>
        <p:txBody>
          <a:bodyPr wrap="square" lIns="0" tIns="0" rIns="0" bIns="0" rtlCol="0" anchor="ctr"/>
          <a:lstStyle/>
          <a:p>
            <a:pPr indent="0" marL="0">
              <a:spcAft>
                <a:spcPts val="800"/>
              </a:spcAft>
              <a:buNone/>
            </a:pPr>
            <a:r>
              <a:rPr lang="en-US" sz="1600" b="1" dirty="0">
                <a:solidFill>
                  <a:srgbClr val="BFD7E6"/>
                </a:solidFill>
                <a:latin typeface="Arial" pitchFamily="34" charset="0"/>
                <a:ea typeface="Arial" pitchFamily="34" charset="-122"/>
                <a:cs typeface="Arial" pitchFamily="34" charset="-120"/>
              </a:rPr>
              <a:t>Real tester messages:  </a:t>
            </a:r>
            <a:pPr indent="0" marL="0">
              <a:spcAft>
                <a:spcPts val="800"/>
              </a:spcAft>
              <a:buNone/>
            </a:pPr>
            <a:r>
              <a:rPr lang="en-US" sz="1600" i="1" dirty="0">
                <a:solidFill>
                  <a:srgbClr val="FFFFFF"/>
                </a:solidFill>
                <a:latin typeface="Arial" pitchFamily="34" charset="0"/>
                <a:ea typeface="Arial" pitchFamily="34" charset="-122"/>
                <a:cs typeface="Arial" pitchFamily="34" charset="-120"/>
              </a:rPr>
              <a:t>"bro i explained this before"  and  "you are asking way too much follow up questions"</a:t>
            </a:r>
            <a:endParaRPr lang="en-US" sz="1600" dirty="0"/>
          </a:p>
          <a:p>
            <a:pPr indent="0" marL="0">
              <a:spcAft>
                <a:spcPts val="800"/>
              </a:spcAft>
              <a:buNone/>
            </a:pPr>
            <a:r>
              <a:rPr lang="en-US" sz="1600" dirty="0">
                <a:solidFill>
                  <a:srgbClr val="FFFFFF"/>
                </a:solidFill>
                <a:latin typeface="Arial" pitchFamily="34" charset="0"/>
                <a:ea typeface="Arial" pitchFamily="34" charset="-122"/>
                <a:cs typeface="Arial" pitchFamily="34" charset="-120"/>
              </a:rPr>
              <a:t>So a single Socratic prompt is not enough. The tutor needs a structured ladder, a separate assessor, memory, and a clear goal, progress and end.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OBJECTIVES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5</a:t>
            </a:r>
            <a:endParaRPr lang="en-US" sz="1000" dirty="0"/>
          </a:p>
        </p:txBody>
      </p:sp>
      <p:sp>
        <p:nvSpPr>
          <p:cNvPr id="9" name="Shape 6"/>
          <p:cNvSpPr/>
          <p:nvPr/>
        </p:nvSpPr>
        <p:spPr>
          <a:xfrm>
            <a:off x="594360" y="1170432"/>
            <a:ext cx="603504" cy="603504"/>
          </a:xfrm>
          <a:prstGeom prst="ellipse">
            <a:avLst/>
          </a:prstGeom>
          <a:solidFill>
            <a:srgbClr val="07517A"/>
          </a:solidFill>
          <a:ln w="12700">
            <a:solidFill>
              <a:srgbClr val="07517A"/>
            </a:solidFill>
            <a:prstDash val="solid"/>
          </a:ln>
        </p:spPr>
      </p:sp>
      <p:sp>
        <p:nvSpPr>
          <p:cNvPr id="10" name="Text 7"/>
          <p:cNvSpPr/>
          <p:nvPr/>
        </p:nvSpPr>
        <p:spPr>
          <a:xfrm>
            <a:off x="594360" y="1170432"/>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Shape 8"/>
          <p:cNvSpPr/>
          <p:nvPr/>
        </p:nvSpPr>
        <p:spPr>
          <a:xfrm>
            <a:off x="1417320" y="1097280"/>
            <a:ext cx="10271455" cy="786384"/>
          </a:xfrm>
          <a:prstGeom prst="roundRect">
            <a:avLst>
              <a:gd name="adj" fmla="val 11628"/>
            </a:avLst>
          </a:prstGeom>
          <a:solidFill>
            <a:srgbClr val="F7F9FB"/>
          </a:solidFill>
          <a:ln w="12700">
            <a:solidFill>
              <a:srgbClr val="CBD5E1"/>
            </a:solidFill>
            <a:prstDash val="solid"/>
          </a:ln>
        </p:spPr>
      </p:sp>
      <p:sp>
        <p:nvSpPr>
          <p:cNvPr id="12" name="Text 9"/>
          <p:cNvSpPr/>
          <p:nvPr/>
        </p:nvSpPr>
        <p:spPr>
          <a:xfrm>
            <a:off x="1645920" y="1097280"/>
            <a:ext cx="9814255" cy="786384"/>
          </a:xfrm>
          <a:prstGeom prst="rect">
            <a:avLst/>
          </a:prstGeom>
          <a:noFill/>
          <a:ln/>
        </p:spPr>
        <p:txBody>
          <a:bodyPr wrap="square" lIns="0" tIns="0" rIns="0" bIns="0" rtlCol="0" anchor="ctr"/>
          <a:lstStyle/>
          <a:p>
            <a:pPr indent="0" marL="0">
              <a:buNone/>
            </a:pPr>
            <a:r>
              <a:rPr lang="en-US" sz="1600" dirty="0">
                <a:solidFill>
                  <a:srgbClr val="111827"/>
                </a:solidFill>
                <a:latin typeface="Arial" pitchFamily="34" charset="0"/>
                <a:ea typeface="Arial" pitchFamily="34" charset="-122"/>
                <a:cs typeface="Arial" pitchFamily="34" charset="-120"/>
              </a:rPr>
              <a:t>To design and build Socratic AI, a multi-agent tutoring prototype that teaches beginners one quant topic through Socratic dialogue.</a:t>
            </a:r>
            <a:endParaRPr lang="en-US" sz="1600" dirty="0"/>
          </a:p>
        </p:txBody>
      </p:sp>
      <p:sp>
        <p:nvSpPr>
          <p:cNvPr id="13" name="Shape 10"/>
          <p:cNvSpPr/>
          <p:nvPr/>
        </p:nvSpPr>
        <p:spPr>
          <a:xfrm>
            <a:off x="594360" y="2194560"/>
            <a:ext cx="603504" cy="603504"/>
          </a:xfrm>
          <a:prstGeom prst="ellipse">
            <a:avLst/>
          </a:prstGeom>
          <a:solidFill>
            <a:srgbClr val="07517A"/>
          </a:solidFill>
          <a:ln w="12700">
            <a:solidFill>
              <a:srgbClr val="07517A"/>
            </a:solidFill>
            <a:prstDash val="solid"/>
          </a:ln>
        </p:spPr>
      </p:sp>
      <p:sp>
        <p:nvSpPr>
          <p:cNvPr id="14" name="Text 11"/>
          <p:cNvSpPr/>
          <p:nvPr/>
        </p:nvSpPr>
        <p:spPr>
          <a:xfrm>
            <a:off x="594360" y="219456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Shape 12"/>
          <p:cNvSpPr/>
          <p:nvPr/>
        </p:nvSpPr>
        <p:spPr>
          <a:xfrm>
            <a:off x="1417320" y="2121408"/>
            <a:ext cx="10271455" cy="786384"/>
          </a:xfrm>
          <a:prstGeom prst="roundRect">
            <a:avLst>
              <a:gd name="adj" fmla="val 11628"/>
            </a:avLst>
          </a:prstGeom>
          <a:solidFill>
            <a:srgbClr val="F7F9FB"/>
          </a:solidFill>
          <a:ln w="12700">
            <a:solidFill>
              <a:srgbClr val="CBD5E1"/>
            </a:solidFill>
            <a:prstDash val="solid"/>
          </a:ln>
        </p:spPr>
      </p:sp>
      <p:sp>
        <p:nvSpPr>
          <p:cNvPr id="16" name="Text 13"/>
          <p:cNvSpPr/>
          <p:nvPr/>
        </p:nvSpPr>
        <p:spPr>
          <a:xfrm>
            <a:off x="1645920" y="2121408"/>
            <a:ext cx="9814255" cy="786384"/>
          </a:xfrm>
          <a:prstGeom prst="rect">
            <a:avLst/>
          </a:prstGeom>
          <a:noFill/>
          <a:ln/>
        </p:spPr>
        <p:txBody>
          <a:bodyPr wrap="square" lIns="0" tIns="0" rIns="0" bIns="0" rtlCol="0" anchor="ctr"/>
          <a:lstStyle/>
          <a:p>
            <a:pPr indent="0" marL="0">
              <a:buNone/>
            </a:pPr>
            <a:r>
              <a:rPr lang="en-US" sz="1600" dirty="0">
                <a:solidFill>
                  <a:srgbClr val="111827"/>
                </a:solidFill>
                <a:latin typeface="Arial" pitchFamily="34" charset="0"/>
                <a:ea typeface="Arial" pitchFamily="34" charset="-122"/>
                <a:cs typeface="Arial" pitchFamily="34" charset="-120"/>
              </a:rPr>
              <a:t>To guide the tutor through six levels of Socratic questioning, and to assess the learner with the nine intellectual standards.</a:t>
            </a:r>
            <a:endParaRPr lang="en-US" sz="1600" dirty="0"/>
          </a:p>
        </p:txBody>
      </p:sp>
      <p:sp>
        <p:nvSpPr>
          <p:cNvPr id="17" name="Shape 14"/>
          <p:cNvSpPr/>
          <p:nvPr/>
        </p:nvSpPr>
        <p:spPr>
          <a:xfrm>
            <a:off x="594360" y="3218688"/>
            <a:ext cx="603504" cy="603504"/>
          </a:xfrm>
          <a:prstGeom prst="ellipse">
            <a:avLst/>
          </a:prstGeom>
          <a:solidFill>
            <a:srgbClr val="7A6E3C"/>
          </a:solidFill>
          <a:ln w="12700">
            <a:solidFill>
              <a:srgbClr val="7A6E3C"/>
            </a:solidFill>
            <a:prstDash val="solid"/>
          </a:ln>
        </p:spPr>
      </p:sp>
      <p:sp>
        <p:nvSpPr>
          <p:cNvPr id="18" name="Text 15"/>
          <p:cNvSpPr/>
          <p:nvPr/>
        </p:nvSpPr>
        <p:spPr>
          <a:xfrm>
            <a:off x="594360" y="3218688"/>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Shape 16"/>
          <p:cNvSpPr/>
          <p:nvPr/>
        </p:nvSpPr>
        <p:spPr>
          <a:xfrm>
            <a:off x="1417320" y="3145536"/>
            <a:ext cx="10271455" cy="786384"/>
          </a:xfrm>
          <a:prstGeom prst="roundRect">
            <a:avLst>
              <a:gd name="adj" fmla="val 11628"/>
            </a:avLst>
          </a:prstGeom>
          <a:solidFill>
            <a:srgbClr val="F3EEDC"/>
          </a:solidFill>
          <a:ln w="12700">
            <a:solidFill>
              <a:srgbClr val="F3EEDC"/>
            </a:solidFill>
            <a:prstDash val="solid"/>
          </a:ln>
        </p:spPr>
      </p:sp>
      <p:sp>
        <p:nvSpPr>
          <p:cNvPr id="20" name="Text 17"/>
          <p:cNvSpPr/>
          <p:nvPr/>
        </p:nvSpPr>
        <p:spPr>
          <a:xfrm>
            <a:off x="1645920" y="3145536"/>
            <a:ext cx="9814255" cy="786384"/>
          </a:xfrm>
          <a:prstGeom prst="rect">
            <a:avLst/>
          </a:prstGeom>
          <a:noFill/>
          <a:ln/>
        </p:spPr>
        <p:txBody>
          <a:bodyPr wrap="square" lIns="0" tIns="0" rIns="0" bIns="0" rtlCol="0" anchor="ctr"/>
          <a:lstStyle/>
          <a:p>
            <a:pPr indent="0" marL="0">
              <a:buNone/>
            </a:pPr>
            <a:r>
              <a:rPr lang="en-US" sz="1600" dirty="0">
                <a:solidFill>
                  <a:srgbClr val="111827"/>
                </a:solidFill>
                <a:latin typeface="Arial" pitchFamily="34" charset="0"/>
                <a:ea typeface="Arial" pitchFamily="34" charset="-122"/>
                <a:cs typeface="Arial" pitchFamily="34" charset="-120"/>
              </a:rPr>
              <a:t>To show which type of reasoning (inductive, deductive, abductive) and which types of knowledge the learner used, measured over many questions.</a:t>
            </a:r>
            <a:endParaRPr lang="en-US" sz="1600" dirty="0"/>
          </a:p>
        </p:txBody>
      </p:sp>
      <p:sp>
        <p:nvSpPr>
          <p:cNvPr id="21" name="Shape 18"/>
          <p:cNvSpPr/>
          <p:nvPr/>
        </p:nvSpPr>
        <p:spPr>
          <a:xfrm>
            <a:off x="594360" y="4242816"/>
            <a:ext cx="603504" cy="603504"/>
          </a:xfrm>
          <a:prstGeom prst="ellipse">
            <a:avLst/>
          </a:prstGeom>
          <a:solidFill>
            <a:srgbClr val="07517A"/>
          </a:solidFill>
          <a:ln w="12700">
            <a:solidFill>
              <a:srgbClr val="07517A"/>
            </a:solidFill>
            <a:prstDash val="solid"/>
          </a:ln>
        </p:spPr>
      </p:sp>
      <p:sp>
        <p:nvSpPr>
          <p:cNvPr id="22" name="Text 19"/>
          <p:cNvSpPr/>
          <p:nvPr/>
        </p:nvSpPr>
        <p:spPr>
          <a:xfrm>
            <a:off x="594360" y="4242816"/>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3" name="Shape 20"/>
          <p:cNvSpPr/>
          <p:nvPr/>
        </p:nvSpPr>
        <p:spPr>
          <a:xfrm>
            <a:off x="1417320" y="4169664"/>
            <a:ext cx="10271455" cy="786384"/>
          </a:xfrm>
          <a:prstGeom prst="roundRect">
            <a:avLst>
              <a:gd name="adj" fmla="val 11628"/>
            </a:avLst>
          </a:prstGeom>
          <a:solidFill>
            <a:srgbClr val="F7F9FB"/>
          </a:solidFill>
          <a:ln w="12700">
            <a:solidFill>
              <a:srgbClr val="CBD5E1"/>
            </a:solidFill>
            <a:prstDash val="solid"/>
          </a:ln>
        </p:spPr>
      </p:sp>
      <p:sp>
        <p:nvSpPr>
          <p:cNvPr id="24" name="Text 21"/>
          <p:cNvSpPr/>
          <p:nvPr/>
        </p:nvSpPr>
        <p:spPr>
          <a:xfrm>
            <a:off x="1645920" y="4169664"/>
            <a:ext cx="9814255" cy="786384"/>
          </a:xfrm>
          <a:prstGeom prst="rect">
            <a:avLst/>
          </a:prstGeom>
          <a:noFill/>
          <a:ln/>
        </p:spPr>
        <p:txBody>
          <a:bodyPr wrap="square" lIns="0" tIns="0" rIns="0" bIns="0" rtlCol="0" anchor="ctr"/>
          <a:lstStyle/>
          <a:p>
            <a:pPr indent="0" marL="0">
              <a:buNone/>
            </a:pPr>
            <a:r>
              <a:rPr lang="en-US" sz="1600" dirty="0">
                <a:solidFill>
                  <a:srgbClr val="111827"/>
                </a:solidFill>
                <a:latin typeface="Arial" pitchFamily="34" charset="0"/>
                <a:ea typeface="Arial" pitchFamily="34" charset="-122"/>
                <a:cs typeface="Arial" pitchFamily="34" charset="-120"/>
              </a:rPr>
              <a:t>To adapt the difficulty and support to each learner, with a clear goal, feedback after each answer and a progress view.</a:t>
            </a:r>
            <a:endParaRPr lang="en-US" sz="1600" dirty="0"/>
          </a:p>
        </p:txBody>
      </p:sp>
      <p:sp>
        <p:nvSpPr>
          <p:cNvPr id="25" name="Shape 22"/>
          <p:cNvSpPr/>
          <p:nvPr/>
        </p:nvSpPr>
        <p:spPr>
          <a:xfrm>
            <a:off x="594360" y="5266944"/>
            <a:ext cx="603504" cy="603504"/>
          </a:xfrm>
          <a:prstGeom prst="ellipse">
            <a:avLst/>
          </a:prstGeom>
          <a:solidFill>
            <a:srgbClr val="07517A"/>
          </a:solidFill>
          <a:ln w="12700">
            <a:solidFill>
              <a:srgbClr val="07517A"/>
            </a:solidFill>
            <a:prstDash val="solid"/>
          </a:ln>
        </p:spPr>
      </p:sp>
      <p:sp>
        <p:nvSpPr>
          <p:cNvPr id="26" name="Text 23"/>
          <p:cNvSpPr/>
          <p:nvPr/>
        </p:nvSpPr>
        <p:spPr>
          <a:xfrm>
            <a:off x="594360" y="5266944"/>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7" name="Shape 24"/>
          <p:cNvSpPr/>
          <p:nvPr/>
        </p:nvSpPr>
        <p:spPr>
          <a:xfrm>
            <a:off x="1417320" y="5193792"/>
            <a:ext cx="10271455" cy="786384"/>
          </a:xfrm>
          <a:prstGeom prst="roundRect">
            <a:avLst>
              <a:gd name="adj" fmla="val 11628"/>
            </a:avLst>
          </a:prstGeom>
          <a:solidFill>
            <a:srgbClr val="F7F9FB"/>
          </a:solidFill>
          <a:ln w="12700">
            <a:solidFill>
              <a:srgbClr val="CBD5E1"/>
            </a:solidFill>
            <a:prstDash val="solid"/>
          </a:ln>
        </p:spPr>
      </p:sp>
      <p:sp>
        <p:nvSpPr>
          <p:cNvPr id="28" name="Text 25"/>
          <p:cNvSpPr/>
          <p:nvPr/>
        </p:nvSpPr>
        <p:spPr>
          <a:xfrm>
            <a:off x="1645920" y="5193792"/>
            <a:ext cx="9814255" cy="786384"/>
          </a:xfrm>
          <a:prstGeom prst="rect">
            <a:avLst/>
          </a:prstGeom>
          <a:noFill/>
          <a:ln/>
        </p:spPr>
        <p:txBody>
          <a:bodyPr wrap="square" lIns="0" tIns="0" rIns="0" bIns="0" rtlCol="0" anchor="ctr"/>
          <a:lstStyle/>
          <a:p>
            <a:pPr indent="0" marL="0">
              <a:buNone/>
            </a:pPr>
            <a:r>
              <a:rPr lang="en-US" sz="1600" dirty="0">
                <a:solidFill>
                  <a:srgbClr val="111827"/>
                </a:solidFill>
                <a:latin typeface="Arial" pitchFamily="34" charset="0"/>
                <a:ea typeface="Arial" pitchFamily="34" charset="-122"/>
                <a:cs typeface="Arial" pitchFamily="34" charset="-120"/>
              </a:rPr>
              <a:t>To evaluate the prototype against the baseline tutors from early testing.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SCOPE OF STUDY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6</a:t>
            </a:r>
            <a:endParaRPr lang="en-US" sz="1000" dirty="0"/>
          </a:p>
        </p:txBody>
      </p:sp>
      <p:sp>
        <p:nvSpPr>
          <p:cNvPr id="9" name="Shape 6"/>
          <p:cNvSpPr/>
          <p:nvPr/>
        </p:nvSpPr>
        <p:spPr>
          <a:xfrm>
            <a:off x="1965960" y="1097280"/>
            <a:ext cx="548640" cy="548640"/>
          </a:xfrm>
          <a:prstGeom prst="ellipse">
            <a:avLst/>
          </a:prstGeom>
          <a:solidFill>
            <a:srgbClr val="FFFFFF"/>
          </a:solidFill>
          <a:ln w="12700">
            <a:solidFill>
              <a:srgbClr val="FFFFFF"/>
            </a:solidFill>
            <a:prstDash val="solid"/>
          </a:ln>
        </p:spPr>
      </p:sp>
      <p:sp>
        <p:nvSpPr>
          <p:cNvPr id="10" name="Text 7"/>
          <p:cNvSpPr/>
          <p:nvPr/>
        </p:nvSpPr>
        <p:spPr>
          <a:xfrm>
            <a:off x="1965960" y="1097280"/>
            <a:ext cx="548640" cy="548640"/>
          </a:xfrm>
          <a:prstGeom prst="rect">
            <a:avLst/>
          </a:prstGeom>
          <a:noFill/>
          <a:ln/>
        </p:spPr>
        <p:txBody>
          <a:bodyPr wrap="square" lIns="0" tIns="0" rIns="0" bIns="0" rtlCol="0" anchor="ctr"/>
          <a:lstStyle/>
          <a:p>
            <a:pPr algn="ctr" indent="0" marL="0">
              <a:buNone/>
            </a:pPr>
            <a:r>
              <a:rPr lang="en-US" sz="1600" b="1" dirty="0">
                <a:solidFill>
                  <a:srgbClr val="07517A"/>
                </a:solidFill>
                <a:latin typeface="Arial" pitchFamily="34" charset="0"/>
                <a:ea typeface="Arial" pitchFamily="34" charset="-122"/>
                <a:cs typeface="Arial" pitchFamily="34" charset="-120"/>
              </a:rPr>
              <a:t>1</a:t>
            </a:r>
            <a:endParaRPr lang="en-US" sz="1600" dirty="0"/>
          </a:p>
        </p:txBody>
      </p:sp>
      <p:sp>
        <p:nvSpPr>
          <p:cNvPr id="11" name="Shape 8"/>
          <p:cNvSpPr/>
          <p:nvPr/>
        </p:nvSpPr>
        <p:spPr>
          <a:xfrm>
            <a:off x="1965960" y="1097280"/>
            <a:ext cx="548640" cy="548640"/>
          </a:xfrm>
          <a:prstGeom prst="ellipse">
            <a:avLst/>
          </a:prstGeom>
          <a:ln w="19050">
            <a:solidFill>
              <a:srgbClr val="07517A"/>
            </a:solidFill>
            <a:prstDash val="solid"/>
          </a:ln>
        </p:spPr>
      </p:sp>
      <p:sp>
        <p:nvSpPr>
          <p:cNvPr id="12" name="Shape 9"/>
          <p:cNvSpPr/>
          <p:nvPr/>
        </p:nvSpPr>
        <p:spPr>
          <a:xfrm>
            <a:off x="502920" y="1783080"/>
            <a:ext cx="3547872" cy="2331720"/>
          </a:xfrm>
          <a:prstGeom prst="roundRect">
            <a:avLst>
              <a:gd name="adj" fmla="val 3922"/>
            </a:avLst>
          </a:prstGeom>
          <a:solidFill>
            <a:srgbClr val="F7F9FB"/>
          </a:solidFill>
          <a:ln w="12700">
            <a:solidFill>
              <a:srgbClr val="CBD5E1"/>
            </a:solidFill>
            <a:prstDash val="solid"/>
          </a:ln>
        </p:spPr>
      </p:sp>
      <p:sp>
        <p:nvSpPr>
          <p:cNvPr id="13" name="Text 10"/>
          <p:cNvSpPr/>
          <p:nvPr/>
        </p:nvSpPr>
        <p:spPr>
          <a:xfrm>
            <a:off x="731520" y="1920240"/>
            <a:ext cx="3108960" cy="457200"/>
          </a:xfrm>
          <a:prstGeom prst="rect">
            <a:avLst/>
          </a:prstGeom>
          <a:noFill/>
          <a:ln/>
        </p:spPr>
        <p:txBody>
          <a:bodyPr wrap="square" lIns="0" tIns="0" rIns="0" bIns="0" rtlCol="0" anchor="ctr"/>
          <a:lstStyle/>
          <a:p>
            <a:pPr algn="ctr" indent="0" marL="0">
              <a:buNone/>
            </a:pPr>
            <a:r>
              <a:rPr lang="en-US" sz="1900" b="1" dirty="0">
                <a:solidFill>
                  <a:srgbClr val="07517A"/>
                </a:solidFill>
                <a:latin typeface="Arial" pitchFamily="34" charset="0"/>
                <a:ea typeface="Arial" pitchFamily="34" charset="-122"/>
                <a:cs typeface="Arial" pitchFamily="34" charset="-120"/>
              </a:rPr>
              <a:t>One quant topic</a:t>
            </a:r>
            <a:endParaRPr lang="en-US" sz="1900" dirty="0"/>
          </a:p>
        </p:txBody>
      </p:sp>
      <p:sp>
        <p:nvSpPr>
          <p:cNvPr id="14" name="Text 11"/>
          <p:cNvSpPr/>
          <p:nvPr/>
        </p:nvSpPr>
        <p:spPr>
          <a:xfrm>
            <a:off x="731520" y="2423160"/>
            <a:ext cx="3108960" cy="1600200"/>
          </a:xfrm>
          <a:prstGeom prst="rect">
            <a:avLst/>
          </a:prstGeom>
          <a:noFill/>
          <a:ln/>
        </p:spPr>
        <p:txBody>
          <a:bodyPr wrap="square" lIns="0" tIns="0" rIns="0" bIns="0" rtlCol="0" anchor="t"/>
          <a:lstStyle/>
          <a:p>
            <a:pPr algn="ctr" indent="0" marL="0">
              <a:buNone/>
            </a:pPr>
            <a:r>
              <a:rPr lang="en-US" sz="1500" dirty="0">
                <a:solidFill>
                  <a:srgbClr val="111827"/>
                </a:solidFill>
                <a:latin typeface="Arial" pitchFamily="34" charset="0"/>
                <a:ea typeface="Arial" pitchFamily="34" charset="-122"/>
                <a:cs typeface="Arial" pitchFamily="34" charset="-120"/>
              </a:rPr>
              <a:t>Telling a real pattern in data from luck, for beginners, with no complex machine learning. Three short cases.</a:t>
            </a:r>
            <a:endParaRPr lang="en-US" sz="1500" dirty="0"/>
          </a:p>
        </p:txBody>
      </p:sp>
      <p:sp>
        <p:nvSpPr>
          <p:cNvPr id="15" name="Shape 12"/>
          <p:cNvSpPr/>
          <p:nvPr/>
        </p:nvSpPr>
        <p:spPr>
          <a:xfrm>
            <a:off x="5733288" y="1097280"/>
            <a:ext cx="548640" cy="548640"/>
          </a:xfrm>
          <a:prstGeom prst="ellipse">
            <a:avLst/>
          </a:prstGeom>
          <a:solidFill>
            <a:srgbClr val="FFFFFF"/>
          </a:solidFill>
          <a:ln w="12700">
            <a:solidFill>
              <a:srgbClr val="FFFFFF"/>
            </a:solidFill>
            <a:prstDash val="solid"/>
          </a:ln>
        </p:spPr>
      </p:sp>
      <p:sp>
        <p:nvSpPr>
          <p:cNvPr id="16" name="Text 13"/>
          <p:cNvSpPr/>
          <p:nvPr/>
        </p:nvSpPr>
        <p:spPr>
          <a:xfrm>
            <a:off x="5733288" y="1097280"/>
            <a:ext cx="548640" cy="548640"/>
          </a:xfrm>
          <a:prstGeom prst="rect">
            <a:avLst/>
          </a:prstGeom>
          <a:noFill/>
          <a:ln/>
        </p:spPr>
        <p:txBody>
          <a:bodyPr wrap="square" lIns="0" tIns="0" rIns="0" bIns="0" rtlCol="0" anchor="ctr"/>
          <a:lstStyle/>
          <a:p>
            <a:pPr algn="ctr" indent="0" marL="0">
              <a:buNone/>
            </a:pPr>
            <a:r>
              <a:rPr lang="en-US" sz="1600" b="1" dirty="0">
                <a:solidFill>
                  <a:srgbClr val="07517A"/>
                </a:solidFill>
                <a:latin typeface="Arial" pitchFamily="34" charset="0"/>
                <a:ea typeface="Arial" pitchFamily="34" charset="-122"/>
                <a:cs typeface="Arial" pitchFamily="34" charset="-120"/>
              </a:rPr>
              <a:t>2</a:t>
            </a:r>
            <a:endParaRPr lang="en-US" sz="1600" dirty="0"/>
          </a:p>
        </p:txBody>
      </p:sp>
      <p:sp>
        <p:nvSpPr>
          <p:cNvPr id="17" name="Shape 14"/>
          <p:cNvSpPr/>
          <p:nvPr/>
        </p:nvSpPr>
        <p:spPr>
          <a:xfrm>
            <a:off x="5733288" y="1097280"/>
            <a:ext cx="548640" cy="548640"/>
          </a:xfrm>
          <a:prstGeom prst="ellipse">
            <a:avLst/>
          </a:prstGeom>
          <a:ln w="19050">
            <a:solidFill>
              <a:srgbClr val="07517A"/>
            </a:solidFill>
            <a:prstDash val="solid"/>
          </a:ln>
        </p:spPr>
      </p:sp>
      <p:sp>
        <p:nvSpPr>
          <p:cNvPr id="18" name="Shape 15"/>
          <p:cNvSpPr/>
          <p:nvPr/>
        </p:nvSpPr>
        <p:spPr>
          <a:xfrm>
            <a:off x="4270248" y="1783080"/>
            <a:ext cx="3547872" cy="2331720"/>
          </a:xfrm>
          <a:prstGeom prst="roundRect">
            <a:avLst>
              <a:gd name="adj" fmla="val 3922"/>
            </a:avLst>
          </a:prstGeom>
          <a:solidFill>
            <a:srgbClr val="F7F9FB"/>
          </a:solidFill>
          <a:ln w="12700">
            <a:solidFill>
              <a:srgbClr val="CBD5E1"/>
            </a:solidFill>
            <a:prstDash val="solid"/>
          </a:ln>
        </p:spPr>
      </p:sp>
      <p:sp>
        <p:nvSpPr>
          <p:cNvPr id="19" name="Text 16"/>
          <p:cNvSpPr/>
          <p:nvPr/>
        </p:nvSpPr>
        <p:spPr>
          <a:xfrm>
            <a:off x="4498848" y="1920240"/>
            <a:ext cx="3108960" cy="457200"/>
          </a:xfrm>
          <a:prstGeom prst="rect">
            <a:avLst/>
          </a:prstGeom>
          <a:noFill/>
          <a:ln/>
        </p:spPr>
        <p:txBody>
          <a:bodyPr wrap="square" lIns="0" tIns="0" rIns="0" bIns="0" rtlCol="0" anchor="ctr"/>
          <a:lstStyle/>
          <a:p>
            <a:pPr algn="ctr" indent="0" marL="0">
              <a:buNone/>
            </a:pPr>
            <a:r>
              <a:rPr lang="en-US" sz="1900" b="1" dirty="0">
                <a:solidFill>
                  <a:srgbClr val="07517A"/>
                </a:solidFill>
                <a:latin typeface="Arial" pitchFamily="34" charset="0"/>
                <a:ea typeface="Arial" pitchFamily="34" charset="-122"/>
                <a:cs typeface="Arial" pitchFamily="34" charset="-120"/>
              </a:rPr>
              <a:t>Multi-agent tutor</a:t>
            </a:r>
            <a:endParaRPr lang="en-US" sz="1900" dirty="0"/>
          </a:p>
        </p:txBody>
      </p:sp>
      <p:sp>
        <p:nvSpPr>
          <p:cNvPr id="20" name="Text 17"/>
          <p:cNvSpPr/>
          <p:nvPr/>
        </p:nvSpPr>
        <p:spPr>
          <a:xfrm>
            <a:off x="4498848" y="2423160"/>
            <a:ext cx="3108960" cy="1600200"/>
          </a:xfrm>
          <a:prstGeom prst="rect">
            <a:avLst/>
          </a:prstGeom>
          <a:noFill/>
          <a:ln/>
        </p:spPr>
        <p:txBody>
          <a:bodyPr wrap="square" lIns="0" tIns="0" rIns="0" bIns="0" rtlCol="0" anchor="t"/>
          <a:lstStyle/>
          <a:p>
            <a:pPr algn="ctr" indent="0" marL="0">
              <a:buNone/>
            </a:pPr>
            <a:r>
              <a:rPr lang="en-US" sz="1500" dirty="0">
                <a:solidFill>
                  <a:srgbClr val="111827"/>
                </a:solidFill>
                <a:latin typeface="Arial" pitchFamily="34" charset="0"/>
                <a:ea typeface="Arial" pitchFamily="34" charset="-122"/>
                <a:cs typeface="Arial" pitchFamily="34" charset="-120"/>
              </a:rPr>
              <a:t>Four AI agents (Assessor, Planner, Tutor, Checker) guarded by plain-code rules, on the free Gemini model.</a:t>
            </a:r>
            <a:endParaRPr lang="en-US" sz="1500" dirty="0"/>
          </a:p>
        </p:txBody>
      </p:sp>
      <p:sp>
        <p:nvSpPr>
          <p:cNvPr id="21" name="Shape 18"/>
          <p:cNvSpPr/>
          <p:nvPr/>
        </p:nvSpPr>
        <p:spPr>
          <a:xfrm>
            <a:off x="9500616" y="1097280"/>
            <a:ext cx="548640" cy="548640"/>
          </a:xfrm>
          <a:prstGeom prst="ellipse">
            <a:avLst/>
          </a:prstGeom>
          <a:solidFill>
            <a:srgbClr val="FFFFFF"/>
          </a:solidFill>
          <a:ln w="12700">
            <a:solidFill>
              <a:srgbClr val="FFFFFF"/>
            </a:solidFill>
            <a:prstDash val="solid"/>
          </a:ln>
        </p:spPr>
      </p:sp>
      <p:sp>
        <p:nvSpPr>
          <p:cNvPr id="22" name="Text 19"/>
          <p:cNvSpPr/>
          <p:nvPr/>
        </p:nvSpPr>
        <p:spPr>
          <a:xfrm>
            <a:off x="9500616" y="1097280"/>
            <a:ext cx="548640" cy="548640"/>
          </a:xfrm>
          <a:prstGeom prst="rect">
            <a:avLst/>
          </a:prstGeom>
          <a:noFill/>
          <a:ln/>
        </p:spPr>
        <p:txBody>
          <a:bodyPr wrap="square" lIns="0" tIns="0" rIns="0" bIns="0" rtlCol="0" anchor="ctr"/>
          <a:lstStyle/>
          <a:p>
            <a:pPr algn="ctr" indent="0" marL="0">
              <a:buNone/>
            </a:pPr>
            <a:r>
              <a:rPr lang="en-US" sz="1600" b="1" dirty="0">
                <a:solidFill>
                  <a:srgbClr val="07517A"/>
                </a:solidFill>
                <a:latin typeface="Arial" pitchFamily="34" charset="0"/>
                <a:ea typeface="Arial" pitchFamily="34" charset="-122"/>
                <a:cs typeface="Arial" pitchFamily="34" charset="-120"/>
              </a:rPr>
              <a:t>3</a:t>
            </a:r>
            <a:endParaRPr lang="en-US" sz="1600" dirty="0"/>
          </a:p>
        </p:txBody>
      </p:sp>
      <p:sp>
        <p:nvSpPr>
          <p:cNvPr id="23" name="Shape 20"/>
          <p:cNvSpPr/>
          <p:nvPr/>
        </p:nvSpPr>
        <p:spPr>
          <a:xfrm>
            <a:off x="9500616" y="1097280"/>
            <a:ext cx="548640" cy="548640"/>
          </a:xfrm>
          <a:prstGeom prst="ellipse">
            <a:avLst/>
          </a:prstGeom>
          <a:ln w="19050">
            <a:solidFill>
              <a:srgbClr val="07517A"/>
            </a:solidFill>
            <a:prstDash val="solid"/>
          </a:ln>
        </p:spPr>
      </p:sp>
      <p:sp>
        <p:nvSpPr>
          <p:cNvPr id="24" name="Shape 21"/>
          <p:cNvSpPr/>
          <p:nvPr/>
        </p:nvSpPr>
        <p:spPr>
          <a:xfrm>
            <a:off x="8037576" y="1783080"/>
            <a:ext cx="3547872" cy="2331720"/>
          </a:xfrm>
          <a:prstGeom prst="roundRect">
            <a:avLst>
              <a:gd name="adj" fmla="val 3922"/>
            </a:avLst>
          </a:prstGeom>
          <a:solidFill>
            <a:srgbClr val="F7F9FB"/>
          </a:solidFill>
          <a:ln w="12700">
            <a:solidFill>
              <a:srgbClr val="CBD5E1"/>
            </a:solidFill>
            <a:prstDash val="solid"/>
          </a:ln>
        </p:spPr>
      </p:sp>
      <p:sp>
        <p:nvSpPr>
          <p:cNvPr id="25" name="Text 22"/>
          <p:cNvSpPr/>
          <p:nvPr/>
        </p:nvSpPr>
        <p:spPr>
          <a:xfrm>
            <a:off x="8266176" y="1920240"/>
            <a:ext cx="3108960" cy="457200"/>
          </a:xfrm>
          <a:prstGeom prst="rect">
            <a:avLst/>
          </a:prstGeom>
          <a:noFill/>
          <a:ln/>
        </p:spPr>
        <p:txBody>
          <a:bodyPr wrap="square" lIns="0" tIns="0" rIns="0" bIns="0" rtlCol="0" anchor="ctr"/>
          <a:lstStyle/>
          <a:p>
            <a:pPr algn="ctr" indent="0" marL="0">
              <a:buNone/>
            </a:pPr>
            <a:r>
              <a:rPr lang="en-US" sz="1900" b="1" dirty="0">
                <a:solidFill>
                  <a:srgbClr val="07517A"/>
                </a:solidFill>
                <a:latin typeface="Arial" pitchFamily="34" charset="0"/>
                <a:ea typeface="Arial" pitchFamily="34" charset="-122"/>
                <a:cs typeface="Arial" pitchFamily="34" charset="-120"/>
              </a:rPr>
              <a:t>Framework assessment</a:t>
            </a:r>
            <a:endParaRPr lang="en-US" sz="1900" dirty="0"/>
          </a:p>
        </p:txBody>
      </p:sp>
      <p:sp>
        <p:nvSpPr>
          <p:cNvPr id="26" name="Text 23"/>
          <p:cNvSpPr/>
          <p:nvPr/>
        </p:nvSpPr>
        <p:spPr>
          <a:xfrm>
            <a:off x="8266176" y="2423160"/>
            <a:ext cx="3108960" cy="1600200"/>
          </a:xfrm>
          <a:prstGeom prst="rect">
            <a:avLst/>
          </a:prstGeom>
          <a:noFill/>
          <a:ln/>
        </p:spPr>
        <p:txBody>
          <a:bodyPr wrap="square" lIns="0" tIns="0" rIns="0" bIns="0" rtlCol="0" anchor="t"/>
          <a:lstStyle/>
          <a:p>
            <a:pPr algn="ctr" indent="0" marL="0">
              <a:buNone/>
            </a:pPr>
            <a:r>
              <a:rPr lang="en-US" sz="1500" dirty="0">
                <a:solidFill>
                  <a:srgbClr val="111827"/>
                </a:solidFill>
                <a:latin typeface="Arial" pitchFamily="34" charset="0"/>
                <a:ea typeface="Arial" pitchFamily="34" charset="-122"/>
                <a:cs typeface="Arial" pitchFamily="34" charset="-120"/>
              </a:rPr>
              <a:t>6 Socratic levels and 9 standards now, then reasoning type and knowledge type, with a learner dashboard.</a:t>
            </a:r>
            <a:endParaRPr lang="en-US" sz="1500" dirty="0"/>
          </a:p>
        </p:txBody>
      </p:sp>
      <p:sp>
        <p:nvSpPr>
          <p:cNvPr id="27" name="Shape 24"/>
          <p:cNvSpPr/>
          <p:nvPr/>
        </p:nvSpPr>
        <p:spPr>
          <a:xfrm>
            <a:off x="502920" y="4434840"/>
            <a:ext cx="11185855" cy="1783080"/>
          </a:xfrm>
          <a:prstGeom prst="roundRect">
            <a:avLst>
              <a:gd name="adj" fmla="val 5128"/>
            </a:avLst>
          </a:prstGeom>
          <a:solidFill>
            <a:srgbClr val="F3EEDC"/>
          </a:solidFill>
          <a:ln w="12700">
            <a:solidFill>
              <a:srgbClr val="F3EEDC"/>
            </a:solidFill>
            <a:prstDash val="solid"/>
          </a:ln>
        </p:spPr>
      </p:sp>
      <p:sp>
        <p:nvSpPr>
          <p:cNvPr id="28" name="Text 25"/>
          <p:cNvSpPr/>
          <p:nvPr/>
        </p:nvSpPr>
        <p:spPr>
          <a:xfrm>
            <a:off x="777240" y="4526280"/>
            <a:ext cx="10637215" cy="1600200"/>
          </a:xfrm>
          <a:prstGeom prst="rect">
            <a:avLst/>
          </a:prstGeom>
          <a:noFill/>
          <a:ln/>
        </p:spPr>
        <p:txBody>
          <a:bodyPr wrap="square" lIns="0" tIns="0" rIns="0" bIns="0" rtlCol="0" anchor="ctr"/>
          <a:lstStyle/>
          <a:p>
            <a:pPr indent="0" marL="0">
              <a:spcAft>
                <a:spcPts val="800"/>
              </a:spcAft>
              <a:buNone/>
            </a:pPr>
            <a:r>
              <a:rPr lang="en-US" sz="1600" b="1" dirty="0">
                <a:solidFill>
                  <a:srgbClr val="111827"/>
                </a:solidFill>
                <a:latin typeface="Arial" pitchFamily="34" charset="0"/>
                <a:ea typeface="Arial" pitchFamily="34" charset="-122"/>
                <a:cs typeface="Arial" pitchFamily="34" charset="-120"/>
              </a:rPr>
              <a:t>Target learners: </a:t>
            </a:r>
            <a:pPr indent="0" marL="0">
              <a:spcAft>
                <a:spcPts val="800"/>
              </a:spcAft>
              <a:buNone/>
            </a:pPr>
            <a:r>
              <a:rPr lang="en-US" sz="1600" dirty="0">
                <a:solidFill>
                  <a:srgbClr val="111827"/>
                </a:solidFill>
                <a:latin typeface="Arial" pitchFamily="34" charset="0"/>
                <a:ea typeface="Arial" pitchFamily="34" charset="-122"/>
                <a:cs typeface="Arial" pitchFamily="34" charset="-120"/>
              </a:rPr>
              <a:t>university students new to quant (early testers are Dr Ho's students).</a:t>
            </a:r>
            <a:endParaRPr lang="en-US" sz="1600" dirty="0"/>
          </a:p>
          <a:p>
            <a:pPr indent="0" marL="0">
              <a:spcAft>
                <a:spcPts val="800"/>
              </a:spcAft>
              <a:buNone/>
            </a:pPr>
            <a:r>
              <a:rPr lang="en-US" sz="1600" b="1" dirty="0">
                <a:solidFill>
                  <a:srgbClr val="111827"/>
                </a:solidFill>
                <a:latin typeface="Arial" pitchFamily="34" charset="0"/>
                <a:ea typeface="Arial" pitchFamily="34" charset="-122"/>
                <a:cs typeface="Arial" pitchFamily="34" charset="-120"/>
              </a:rPr>
              <a:t>Future work, outside FYP: </a:t>
            </a:r>
            <a:pPr indent="0" marL="0">
              <a:spcAft>
                <a:spcPts val="800"/>
              </a:spcAft>
              <a:buNone/>
            </a:pPr>
            <a:r>
              <a:rPr lang="en-US" sz="1600" dirty="0">
                <a:solidFill>
                  <a:srgbClr val="111827"/>
                </a:solidFill>
                <a:latin typeface="Arial" pitchFamily="34" charset="0"/>
                <a:ea typeface="Arial" pitchFamily="34" charset="-122"/>
                <a:cs typeface="Arial" pitchFamily="34" charset="-120"/>
              </a:rPr>
              <a:t>a second topic, real reading material with retrieval (RAG) [15], knowledge graphs, and a full class study (needs a paid key and ethics approval).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7</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42062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Frameworks for Critical Thinking</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5855" cy="914400"/>
        </p:xfrm>
        <a:graphic>
          <a:graphicData uri="http://schemas.openxmlformats.org/drawingml/2006/table">
            <a:tbl>
              <a:tblPr/>
              <a:tblGrid>
                <a:gridCol w="2240280"/>
                <a:gridCol w="594360"/>
                <a:gridCol w="3063240"/>
                <a:gridCol w="2377440"/>
                <a:gridCol w="2377440"/>
                <a:gridCol w="530352"/>
              </a:tblGrid>
              <a:tr h="7863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Framework</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Year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Core idea</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Role in this project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Ref</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r>
              <a:tr h="786384">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Paul's 6 Socratic question levels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Clarify, assumptions, evidence, viewpoints, implications, question the question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The ladder: what the Tutor asks next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Says what to ask, not how good the answer is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786384">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Paul-Elder 9 intellectual standards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Clarity, accuracy, precision, relevance, depth, breadth, logic, significance, fairness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The Assessor marks each as 1 or 0</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Does not say which type of reasoning was used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86384">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Paul-Elder 8 elements of thought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Purpose, question, information, inference, concepts, assumptions, implications, point of view</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Prerequisites before reasoning (planned)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Links to reasoning types still open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786384">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Revised Bloom's taxonomy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2001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Knowledge dimension: factual, conceptual, procedural, metacognitive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Types of knowledge used (planned)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No causal or relational type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86384">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SOLO taxonomy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1982</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Prestructural to extended abstract outcomes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Complexity: how many knowledge types are joined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Needs adapting to dialogue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bl>
          </a:graphicData>
        </a:graphic>
      </p:graphicFrame>
      <p:sp>
        <p:nvSpPr>
          <p:cNvPr id="12" name="Text 8"/>
          <p:cNvSpPr/>
          <p:nvPr/>
        </p:nvSpPr>
        <p:spPr>
          <a:xfrm>
            <a:off x="502920" y="6172200"/>
            <a:ext cx="7315200" cy="274320"/>
          </a:xfrm>
          <a:prstGeom prst="rect">
            <a:avLst/>
          </a:prstGeom>
          <a:noFill/>
          <a:ln/>
        </p:spPr>
        <p:txBody>
          <a:bodyPr wrap="square" lIns="0" tIns="0" rIns="0" bIns="0" rtlCol="0" anchor="ctr"/>
          <a:lstStyle/>
          <a:p>
            <a:pPr indent="0" marL="0">
              <a:buNone/>
            </a:pPr>
            <a:r>
              <a:rPr lang="en-US" sz="1100" i="1" dirty="0">
                <a:solidFill>
                  <a:srgbClr val="4B5563"/>
                </a:solidFill>
                <a:latin typeface="Arial" pitchFamily="34" charset="0"/>
                <a:ea typeface="Arial" pitchFamily="34" charset="-122"/>
                <a:cs typeface="Arial" pitchFamily="34" charset="-120"/>
              </a:rPr>
              <a:t>Paul and Elder year and edition still to be confirmed.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8</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42062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Socratic Questioning and Socratic AI</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5855" cy="914400"/>
        </p:xfrm>
        <a:graphic>
          <a:graphicData uri="http://schemas.openxmlformats.org/drawingml/2006/table">
            <a:tbl>
              <a:tblPr/>
              <a:tblGrid>
                <a:gridCol w="1920240"/>
                <a:gridCol w="640080"/>
                <a:gridCol w="2651760"/>
                <a:gridCol w="3291840"/>
                <a:gridCol w="2148840"/>
                <a:gridCol w="530352"/>
              </a:tblGrid>
              <a:tr h="62179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Study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Year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Setting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Main finding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Ref</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Sahamid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2016</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Classroom action research</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Socratic questioning built critical thinking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Small, one class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Makhene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2019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Nursing education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Socratic inquiry helps critical thinking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Needs skilled teachers' time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Ho, Chen and Li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2023</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Healthcare students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Socratic method improved thinking skills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Human tutor, does not scale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Degen and Asanov</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65 pre-service teachers, Socratic AI vs plain chatbot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More support for critical, reflective thinking; argues for multi-agent systems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Self-reported, not a direct measure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Fan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Socratic scaffolding through AI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Structured scaffolding deepened inquiry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No link to reasoning constructs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Lee, Ang and Lai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Bloom labels on chatbot dialogues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Dialogue logs reveal thinking processes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Descriptive only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algn="l" indent="0" marL="0">
                        <a:buNone/>
                      </a:pPr>
                      <a:r>
                        <a:rPr lang="en-US" sz="1200" b="1" dirty="0">
                          <a:solidFill>
                            <a:srgbClr val="111827"/>
                          </a:solidFill>
                          <a:latin typeface="Arial" pitchFamily="34" charset="0"/>
                          <a:ea typeface="Arial" pitchFamily="34" charset="-122"/>
                          <a:cs typeface="Arial" pitchFamily="34" charset="-120"/>
                        </a:rPr>
                        <a:t>Lee et al. (CHI)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319 knowledge workers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More AI trust, less critical thinking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l" indent="0" marL="0">
                        <a:buNone/>
                      </a:pPr>
                      <a:r>
                        <a:rPr lang="en-US" sz="1200" dirty="0">
                          <a:solidFill>
                            <a:srgbClr val="111827"/>
                          </a:solidFill>
                          <a:latin typeface="Arial" pitchFamily="34" charset="0"/>
                          <a:ea typeface="Arial" pitchFamily="34" charset="-122"/>
                          <a:cs typeface="Arial" pitchFamily="34" charset="-120"/>
                        </a:rPr>
                        <a:t>Survey, self-reported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11827"/>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9</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42062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Existing Socratic AI Tutors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5855" cy="914400"/>
        </p:xfrm>
        <a:graphic>
          <a:graphicData uri="http://schemas.openxmlformats.org/drawingml/2006/table">
            <a:tbl>
              <a:tblPr/>
              <a:tblGrid>
                <a:gridCol w="3291840"/>
                <a:gridCol w="1463040"/>
                <a:gridCol w="1463040"/>
                <a:gridCol w="1965960"/>
                <a:gridCol w="1508760"/>
                <a:gridCol w="1490472"/>
              </a:tblGrid>
              <a:tr h="77724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Tool</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Refuses answers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Question ladder</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Framework assessment</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Goal, progress, end</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Reasoning and knowledge types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r>
              <a:tr h="777240">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Online Gemini Gem "Socratic Tutor" (Test #1)</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 (informal points)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777240">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Project prompt v1 (Test #2)</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Partly</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Partly (hidden 1 to 3 score)</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Khanmigo, custom GPTs *</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Not shown</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Not shown</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Partly</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r>
              <a:tr h="777240">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Socratic AI (this project)</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algn="ctr" indent="0" marL="0">
                        <a:buNone/>
                      </a:pPr>
                      <a:r>
                        <a:rPr lang="en-US" sz="1400" b="1"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algn="ctr" indent="0" marL="0">
                        <a:buNone/>
                      </a:pPr>
                      <a:r>
                        <a:rPr lang="en-US" sz="1400" b="1" dirty="0">
                          <a:solidFill>
                            <a:srgbClr val="111827"/>
                          </a:solidFill>
                          <a:latin typeface="Arial" pitchFamily="34" charset="0"/>
                          <a:ea typeface="Arial" pitchFamily="34" charset="-122"/>
                          <a:cs typeface="Arial" pitchFamily="34" charset="-120"/>
                        </a:rPr>
                        <a:t>Yes, 6 levels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algn="ctr" indent="0" marL="0">
                        <a:buNone/>
                      </a:pPr>
                      <a:r>
                        <a:rPr lang="en-US" sz="1400" b="1" dirty="0">
                          <a:solidFill>
                            <a:srgbClr val="111827"/>
                          </a:solidFill>
                          <a:latin typeface="Arial" pitchFamily="34" charset="0"/>
                          <a:ea typeface="Arial" pitchFamily="34" charset="-122"/>
                          <a:cs typeface="Arial" pitchFamily="34" charset="-120"/>
                        </a:rPr>
                        <a:t>Yes, 9 standards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algn="ctr" indent="0" marL="0">
                        <a:buNone/>
                      </a:pPr>
                      <a:r>
                        <a:rPr lang="en-US" sz="1400" b="1"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algn="ctr" indent="0" marL="0">
                        <a:buNone/>
                      </a:pPr>
                      <a:r>
                        <a:rPr lang="en-US" sz="1400" b="1" dirty="0">
                          <a:solidFill>
                            <a:srgbClr val="111827"/>
                          </a:solidFill>
                          <a:latin typeface="Arial" pitchFamily="34" charset="0"/>
                          <a:ea typeface="Arial" pitchFamily="34" charset="-122"/>
                          <a:cs typeface="Arial" pitchFamily="34" charset="-120"/>
                        </a:rPr>
                        <a:t>Planned</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r>
            </a:tbl>
          </a:graphicData>
        </a:graphic>
      </p:graphicFrame>
      <p:sp>
        <p:nvSpPr>
          <p:cNvPr id="12" name="Text 8"/>
          <p:cNvSpPr/>
          <p:nvPr/>
        </p:nvSpPr>
        <p:spPr>
          <a:xfrm>
            <a:off x="502920" y="5440680"/>
            <a:ext cx="8229600" cy="320040"/>
          </a:xfrm>
          <a:prstGeom prst="rect">
            <a:avLst/>
          </a:prstGeom>
          <a:noFill/>
          <a:ln/>
        </p:spPr>
        <p:txBody>
          <a:bodyPr wrap="square" lIns="0" tIns="0" rIns="0" bIns="0" rtlCol="0" anchor="ctr"/>
          <a:lstStyle/>
          <a:p>
            <a:pPr indent="0" marL="0">
              <a:buNone/>
            </a:pPr>
            <a:r>
              <a:rPr lang="en-US" sz="1200" i="1" dirty="0">
                <a:solidFill>
                  <a:srgbClr val="4B5563"/>
                </a:solidFill>
                <a:latin typeface="Arial" pitchFamily="34" charset="0"/>
                <a:ea typeface="Arial" pitchFamily="34" charset="-122"/>
                <a:cs typeface="Arial" pitchFamily="34" charset="-120"/>
              </a:rPr>
              <a:t>* From public descriptions, not tested in this project.</a:t>
            </a:r>
            <a:endParaRPr lang="en-US" sz="1200" dirty="0"/>
          </a:p>
        </p:txBody>
      </p:sp>
      <p:sp>
        <p:nvSpPr>
          <p:cNvPr id="13" name="Text 9"/>
          <p:cNvSpPr/>
          <p:nvPr/>
        </p:nvSpPr>
        <p:spPr>
          <a:xfrm>
            <a:off x="502920" y="5806440"/>
            <a:ext cx="11185855" cy="640080"/>
          </a:xfrm>
          <a:prstGeom prst="rect">
            <a:avLst/>
          </a:prstGeom>
          <a:noFill/>
          <a:ln/>
        </p:spPr>
        <p:txBody>
          <a:bodyPr wrap="square" lIns="0" tIns="0" rIns="0" bIns="0" rtlCol="0" anchor="ctr"/>
          <a:lstStyle/>
          <a:p>
            <a:pPr indent="0" marL="0">
              <a:buNone/>
            </a:pPr>
            <a:r>
              <a:rPr lang="en-US" sz="1600" b="1" dirty="0">
                <a:solidFill>
                  <a:srgbClr val="07517A"/>
                </a:solidFill>
                <a:latin typeface="Arial" pitchFamily="34" charset="0"/>
                <a:ea typeface="Arial" pitchFamily="34" charset="-122"/>
                <a:cs typeface="Arial" pitchFamily="34" charset="-120"/>
              </a:rPr>
              <a:t>No tested tool combines a question ladder, framework assessment and a clear session, and none shows which type of reasoning a learner used.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10</a:t>
            </a:r>
            <a:endParaRPr lang="en-US" sz="1000" dirty="0"/>
          </a:p>
        </p:txBody>
      </p:sp>
      <p:sp>
        <p:nvSpPr>
          <p:cNvPr id="9" name="Shape 6"/>
          <p:cNvSpPr/>
          <p:nvPr/>
        </p:nvSpPr>
        <p:spPr>
          <a:xfrm>
            <a:off x="502920" y="1051560"/>
            <a:ext cx="5432908" cy="5212080"/>
          </a:xfrm>
          <a:prstGeom prst="rect">
            <a:avLst/>
          </a:prstGeom>
          <a:solidFill>
            <a:srgbClr val="7A6E3C"/>
          </a:solidFill>
          <a:ln w="12700">
            <a:solidFill>
              <a:srgbClr val="7A6E3C"/>
            </a:solidFill>
            <a:prstDash val="solid"/>
          </a:ln>
        </p:spPr>
      </p:sp>
      <p:sp>
        <p:nvSpPr>
          <p:cNvPr id="10" name="Text 7"/>
          <p:cNvSpPr/>
          <p:nvPr/>
        </p:nvSpPr>
        <p:spPr>
          <a:xfrm>
            <a:off x="777240" y="1188720"/>
            <a:ext cx="48842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RESEARCH GAP</a:t>
            </a:r>
            <a:endParaRPr lang="en-US" sz="1800" dirty="0"/>
          </a:p>
        </p:txBody>
      </p:sp>
      <p:sp>
        <p:nvSpPr>
          <p:cNvPr id="11" name="Text 8"/>
          <p:cNvSpPr/>
          <p:nvPr/>
        </p:nvSpPr>
        <p:spPr>
          <a:xfrm>
            <a:off x="777240" y="1783080"/>
            <a:ext cx="4884268" cy="429768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AI use can reduce critical thinking effort, and current tutors are mostly answer machines.</a:t>
            </a:r>
            <a:endParaRPr lang="en-US" sz="1600" dirty="0"/>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Socratic AI tutors are promising, but their questions have no principled ladder.</a:t>
            </a:r>
            <a:endParaRPr lang="en-US" sz="1600" dirty="0"/>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Reasoning is rarely measured against a defined framework, and evidence is mostly self-reported.</a:t>
            </a:r>
            <a:endParaRPr lang="en-US" sz="1600" dirty="0"/>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No tool shows the learner which type of reasoning or knowledge they used.</a:t>
            </a:r>
            <a:endParaRPr lang="en-US" sz="1600" dirty="0"/>
          </a:p>
        </p:txBody>
      </p:sp>
      <p:sp>
        <p:nvSpPr>
          <p:cNvPr id="12" name="Shape 9"/>
          <p:cNvSpPr/>
          <p:nvPr/>
        </p:nvSpPr>
        <p:spPr>
          <a:xfrm>
            <a:off x="6255868" y="1051560"/>
            <a:ext cx="5432908" cy="5212080"/>
          </a:xfrm>
          <a:prstGeom prst="rect">
            <a:avLst/>
          </a:prstGeom>
          <a:solidFill>
            <a:srgbClr val="07517A"/>
          </a:solidFill>
          <a:ln w="12700">
            <a:solidFill>
              <a:srgbClr val="07517A"/>
            </a:solidFill>
            <a:prstDash val="solid"/>
          </a:ln>
        </p:spPr>
      </p:sp>
      <p:sp>
        <p:nvSpPr>
          <p:cNvPr id="13" name="Text 10"/>
          <p:cNvSpPr/>
          <p:nvPr/>
        </p:nvSpPr>
        <p:spPr>
          <a:xfrm>
            <a:off x="6530188" y="1188720"/>
            <a:ext cx="48842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JUSTIFICATION</a:t>
            </a:r>
            <a:endParaRPr lang="en-US" sz="1800" dirty="0"/>
          </a:p>
        </p:txBody>
      </p:sp>
      <p:sp>
        <p:nvSpPr>
          <p:cNvPr id="14" name="Text 11"/>
          <p:cNvSpPr/>
          <p:nvPr/>
        </p:nvSpPr>
        <p:spPr>
          <a:xfrm>
            <a:off x="6530188" y="1783080"/>
            <a:ext cx="4884268" cy="429768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A multi-agent tutor where the Tutor follows Paul's six levels, so questions climb in a set order.</a:t>
            </a:r>
            <a:endParaRPr lang="en-US" sz="1600" dirty="0"/>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A separate Assessor marks every answer against the nine standards, with evidence, so it can be checked against human markers.</a:t>
            </a:r>
            <a:endParaRPr lang="en-US" sz="1600" dirty="0"/>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Plain-code rules guard every AI decision, so steps are fair and testable ("agents decide, rules guard").</a:t>
            </a:r>
            <a:endParaRPr lang="en-US" sz="1600" dirty="0"/>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Next, new agents add reasoning type and knowledge type, measured over many questions.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11</a:t>
            </a:r>
            <a:endParaRPr lang="en-US" sz="1000" dirty="0"/>
          </a:p>
        </p:txBody>
      </p:sp>
      <p:sp>
        <p:nvSpPr>
          <p:cNvPr id="9" name="Shape 6"/>
          <p:cNvSpPr/>
          <p:nvPr/>
        </p:nvSpPr>
        <p:spPr>
          <a:xfrm>
            <a:off x="502920" y="2148840"/>
            <a:ext cx="8503920" cy="640080"/>
          </a:xfrm>
          <a:prstGeom prst="rightArrow">
            <a:avLst/>
          </a:prstGeom>
          <a:solidFill>
            <a:srgbClr val="07517A"/>
          </a:solidFill>
          <a:ln w="12700">
            <a:solidFill>
              <a:srgbClr val="07517A"/>
            </a:solidFill>
            <a:prstDash val="solid"/>
          </a:ln>
        </p:spPr>
      </p:sp>
      <p:sp>
        <p:nvSpPr>
          <p:cNvPr id="10" name="Shape 7"/>
          <p:cNvSpPr/>
          <p:nvPr/>
        </p:nvSpPr>
        <p:spPr>
          <a:xfrm>
            <a:off x="594360" y="1280160"/>
            <a:ext cx="1508760" cy="384048"/>
          </a:xfrm>
          <a:prstGeom prst="roundRect">
            <a:avLst>
              <a:gd name="adj" fmla="val 47619"/>
            </a:avLst>
          </a:prstGeom>
          <a:solidFill>
            <a:srgbClr val="F3EEDC"/>
          </a:solidFill>
          <a:ln w="12700">
            <a:solidFill>
              <a:srgbClr val="F3EEDC"/>
            </a:solidFill>
            <a:prstDash val="solid"/>
          </a:ln>
        </p:spPr>
      </p:sp>
      <p:sp>
        <p:nvSpPr>
          <p:cNvPr id="11" name="Text 8"/>
          <p:cNvSpPr/>
          <p:nvPr/>
        </p:nvSpPr>
        <p:spPr>
          <a:xfrm>
            <a:off x="594360" y="1280160"/>
            <a:ext cx="1508760" cy="384048"/>
          </a:xfrm>
          <a:prstGeom prst="rect">
            <a:avLst/>
          </a:prstGeom>
          <a:noFill/>
          <a:ln/>
        </p:spPr>
        <p:txBody>
          <a:bodyPr wrap="square" lIns="0" tIns="0" rIns="0" bIns="0" rtlCol="0" anchor="ctr"/>
          <a:lstStyle/>
          <a:p>
            <a:pPr algn="ctr" indent="0" marL="0">
              <a:buNone/>
            </a:pPr>
            <a:r>
              <a:rPr lang="en-US" sz="1400" b="1" dirty="0">
                <a:solidFill>
                  <a:srgbClr val="7A6E3C"/>
                </a:solidFill>
                <a:latin typeface="Arial" pitchFamily="34" charset="0"/>
                <a:ea typeface="Arial" pitchFamily="34" charset="-122"/>
                <a:cs typeface="Arial" pitchFamily="34" charset="-120"/>
              </a:rPr>
              <a:t>Phase 1</a:t>
            </a:r>
            <a:endParaRPr lang="en-US" sz="1400" dirty="0"/>
          </a:p>
        </p:txBody>
      </p:sp>
      <p:sp>
        <p:nvSpPr>
          <p:cNvPr id="12" name="Shape 9"/>
          <p:cNvSpPr/>
          <p:nvPr/>
        </p:nvSpPr>
        <p:spPr>
          <a:xfrm>
            <a:off x="1197864" y="2313432"/>
            <a:ext cx="310896" cy="310896"/>
          </a:xfrm>
          <a:prstGeom prst="ellipse">
            <a:avLst/>
          </a:prstGeom>
          <a:solidFill>
            <a:srgbClr val="FFFFFF"/>
          </a:solidFill>
          <a:ln w="25400">
            <a:solidFill>
              <a:srgbClr val="7A6E3C"/>
            </a:solidFill>
            <a:prstDash val="solid"/>
          </a:ln>
        </p:spPr>
      </p:sp>
      <p:sp>
        <p:nvSpPr>
          <p:cNvPr id="13" name="Text 10"/>
          <p:cNvSpPr/>
          <p:nvPr/>
        </p:nvSpPr>
        <p:spPr>
          <a:xfrm>
            <a:off x="594360" y="2971800"/>
            <a:ext cx="1554480" cy="365760"/>
          </a:xfrm>
          <a:prstGeom prst="rect">
            <a:avLst/>
          </a:prstGeom>
          <a:noFill/>
          <a:ln/>
        </p:spPr>
        <p:txBody>
          <a:bodyPr wrap="square" lIns="0" tIns="0" rIns="0" bIns="0" rtlCol="0" anchor="ctr"/>
          <a:lstStyle/>
          <a:p>
            <a:pPr algn="ctr" indent="0" marL="0">
              <a:buNone/>
            </a:pPr>
            <a:r>
              <a:rPr lang="en-US" sz="1500" b="1" dirty="0">
                <a:solidFill>
                  <a:srgbClr val="07517A"/>
                </a:solidFill>
                <a:latin typeface="Arial" pitchFamily="34" charset="0"/>
                <a:ea typeface="Arial" pitchFamily="34" charset="-122"/>
                <a:cs typeface="Arial" pitchFamily="34" charset="-120"/>
              </a:rPr>
              <a:t>Early testing</a:t>
            </a:r>
            <a:endParaRPr lang="en-US" sz="1500" dirty="0"/>
          </a:p>
        </p:txBody>
      </p:sp>
      <p:sp>
        <p:nvSpPr>
          <p:cNvPr id="14" name="Text 11"/>
          <p:cNvSpPr/>
          <p:nvPr/>
        </p:nvSpPr>
        <p:spPr>
          <a:xfrm>
            <a:off x="594360" y="3337560"/>
            <a:ext cx="1554480" cy="1097280"/>
          </a:xfrm>
          <a:prstGeom prst="rect">
            <a:avLst/>
          </a:prstGeom>
          <a:noFill/>
          <a:ln/>
        </p:spPr>
        <p:txBody>
          <a:bodyPr wrap="square" lIns="0" tIns="0" rIns="0" bIns="0" rtlCol="0" anchor="t"/>
          <a:lstStyle/>
          <a:p>
            <a:pPr algn="ctr" indent="0" marL="0">
              <a:buNone/>
            </a:pPr>
            <a:r>
              <a:rPr lang="en-US" sz="1200" dirty="0">
                <a:solidFill>
                  <a:srgbClr val="111827"/>
                </a:solidFill>
                <a:latin typeface="Arial" pitchFamily="34" charset="0"/>
                <a:ea typeface="Arial" pitchFamily="34" charset="-122"/>
                <a:cs typeface="Arial" pitchFamily="34" charset="-120"/>
              </a:rPr>
              <a:t>Two Gemini Gem tutors tested; problems written down</a:t>
            </a:r>
            <a:endParaRPr lang="en-US" sz="1200" dirty="0"/>
          </a:p>
        </p:txBody>
      </p:sp>
      <p:sp>
        <p:nvSpPr>
          <p:cNvPr id="15" name="Shape 12"/>
          <p:cNvSpPr/>
          <p:nvPr/>
        </p:nvSpPr>
        <p:spPr>
          <a:xfrm>
            <a:off x="2258568" y="1280160"/>
            <a:ext cx="1508760" cy="384048"/>
          </a:xfrm>
          <a:prstGeom prst="roundRect">
            <a:avLst>
              <a:gd name="adj" fmla="val 47619"/>
            </a:avLst>
          </a:prstGeom>
          <a:solidFill>
            <a:srgbClr val="F3EEDC"/>
          </a:solidFill>
          <a:ln w="12700">
            <a:solidFill>
              <a:srgbClr val="F3EEDC"/>
            </a:solidFill>
            <a:prstDash val="solid"/>
          </a:ln>
        </p:spPr>
      </p:sp>
      <p:sp>
        <p:nvSpPr>
          <p:cNvPr id="16" name="Text 13"/>
          <p:cNvSpPr/>
          <p:nvPr/>
        </p:nvSpPr>
        <p:spPr>
          <a:xfrm>
            <a:off x="2258568" y="1280160"/>
            <a:ext cx="1508760" cy="384048"/>
          </a:xfrm>
          <a:prstGeom prst="rect">
            <a:avLst/>
          </a:prstGeom>
          <a:noFill/>
          <a:ln/>
        </p:spPr>
        <p:txBody>
          <a:bodyPr wrap="square" lIns="0" tIns="0" rIns="0" bIns="0" rtlCol="0" anchor="ctr"/>
          <a:lstStyle/>
          <a:p>
            <a:pPr algn="ctr" indent="0" marL="0">
              <a:buNone/>
            </a:pPr>
            <a:r>
              <a:rPr lang="en-US" sz="1400" b="1" dirty="0">
                <a:solidFill>
                  <a:srgbClr val="7A6E3C"/>
                </a:solidFill>
                <a:latin typeface="Arial" pitchFamily="34" charset="0"/>
                <a:ea typeface="Arial" pitchFamily="34" charset="-122"/>
                <a:cs typeface="Arial" pitchFamily="34" charset="-120"/>
              </a:rPr>
              <a:t>Phase 2</a:t>
            </a:r>
            <a:endParaRPr lang="en-US" sz="1400" dirty="0"/>
          </a:p>
        </p:txBody>
      </p:sp>
      <p:sp>
        <p:nvSpPr>
          <p:cNvPr id="17" name="Shape 14"/>
          <p:cNvSpPr/>
          <p:nvPr/>
        </p:nvSpPr>
        <p:spPr>
          <a:xfrm>
            <a:off x="2862072" y="2313432"/>
            <a:ext cx="310896" cy="310896"/>
          </a:xfrm>
          <a:prstGeom prst="ellipse">
            <a:avLst/>
          </a:prstGeom>
          <a:solidFill>
            <a:srgbClr val="FFFFFF"/>
          </a:solidFill>
          <a:ln w="25400">
            <a:solidFill>
              <a:srgbClr val="7A6E3C"/>
            </a:solidFill>
            <a:prstDash val="solid"/>
          </a:ln>
        </p:spPr>
      </p:sp>
      <p:sp>
        <p:nvSpPr>
          <p:cNvPr id="18" name="Text 15"/>
          <p:cNvSpPr/>
          <p:nvPr/>
        </p:nvSpPr>
        <p:spPr>
          <a:xfrm>
            <a:off x="2258568" y="2971800"/>
            <a:ext cx="1554480" cy="365760"/>
          </a:xfrm>
          <a:prstGeom prst="rect">
            <a:avLst/>
          </a:prstGeom>
          <a:noFill/>
          <a:ln/>
        </p:spPr>
        <p:txBody>
          <a:bodyPr wrap="square" lIns="0" tIns="0" rIns="0" bIns="0" rtlCol="0" anchor="ctr"/>
          <a:lstStyle/>
          <a:p>
            <a:pPr algn="ctr" indent="0" marL="0">
              <a:buNone/>
            </a:pPr>
            <a:r>
              <a:rPr lang="en-US" sz="1500" b="1" dirty="0">
                <a:solidFill>
                  <a:srgbClr val="07517A"/>
                </a:solidFill>
                <a:latin typeface="Arial" pitchFamily="34" charset="0"/>
                <a:ea typeface="Arial" pitchFamily="34" charset="-122"/>
                <a:cs typeface="Arial" pitchFamily="34" charset="-120"/>
              </a:rPr>
              <a:t>Requirements</a:t>
            </a:r>
            <a:endParaRPr lang="en-US" sz="1500" dirty="0"/>
          </a:p>
        </p:txBody>
      </p:sp>
      <p:sp>
        <p:nvSpPr>
          <p:cNvPr id="19" name="Text 16"/>
          <p:cNvSpPr/>
          <p:nvPr/>
        </p:nvSpPr>
        <p:spPr>
          <a:xfrm>
            <a:off x="2258568" y="3337560"/>
            <a:ext cx="1554480" cy="1097280"/>
          </a:xfrm>
          <a:prstGeom prst="rect">
            <a:avLst/>
          </a:prstGeom>
          <a:noFill/>
          <a:ln/>
        </p:spPr>
        <p:txBody>
          <a:bodyPr wrap="square" lIns="0" tIns="0" rIns="0" bIns="0" rtlCol="0" anchor="t"/>
          <a:lstStyle/>
          <a:p>
            <a:pPr algn="ctr" indent="0" marL="0">
              <a:buNone/>
            </a:pPr>
            <a:r>
              <a:rPr lang="en-US" sz="1200" dirty="0">
                <a:solidFill>
                  <a:srgbClr val="111827"/>
                </a:solidFill>
                <a:latin typeface="Arial" pitchFamily="34" charset="0"/>
                <a:ea typeface="Arial" pitchFamily="34" charset="-122"/>
                <a:cs typeface="Arial" pitchFamily="34" charset="-120"/>
              </a:rPr>
              <a:t>9 design requirements R1 to R9 from the tests</a:t>
            </a:r>
            <a:endParaRPr lang="en-US" sz="1200" dirty="0"/>
          </a:p>
        </p:txBody>
      </p:sp>
      <p:sp>
        <p:nvSpPr>
          <p:cNvPr id="20" name="Shape 17"/>
          <p:cNvSpPr/>
          <p:nvPr/>
        </p:nvSpPr>
        <p:spPr>
          <a:xfrm>
            <a:off x="3922776" y="1280160"/>
            <a:ext cx="1508760" cy="384048"/>
          </a:xfrm>
          <a:prstGeom prst="roundRect">
            <a:avLst>
              <a:gd name="adj" fmla="val 47619"/>
            </a:avLst>
          </a:prstGeom>
          <a:solidFill>
            <a:srgbClr val="F3EEDC"/>
          </a:solidFill>
          <a:ln w="12700">
            <a:solidFill>
              <a:srgbClr val="F3EEDC"/>
            </a:solidFill>
            <a:prstDash val="solid"/>
          </a:ln>
        </p:spPr>
      </p:sp>
      <p:sp>
        <p:nvSpPr>
          <p:cNvPr id="21" name="Text 18"/>
          <p:cNvSpPr/>
          <p:nvPr/>
        </p:nvSpPr>
        <p:spPr>
          <a:xfrm>
            <a:off x="3922776" y="1280160"/>
            <a:ext cx="1508760" cy="384048"/>
          </a:xfrm>
          <a:prstGeom prst="rect">
            <a:avLst/>
          </a:prstGeom>
          <a:noFill/>
          <a:ln/>
        </p:spPr>
        <p:txBody>
          <a:bodyPr wrap="square" lIns="0" tIns="0" rIns="0" bIns="0" rtlCol="0" anchor="ctr"/>
          <a:lstStyle/>
          <a:p>
            <a:pPr algn="ctr" indent="0" marL="0">
              <a:buNone/>
            </a:pPr>
            <a:r>
              <a:rPr lang="en-US" sz="1400" b="1" dirty="0">
                <a:solidFill>
                  <a:srgbClr val="7A6E3C"/>
                </a:solidFill>
                <a:latin typeface="Arial" pitchFamily="34" charset="0"/>
                <a:ea typeface="Arial" pitchFamily="34" charset="-122"/>
                <a:cs typeface="Arial" pitchFamily="34" charset="-120"/>
              </a:rPr>
              <a:t>Phase 3</a:t>
            </a:r>
            <a:endParaRPr lang="en-US" sz="1400" dirty="0"/>
          </a:p>
        </p:txBody>
      </p:sp>
      <p:sp>
        <p:nvSpPr>
          <p:cNvPr id="22" name="Shape 19"/>
          <p:cNvSpPr/>
          <p:nvPr/>
        </p:nvSpPr>
        <p:spPr>
          <a:xfrm>
            <a:off x="4526280" y="2313432"/>
            <a:ext cx="310896" cy="310896"/>
          </a:xfrm>
          <a:prstGeom prst="ellipse">
            <a:avLst/>
          </a:prstGeom>
          <a:solidFill>
            <a:srgbClr val="FFFFFF"/>
          </a:solidFill>
          <a:ln w="25400">
            <a:solidFill>
              <a:srgbClr val="7A6E3C"/>
            </a:solidFill>
            <a:prstDash val="solid"/>
          </a:ln>
        </p:spPr>
      </p:sp>
      <p:sp>
        <p:nvSpPr>
          <p:cNvPr id="23" name="Text 20"/>
          <p:cNvSpPr/>
          <p:nvPr/>
        </p:nvSpPr>
        <p:spPr>
          <a:xfrm>
            <a:off x="3922776" y="2971800"/>
            <a:ext cx="1554480" cy="365760"/>
          </a:xfrm>
          <a:prstGeom prst="rect">
            <a:avLst/>
          </a:prstGeom>
          <a:noFill/>
          <a:ln/>
        </p:spPr>
        <p:txBody>
          <a:bodyPr wrap="square" lIns="0" tIns="0" rIns="0" bIns="0" rtlCol="0" anchor="ctr"/>
          <a:lstStyle/>
          <a:p>
            <a:pPr algn="ctr" indent="0" marL="0">
              <a:buNone/>
            </a:pPr>
            <a:r>
              <a:rPr lang="en-US" sz="1500" b="1" dirty="0">
                <a:solidFill>
                  <a:srgbClr val="07517A"/>
                </a:solidFill>
                <a:latin typeface="Arial" pitchFamily="34" charset="0"/>
                <a:ea typeface="Arial" pitchFamily="34" charset="-122"/>
                <a:cs typeface="Arial" pitchFamily="34" charset="-120"/>
              </a:rPr>
              <a:t>Build</a:t>
            </a:r>
            <a:endParaRPr lang="en-US" sz="1500" dirty="0"/>
          </a:p>
        </p:txBody>
      </p:sp>
      <p:sp>
        <p:nvSpPr>
          <p:cNvPr id="24" name="Text 21"/>
          <p:cNvSpPr/>
          <p:nvPr/>
        </p:nvSpPr>
        <p:spPr>
          <a:xfrm>
            <a:off x="3922776" y="3337560"/>
            <a:ext cx="1554480" cy="1097280"/>
          </a:xfrm>
          <a:prstGeom prst="rect">
            <a:avLst/>
          </a:prstGeom>
          <a:noFill/>
          <a:ln/>
        </p:spPr>
        <p:txBody>
          <a:bodyPr wrap="square" lIns="0" tIns="0" rIns="0" bIns="0" rtlCol="0" anchor="t"/>
          <a:lstStyle/>
          <a:p>
            <a:pPr algn="ctr" indent="0" marL="0">
              <a:buNone/>
            </a:pPr>
            <a:r>
              <a:rPr lang="en-US" sz="1200" dirty="0">
                <a:solidFill>
                  <a:srgbClr val="111827"/>
                </a:solidFill>
                <a:latin typeface="Arial" pitchFamily="34" charset="0"/>
                <a:ea typeface="Arial" pitchFamily="34" charset="-122"/>
                <a:cs typeface="Arial" pitchFamily="34" charset="-120"/>
              </a:rPr>
              <a:t>4 agents, rules, 3 cases, simulations, web app</a:t>
            </a:r>
            <a:endParaRPr lang="en-US" sz="1200" dirty="0"/>
          </a:p>
        </p:txBody>
      </p:sp>
      <p:sp>
        <p:nvSpPr>
          <p:cNvPr id="25" name="Shape 22"/>
          <p:cNvSpPr/>
          <p:nvPr/>
        </p:nvSpPr>
        <p:spPr>
          <a:xfrm>
            <a:off x="5586984" y="1280160"/>
            <a:ext cx="1508760" cy="384048"/>
          </a:xfrm>
          <a:prstGeom prst="roundRect">
            <a:avLst>
              <a:gd name="adj" fmla="val 47619"/>
            </a:avLst>
          </a:prstGeom>
          <a:solidFill>
            <a:srgbClr val="F3EEDC"/>
          </a:solidFill>
          <a:ln w="12700">
            <a:solidFill>
              <a:srgbClr val="F3EEDC"/>
            </a:solidFill>
            <a:prstDash val="solid"/>
          </a:ln>
        </p:spPr>
      </p:sp>
      <p:sp>
        <p:nvSpPr>
          <p:cNvPr id="26" name="Text 23"/>
          <p:cNvSpPr/>
          <p:nvPr/>
        </p:nvSpPr>
        <p:spPr>
          <a:xfrm>
            <a:off x="5586984" y="1280160"/>
            <a:ext cx="1508760" cy="384048"/>
          </a:xfrm>
          <a:prstGeom prst="rect">
            <a:avLst/>
          </a:prstGeom>
          <a:noFill/>
          <a:ln/>
        </p:spPr>
        <p:txBody>
          <a:bodyPr wrap="square" lIns="0" tIns="0" rIns="0" bIns="0" rtlCol="0" anchor="ctr"/>
          <a:lstStyle/>
          <a:p>
            <a:pPr algn="ctr" indent="0" marL="0">
              <a:buNone/>
            </a:pPr>
            <a:r>
              <a:rPr lang="en-US" sz="1400" b="1" dirty="0">
                <a:solidFill>
                  <a:srgbClr val="7A6E3C"/>
                </a:solidFill>
                <a:latin typeface="Arial" pitchFamily="34" charset="0"/>
                <a:ea typeface="Arial" pitchFamily="34" charset="-122"/>
                <a:cs typeface="Arial" pitchFamily="34" charset="-120"/>
              </a:rPr>
              <a:t>Phase 4</a:t>
            </a:r>
            <a:endParaRPr lang="en-US" sz="1400" dirty="0"/>
          </a:p>
        </p:txBody>
      </p:sp>
      <p:sp>
        <p:nvSpPr>
          <p:cNvPr id="27" name="Shape 24"/>
          <p:cNvSpPr/>
          <p:nvPr/>
        </p:nvSpPr>
        <p:spPr>
          <a:xfrm>
            <a:off x="6190488" y="2313432"/>
            <a:ext cx="310896" cy="310896"/>
          </a:xfrm>
          <a:prstGeom prst="ellipse">
            <a:avLst/>
          </a:prstGeom>
          <a:solidFill>
            <a:srgbClr val="FFFFFF"/>
          </a:solidFill>
          <a:ln w="25400">
            <a:solidFill>
              <a:srgbClr val="7A6E3C"/>
            </a:solidFill>
            <a:prstDash val="solid"/>
          </a:ln>
        </p:spPr>
      </p:sp>
      <p:sp>
        <p:nvSpPr>
          <p:cNvPr id="28" name="Text 25"/>
          <p:cNvSpPr/>
          <p:nvPr/>
        </p:nvSpPr>
        <p:spPr>
          <a:xfrm>
            <a:off x="5586984" y="2971800"/>
            <a:ext cx="1554480" cy="365760"/>
          </a:xfrm>
          <a:prstGeom prst="rect">
            <a:avLst/>
          </a:prstGeom>
          <a:noFill/>
          <a:ln/>
        </p:spPr>
        <p:txBody>
          <a:bodyPr wrap="square" lIns="0" tIns="0" rIns="0" bIns="0" rtlCol="0" anchor="ctr"/>
          <a:lstStyle/>
          <a:p>
            <a:pPr algn="ctr" indent="0" marL="0">
              <a:buNone/>
            </a:pPr>
            <a:r>
              <a:rPr lang="en-US" sz="1500" b="1" dirty="0">
                <a:solidFill>
                  <a:srgbClr val="07517A"/>
                </a:solidFill>
                <a:latin typeface="Arial" pitchFamily="34" charset="0"/>
                <a:ea typeface="Arial" pitchFamily="34" charset="-122"/>
                <a:cs typeface="Arial" pitchFamily="34" charset="-120"/>
              </a:rPr>
              <a:t>Test and fix</a:t>
            </a:r>
            <a:endParaRPr lang="en-US" sz="1500" dirty="0"/>
          </a:p>
        </p:txBody>
      </p:sp>
      <p:sp>
        <p:nvSpPr>
          <p:cNvPr id="29" name="Text 26"/>
          <p:cNvSpPr/>
          <p:nvPr/>
        </p:nvSpPr>
        <p:spPr>
          <a:xfrm>
            <a:off x="5586984" y="3337560"/>
            <a:ext cx="1554480" cy="1097280"/>
          </a:xfrm>
          <a:prstGeom prst="rect">
            <a:avLst/>
          </a:prstGeom>
          <a:noFill/>
          <a:ln/>
        </p:spPr>
        <p:txBody>
          <a:bodyPr wrap="square" lIns="0" tIns="0" rIns="0" bIns="0" rtlCol="0" anchor="t"/>
          <a:lstStyle/>
          <a:p>
            <a:pPr algn="ctr" indent="0" marL="0">
              <a:buNone/>
            </a:pPr>
            <a:r>
              <a:rPr lang="en-US" sz="1200" dirty="0">
                <a:solidFill>
                  <a:srgbClr val="111827"/>
                </a:solidFill>
                <a:latin typeface="Arial" pitchFamily="34" charset="0"/>
                <a:ea typeface="Arial" pitchFamily="34" charset="-122"/>
                <a:cs typeface="Arial" pitchFamily="34" charset="-120"/>
              </a:rPr>
              <a:t>Real sessions read turn by turn; problems fixed</a:t>
            </a:r>
            <a:endParaRPr lang="en-US" sz="1200" dirty="0"/>
          </a:p>
        </p:txBody>
      </p:sp>
      <p:sp>
        <p:nvSpPr>
          <p:cNvPr id="30" name="Shape 27"/>
          <p:cNvSpPr/>
          <p:nvPr/>
        </p:nvSpPr>
        <p:spPr>
          <a:xfrm>
            <a:off x="7251192" y="1280160"/>
            <a:ext cx="1508760" cy="384048"/>
          </a:xfrm>
          <a:prstGeom prst="roundRect">
            <a:avLst>
              <a:gd name="adj" fmla="val 47619"/>
            </a:avLst>
          </a:prstGeom>
          <a:solidFill>
            <a:srgbClr val="F3EEDC"/>
          </a:solidFill>
          <a:ln w="12700">
            <a:solidFill>
              <a:srgbClr val="F3EEDC"/>
            </a:solidFill>
            <a:prstDash val="solid"/>
          </a:ln>
        </p:spPr>
      </p:sp>
      <p:sp>
        <p:nvSpPr>
          <p:cNvPr id="31" name="Text 28"/>
          <p:cNvSpPr/>
          <p:nvPr/>
        </p:nvSpPr>
        <p:spPr>
          <a:xfrm>
            <a:off x="7251192" y="1280160"/>
            <a:ext cx="1508760" cy="384048"/>
          </a:xfrm>
          <a:prstGeom prst="rect">
            <a:avLst/>
          </a:prstGeom>
          <a:noFill/>
          <a:ln/>
        </p:spPr>
        <p:txBody>
          <a:bodyPr wrap="square" lIns="0" tIns="0" rIns="0" bIns="0" rtlCol="0" anchor="ctr"/>
          <a:lstStyle/>
          <a:p>
            <a:pPr algn="ctr" indent="0" marL="0">
              <a:buNone/>
            </a:pPr>
            <a:r>
              <a:rPr lang="en-US" sz="1400" b="1" dirty="0">
                <a:solidFill>
                  <a:srgbClr val="7A6E3C"/>
                </a:solidFill>
                <a:latin typeface="Arial" pitchFamily="34" charset="0"/>
                <a:ea typeface="Arial" pitchFamily="34" charset="-122"/>
                <a:cs typeface="Arial" pitchFamily="34" charset="-120"/>
              </a:rPr>
              <a:t>Phase 5</a:t>
            </a:r>
            <a:endParaRPr lang="en-US" sz="1400" dirty="0"/>
          </a:p>
        </p:txBody>
      </p:sp>
      <p:sp>
        <p:nvSpPr>
          <p:cNvPr id="32" name="Shape 29"/>
          <p:cNvSpPr/>
          <p:nvPr/>
        </p:nvSpPr>
        <p:spPr>
          <a:xfrm>
            <a:off x="7854696" y="2313432"/>
            <a:ext cx="310896" cy="310896"/>
          </a:xfrm>
          <a:prstGeom prst="ellipse">
            <a:avLst/>
          </a:prstGeom>
          <a:solidFill>
            <a:srgbClr val="FFFFFF"/>
          </a:solidFill>
          <a:ln w="25400">
            <a:solidFill>
              <a:srgbClr val="7A6E3C"/>
            </a:solidFill>
            <a:prstDash val="solid"/>
          </a:ln>
        </p:spPr>
      </p:sp>
      <p:sp>
        <p:nvSpPr>
          <p:cNvPr id="33" name="Text 30"/>
          <p:cNvSpPr/>
          <p:nvPr/>
        </p:nvSpPr>
        <p:spPr>
          <a:xfrm>
            <a:off x="7251192" y="2971800"/>
            <a:ext cx="1554480" cy="365760"/>
          </a:xfrm>
          <a:prstGeom prst="rect">
            <a:avLst/>
          </a:prstGeom>
          <a:noFill/>
          <a:ln/>
        </p:spPr>
        <p:txBody>
          <a:bodyPr wrap="square" lIns="0" tIns="0" rIns="0" bIns="0" rtlCol="0" anchor="ctr"/>
          <a:lstStyle/>
          <a:p>
            <a:pPr algn="ctr" indent="0" marL="0">
              <a:buNone/>
            </a:pPr>
            <a:r>
              <a:rPr lang="en-US" sz="1500" b="1" dirty="0">
                <a:solidFill>
                  <a:srgbClr val="07517A"/>
                </a:solidFill>
                <a:latin typeface="Arial" pitchFamily="34" charset="0"/>
                <a:ea typeface="Arial" pitchFamily="34" charset="-122"/>
                <a:cs typeface="Arial" pitchFamily="34" charset="-120"/>
              </a:rPr>
              <a:t>Evaluate</a:t>
            </a:r>
            <a:endParaRPr lang="en-US" sz="1500" dirty="0"/>
          </a:p>
        </p:txBody>
      </p:sp>
      <p:sp>
        <p:nvSpPr>
          <p:cNvPr id="34" name="Text 31"/>
          <p:cNvSpPr/>
          <p:nvPr/>
        </p:nvSpPr>
        <p:spPr>
          <a:xfrm>
            <a:off x="7251192" y="3337560"/>
            <a:ext cx="1554480" cy="1097280"/>
          </a:xfrm>
          <a:prstGeom prst="rect">
            <a:avLst/>
          </a:prstGeom>
          <a:noFill/>
          <a:ln/>
        </p:spPr>
        <p:txBody>
          <a:bodyPr wrap="square" lIns="0" tIns="0" rIns="0" bIns="0" rtlCol="0" anchor="t"/>
          <a:lstStyle/>
          <a:p>
            <a:pPr algn="ctr" indent="0" marL="0">
              <a:buNone/>
            </a:pPr>
            <a:r>
              <a:rPr lang="en-US" sz="1200" dirty="0">
                <a:solidFill>
                  <a:srgbClr val="111827"/>
                </a:solidFill>
                <a:latin typeface="Arial" pitchFamily="34" charset="0"/>
                <a:ea typeface="Arial" pitchFamily="34" charset="-122"/>
                <a:cs typeface="Arial" pitchFamily="34" charset="-120"/>
              </a:rPr>
              <a:t>Requirements, Assessor vs humans, learners</a:t>
            </a:r>
            <a:endParaRPr lang="en-US" sz="1200" dirty="0"/>
          </a:p>
        </p:txBody>
      </p:sp>
      <p:sp>
        <p:nvSpPr>
          <p:cNvPr id="35" name="Shape 32"/>
          <p:cNvSpPr/>
          <p:nvPr/>
        </p:nvSpPr>
        <p:spPr>
          <a:xfrm>
            <a:off x="502920" y="4572000"/>
            <a:ext cx="2724912" cy="457200"/>
          </a:xfrm>
          <a:prstGeom prst="roundRect">
            <a:avLst>
              <a:gd name="adj" fmla="val 20000"/>
            </a:avLst>
          </a:prstGeom>
          <a:solidFill>
            <a:srgbClr val="F7F9FB"/>
          </a:solidFill>
          <a:ln w="12700">
            <a:solidFill>
              <a:srgbClr val="CBD5E1"/>
            </a:solidFill>
            <a:prstDash val="solid"/>
          </a:ln>
        </p:spPr>
      </p:sp>
      <p:sp>
        <p:nvSpPr>
          <p:cNvPr id="36" name="Text 33"/>
          <p:cNvSpPr/>
          <p:nvPr/>
        </p:nvSpPr>
        <p:spPr>
          <a:xfrm>
            <a:off x="640080" y="4572000"/>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R1 Clear mission</a:t>
            </a:r>
            <a:endParaRPr lang="en-US" sz="1250" dirty="0"/>
          </a:p>
        </p:txBody>
      </p:sp>
      <p:sp>
        <p:nvSpPr>
          <p:cNvPr id="37" name="Shape 34"/>
          <p:cNvSpPr/>
          <p:nvPr/>
        </p:nvSpPr>
        <p:spPr>
          <a:xfrm>
            <a:off x="3355848" y="4572000"/>
            <a:ext cx="2724912" cy="457200"/>
          </a:xfrm>
          <a:prstGeom prst="roundRect">
            <a:avLst>
              <a:gd name="adj" fmla="val 20000"/>
            </a:avLst>
          </a:prstGeom>
          <a:solidFill>
            <a:srgbClr val="F7F9FB"/>
          </a:solidFill>
          <a:ln w="12700">
            <a:solidFill>
              <a:srgbClr val="CBD5E1"/>
            </a:solidFill>
            <a:prstDash val="solid"/>
          </a:ln>
        </p:spPr>
      </p:sp>
      <p:sp>
        <p:nvSpPr>
          <p:cNvPr id="38" name="Text 35"/>
          <p:cNvSpPr/>
          <p:nvPr/>
        </p:nvSpPr>
        <p:spPr>
          <a:xfrm>
            <a:off x="3493008" y="4572000"/>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R2 Fixed rounds, progress</a:t>
            </a:r>
            <a:endParaRPr lang="en-US" sz="1250" dirty="0"/>
          </a:p>
        </p:txBody>
      </p:sp>
      <p:sp>
        <p:nvSpPr>
          <p:cNvPr id="39" name="Shape 36"/>
          <p:cNvSpPr/>
          <p:nvPr/>
        </p:nvSpPr>
        <p:spPr>
          <a:xfrm>
            <a:off x="6208776" y="4572000"/>
            <a:ext cx="2724912" cy="457200"/>
          </a:xfrm>
          <a:prstGeom prst="roundRect">
            <a:avLst>
              <a:gd name="adj" fmla="val 20000"/>
            </a:avLst>
          </a:prstGeom>
          <a:solidFill>
            <a:srgbClr val="F7F9FB"/>
          </a:solidFill>
          <a:ln w="12700">
            <a:solidFill>
              <a:srgbClr val="CBD5E1"/>
            </a:solidFill>
            <a:prstDash val="solid"/>
          </a:ln>
        </p:spPr>
      </p:sp>
      <p:sp>
        <p:nvSpPr>
          <p:cNvPr id="40" name="Text 37"/>
          <p:cNvSpPr/>
          <p:nvPr/>
        </p:nvSpPr>
        <p:spPr>
          <a:xfrm>
            <a:off x="6345936" y="4572000"/>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R3 Remember, never re-ask</a:t>
            </a:r>
            <a:endParaRPr lang="en-US" sz="1250" dirty="0"/>
          </a:p>
        </p:txBody>
      </p:sp>
      <p:sp>
        <p:nvSpPr>
          <p:cNvPr id="41" name="Shape 38"/>
          <p:cNvSpPr/>
          <p:nvPr/>
        </p:nvSpPr>
        <p:spPr>
          <a:xfrm>
            <a:off x="502920" y="5138928"/>
            <a:ext cx="2724912" cy="457200"/>
          </a:xfrm>
          <a:prstGeom prst="roundRect">
            <a:avLst>
              <a:gd name="adj" fmla="val 20000"/>
            </a:avLst>
          </a:prstGeom>
          <a:solidFill>
            <a:srgbClr val="F7F9FB"/>
          </a:solidFill>
          <a:ln w="12700">
            <a:solidFill>
              <a:srgbClr val="CBD5E1"/>
            </a:solidFill>
            <a:prstDash val="solid"/>
          </a:ln>
        </p:spPr>
      </p:sp>
      <p:sp>
        <p:nvSpPr>
          <p:cNvPr id="42" name="Text 39"/>
          <p:cNvSpPr/>
          <p:nvPr/>
        </p:nvSpPr>
        <p:spPr>
          <a:xfrm>
            <a:off x="640080" y="5138928"/>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R4 Feedback and teaching</a:t>
            </a:r>
            <a:endParaRPr lang="en-US" sz="1250" dirty="0"/>
          </a:p>
        </p:txBody>
      </p:sp>
      <p:sp>
        <p:nvSpPr>
          <p:cNvPr id="43" name="Shape 40"/>
          <p:cNvSpPr/>
          <p:nvPr/>
        </p:nvSpPr>
        <p:spPr>
          <a:xfrm>
            <a:off x="3355848" y="5138928"/>
            <a:ext cx="2724912" cy="457200"/>
          </a:xfrm>
          <a:prstGeom prst="roundRect">
            <a:avLst>
              <a:gd name="adj" fmla="val 20000"/>
            </a:avLst>
          </a:prstGeom>
          <a:solidFill>
            <a:srgbClr val="F7F9FB"/>
          </a:solidFill>
          <a:ln w="12700">
            <a:solidFill>
              <a:srgbClr val="CBD5E1"/>
            </a:solidFill>
            <a:prstDash val="solid"/>
          </a:ln>
        </p:spPr>
      </p:sp>
      <p:sp>
        <p:nvSpPr>
          <p:cNvPr id="44" name="Text 41"/>
          <p:cNvSpPr/>
          <p:nvPr/>
        </p:nvSpPr>
        <p:spPr>
          <a:xfrm>
            <a:off x="3493008" y="5138928"/>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R5 Notice frustration</a:t>
            </a:r>
            <a:endParaRPr lang="en-US" sz="1250" dirty="0"/>
          </a:p>
        </p:txBody>
      </p:sp>
      <p:sp>
        <p:nvSpPr>
          <p:cNvPr id="45" name="Shape 42"/>
          <p:cNvSpPr/>
          <p:nvPr/>
        </p:nvSpPr>
        <p:spPr>
          <a:xfrm>
            <a:off x="6208776" y="5138928"/>
            <a:ext cx="2724912" cy="457200"/>
          </a:xfrm>
          <a:prstGeom prst="roundRect">
            <a:avLst>
              <a:gd name="adj" fmla="val 20000"/>
            </a:avLst>
          </a:prstGeom>
          <a:solidFill>
            <a:srgbClr val="F7F9FB"/>
          </a:solidFill>
          <a:ln w="12700">
            <a:solidFill>
              <a:srgbClr val="CBD5E1"/>
            </a:solidFill>
            <a:prstDash val="solid"/>
          </a:ln>
        </p:spPr>
      </p:sp>
      <p:sp>
        <p:nvSpPr>
          <p:cNvPr id="46" name="Text 43"/>
          <p:cNvSpPr/>
          <p:nvPr/>
        </p:nvSpPr>
        <p:spPr>
          <a:xfrm>
            <a:off x="6345936" y="5138928"/>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R6 Vary formats</a:t>
            </a:r>
            <a:endParaRPr lang="en-US" sz="1250" dirty="0"/>
          </a:p>
        </p:txBody>
      </p:sp>
      <p:sp>
        <p:nvSpPr>
          <p:cNvPr id="47" name="Shape 44"/>
          <p:cNvSpPr/>
          <p:nvPr/>
        </p:nvSpPr>
        <p:spPr>
          <a:xfrm>
            <a:off x="502920" y="5705856"/>
            <a:ext cx="2724912" cy="457200"/>
          </a:xfrm>
          <a:prstGeom prst="roundRect">
            <a:avLst>
              <a:gd name="adj" fmla="val 20000"/>
            </a:avLst>
          </a:prstGeom>
          <a:solidFill>
            <a:srgbClr val="F7F9FB"/>
          </a:solidFill>
          <a:ln w="12700">
            <a:solidFill>
              <a:srgbClr val="CBD5E1"/>
            </a:solidFill>
            <a:prstDash val="solid"/>
          </a:ln>
        </p:spPr>
      </p:sp>
      <p:sp>
        <p:nvSpPr>
          <p:cNvPr id="48" name="Text 45"/>
          <p:cNvSpPr/>
          <p:nvPr/>
        </p:nvSpPr>
        <p:spPr>
          <a:xfrm>
            <a:off x="640080" y="5705856"/>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R7 Separate assessor</a:t>
            </a:r>
            <a:endParaRPr lang="en-US" sz="1250" dirty="0"/>
          </a:p>
        </p:txBody>
      </p:sp>
      <p:sp>
        <p:nvSpPr>
          <p:cNvPr id="49" name="Shape 46"/>
          <p:cNvSpPr/>
          <p:nvPr/>
        </p:nvSpPr>
        <p:spPr>
          <a:xfrm>
            <a:off x="3355848" y="5705856"/>
            <a:ext cx="2724912" cy="457200"/>
          </a:xfrm>
          <a:prstGeom prst="roundRect">
            <a:avLst>
              <a:gd name="adj" fmla="val 20000"/>
            </a:avLst>
          </a:prstGeom>
          <a:solidFill>
            <a:srgbClr val="F7F9FB"/>
          </a:solidFill>
          <a:ln w="12700">
            <a:solidFill>
              <a:srgbClr val="CBD5E1"/>
            </a:solidFill>
            <a:prstDash val="solid"/>
          </a:ln>
        </p:spPr>
      </p:sp>
      <p:sp>
        <p:nvSpPr>
          <p:cNvPr id="50" name="Text 47"/>
          <p:cNvSpPr/>
          <p:nvPr/>
        </p:nvSpPr>
        <p:spPr>
          <a:xfrm>
            <a:off x="3493008" y="5705856"/>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R8 Learner stats</a:t>
            </a:r>
            <a:endParaRPr lang="en-US" sz="1250" dirty="0"/>
          </a:p>
        </p:txBody>
      </p:sp>
      <p:sp>
        <p:nvSpPr>
          <p:cNvPr id="51" name="Shape 48"/>
          <p:cNvSpPr/>
          <p:nvPr/>
        </p:nvSpPr>
        <p:spPr>
          <a:xfrm>
            <a:off x="6208776" y="5705856"/>
            <a:ext cx="2724912" cy="457200"/>
          </a:xfrm>
          <a:prstGeom prst="roundRect">
            <a:avLst>
              <a:gd name="adj" fmla="val 20000"/>
            </a:avLst>
          </a:prstGeom>
          <a:solidFill>
            <a:srgbClr val="F7F9FB"/>
          </a:solidFill>
          <a:ln w="12700">
            <a:solidFill>
              <a:srgbClr val="CBD5E1"/>
            </a:solidFill>
            <a:prstDash val="solid"/>
          </a:ln>
        </p:spPr>
      </p:sp>
      <p:sp>
        <p:nvSpPr>
          <p:cNvPr id="52" name="Text 49"/>
          <p:cNvSpPr/>
          <p:nvPr/>
        </p:nvSpPr>
        <p:spPr>
          <a:xfrm>
            <a:off x="6345936" y="5705856"/>
            <a:ext cx="2514600" cy="457200"/>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R9 Stable topic</a:t>
            </a:r>
            <a:endParaRPr lang="en-US" sz="1250" dirty="0"/>
          </a:p>
        </p:txBody>
      </p:sp>
      <p:sp>
        <p:nvSpPr>
          <p:cNvPr id="53" name="Shape 50"/>
          <p:cNvSpPr/>
          <p:nvPr/>
        </p:nvSpPr>
        <p:spPr>
          <a:xfrm>
            <a:off x="9326880" y="1143000"/>
            <a:ext cx="2361895" cy="5120640"/>
          </a:xfrm>
          <a:prstGeom prst="roundRect">
            <a:avLst>
              <a:gd name="adj" fmla="val 3871"/>
            </a:avLst>
          </a:prstGeom>
          <a:solidFill>
            <a:srgbClr val="DCEAF2"/>
          </a:solidFill>
          <a:ln w="12700">
            <a:solidFill>
              <a:srgbClr val="DCEAF2"/>
            </a:solidFill>
            <a:prstDash val="solid"/>
          </a:ln>
        </p:spPr>
      </p:sp>
      <p:sp>
        <p:nvSpPr>
          <p:cNvPr id="54" name="Text 51"/>
          <p:cNvSpPr/>
          <p:nvPr/>
        </p:nvSpPr>
        <p:spPr>
          <a:xfrm>
            <a:off x="9509760" y="1280160"/>
            <a:ext cx="2041855" cy="4846320"/>
          </a:xfrm>
          <a:prstGeom prst="rect">
            <a:avLst/>
          </a:prstGeom>
          <a:noFill/>
          <a:ln/>
        </p:spPr>
        <p:txBody>
          <a:bodyPr wrap="square" lIns="0" tIns="0" rIns="0" bIns="0" rtlCol="0" anchor="t"/>
          <a:lstStyle/>
          <a:p>
            <a:pPr indent="0" marL="0">
              <a:spcAft>
                <a:spcPts val="600"/>
              </a:spcAft>
              <a:buNone/>
            </a:pPr>
            <a:r>
              <a:rPr lang="en-US" sz="1300" b="1" dirty="0">
                <a:solidFill>
                  <a:srgbClr val="07517A"/>
                </a:solidFill>
                <a:latin typeface="Arial" pitchFamily="34" charset="0"/>
                <a:ea typeface="Arial" pitchFamily="34" charset="-122"/>
                <a:cs typeface="Arial" pitchFamily="34" charset="-120"/>
              </a:rPr>
              <a:t>Software</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Python 3.13, FastAPI, LangGraph</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Gemini 3.5 Flash Lite (free tier)</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HTML and JavaScript front end</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Supabase database, Render hosting (free)</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pytest: 94 automatic tests</a:t>
            </a:r>
            <a:endParaRPr lang="en-US" sz="1300" dirty="0"/>
          </a:p>
          <a:p>
            <a:pPr indent="0" marL="0">
              <a:spcAft>
                <a:spcPts val="600"/>
              </a:spcAft>
              <a:buNone/>
            </a:pPr>
            <a:r>
              <a:rPr lang="en-US" sz="1300" b="1" dirty="0">
                <a:solidFill>
                  <a:srgbClr val="07517A"/>
                </a:solidFill>
                <a:latin typeface="Arial" pitchFamily="34" charset="0"/>
                <a:ea typeface="Arial" pitchFamily="34" charset="-122"/>
                <a:cs typeface="Arial" pitchFamily="34" charset="-120"/>
              </a:rPr>
              <a:t>Hardware</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A normal laptop; the AI runs in the cloud, so no GPU is needed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12</a:t>
            </a:r>
            <a:endParaRPr lang="en-US" sz="1000" dirty="0"/>
          </a:p>
        </p:txBody>
      </p:sp>
      <p:sp>
        <p:nvSpPr>
          <p:cNvPr id="9" name="Shape 6"/>
          <p:cNvSpPr/>
          <p:nvPr/>
        </p:nvSpPr>
        <p:spPr>
          <a:xfrm>
            <a:off x="502920" y="960120"/>
            <a:ext cx="448056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448056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System Architecture: Agents Decide, Rules Guard</a:t>
            </a:r>
            <a:endParaRPr lang="en-US" sz="1400" dirty="0"/>
          </a:p>
        </p:txBody>
      </p:sp>
      <p:pic>
        <p:nvPicPr>
          <p:cNvPr id="11" name="Image 1" descr="C:\Users\eizma\AppData\Local\Temp\claude\c--Users-eizma-Desktop-socratic-ai\1d6c8d6d-fece-4855-be96-8b6833d2ef11\scratchpad\fig_utp\agent_flow.png">    </p:cNvPr>
          <p:cNvPicPr>
            <a:picLocks noChangeAspect="1"/>
          </p:cNvPicPr>
          <p:nvPr/>
        </p:nvPicPr>
        <p:blipFill>
          <a:blip r:embed="rId2"/>
          <a:stretch>
            <a:fillRect/>
          </a:stretch>
        </p:blipFill>
        <p:spPr>
          <a:xfrm>
            <a:off x="502920" y="1463040"/>
            <a:ext cx="4471814" cy="5120640"/>
          </a:xfrm>
          <a:prstGeom prst="rect">
            <a:avLst/>
          </a:prstGeom>
        </p:spPr>
      </p:pic>
      <p:sp>
        <p:nvSpPr>
          <p:cNvPr id="12" name="Shape 8"/>
          <p:cNvSpPr/>
          <p:nvPr/>
        </p:nvSpPr>
        <p:spPr>
          <a:xfrm>
            <a:off x="5386214" y="1554480"/>
            <a:ext cx="438912" cy="438912"/>
          </a:xfrm>
          <a:prstGeom prst="ellipse">
            <a:avLst/>
          </a:prstGeom>
          <a:solidFill>
            <a:srgbClr val="07517A"/>
          </a:solidFill>
          <a:ln w="12700">
            <a:solidFill>
              <a:srgbClr val="07517A"/>
            </a:solidFill>
            <a:prstDash val="solid"/>
          </a:ln>
        </p:spPr>
      </p:sp>
      <p:sp>
        <p:nvSpPr>
          <p:cNvPr id="13" name="Text 9"/>
          <p:cNvSpPr/>
          <p:nvPr/>
        </p:nvSpPr>
        <p:spPr>
          <a:xfrm>
            <a:off x="5386214" y="155448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Text 10"/>
          <p:cNvSpPr/>
          <p:nvPr/>
        </p:nvSpPr>
        <p:spPr>
          <a:xfrm>
            <a:off x="5980574" y="1463040"/>
            <a:ext cx="5708202" cy="640080"/>
          </a:xfrm>
          <a:prstGeom prst="rect">
            <a:avLst/>
          </a:prstGeom>
          <a:noFill/>
          <a:ln/>
        </p:spPr>
        <p:txBody>
          <a:bodyPr wrap="square" lIns="0" tIns="0" rIns="0" bIns="0" rtlCol="0" anchor="ctr"/>
          <a:lstStyle/>
          <a:p>
            <a:pPr indent="0" marL="0">
              <a:buNone/>
            </a:pPr>
            <a:r>
              <a:rPr lang="en-US" sz="1400" b="1" dirty="0">
                <a:solidFill>
                  <a:srgbClr val="07517A"/>
                </a:solidFill>
                <a:latin typeface="Arial" pitchFamily="34" charset="0"/>
                <a:ea typeface="Arial" pitchFamily="34" charset="-122"/>
                <a:cs typeface="Arial" pitchFamily="34" charset="-120"/>
              </a:rPr>
              <a:t>Assessor: </a:t>
            </a:r>
            <a:pPr indent="0" marL="0">
              <a:buNone/>
            </a:pPr>
            <a:r>
              <a:rPr lang="en-US" sz="1400" dirty="0">
                <a:solidFill>
                  <a:srgbClr val="111827"/>
                </a:solidFill>
                <a:latin typeface="Arial" pitchFamily="34" charset="0"/>
                <a:ea typeface="Arial" pitchFamily="34" charset="-122"/>
                <a:cs typeface="Arial" pitchFamily="34" charset="-120"/>
              </a:rPr>
              <a:t>marks each answer, 9 standards as 1 or 0, with an evidence quote</a:t>
            </a:r>
            <a:endParaRPr lang="en-US" sz="1400" dirty="0"/>
          </a:p>
        </p:txBody>
      </p:sp>
      <p:sp>
        <p:nvSpPr>
          <p:cNvPr id="15" name="Shape 11"/>
          <p:cNvSpPr/>
          <p:nvPr/>
        </p:nvSpPr>
        <p:spPr>
          <a:xfrm>
            <a:off x="5386214" y="2286000"/>
            <a:ext cx="438912" cy="438912"/>
          </a:xfrm>
          <a:prstGeom prst="ellipse">
            <a:avLst/>
          </a:prstGeom>
          <a:solidFill>
            <a:srgbClr val="07517A"/>
          </a:solidFill>
          <a:ln w="12700">
            <a:solidFill>
              <a:srgbClr val="07517A"/>
            </a:solidFill>
            <a:prstDash val="solid"/>
          </a:ln>
        </p:spPr>
      </p:sp>
      <p:sp>
        <p:nvSpPr>
          <p:cNvPr id="16" name="Text 12"/>
          <p:cNvSpPr/>
          <p:nvPr/>
        </p:nvSpPr>
        <p:spPr>
          <a:xfrm>
            <a:off x="5386214" y="22860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3"/>
          <p:cNvSpPr/>
          <p:nvPr/>
        </p:nvSpPr>
        <p:spPr>
          <a:xfrm>
            <a:off x="5980574" y="2194560"/>
            <a:ext cx="5708202" cy="640080"/>
          </a:xfrm>
          <a:prstGeom prst="rect">
            <a:avLst/>
          </a:prstGeom>
          <a:noFill/>
          <a:ln/>
        </p:spPr>
        <p:txBody>
          <a:bodyPr wrap="square" lIns="0" tIns="0" rIns="0" bIns="0" rtlCol="0" anchor="ctr"/>
          <a:lstStyle/>
          <a:p>
            <a:pPr indent="0" marL="0">
              <a:buNone/>
            </a:pPr>
            <a:r>
              <a:rPr lang="en-US" sz="1400" b="1" dirty="0">
                <a:solidFill>
                  <a:srgbClr val="07517A"/>
                </a:solidFill>
                <a:latin typeface="Arial" pitchFamily="34" charset="0"/>
                <a:ea typeface="Arial" pitchFamily="34" charset="-122"/>
                <a:cs typeface="Arial" pitchFamily="34" charset="-120"/>
              </a:rPr>
              <a:t>Planner: </a:t>
            </a:r>
            <a:pPr indent="0" marL="0">
              <a:buNone/>
            </a:pPr>
            <a:r>
              <a:rPr lang="en-US" sz="1400" dirty="0">
                <a:solidFill>
                  <a:srgbClr val="111827"/>
                </a:solidFill>
                <a:latin typeface="Arial" pitchFamily="34" charset="0"/>
                <a:ea typeface="Arial" pitchFamily="34" charset="-122"/>
                <a:cs typeface="Arial" pitchFamily="34" charset="-120"/>
              </a:rPr>
              <a:t>proposes the next level, question format, hint and simulation</a:t>
            </a:r>
            <a:endParaRPr lang="en-US" sz="1400" dirty="0"/>
          </a:p>
        </p:txBody>
      </p:sp>
      <p:sp>
        <p:nvSpPr>
          <p:cNvPr id="18" name="Shape 14"/>
          <p:cNvSpPr/>
          <p:nvPr/>
        </p:nvSpPr>
        <p:spPr>
          <a:xfrm>
            <a:off x="5386214" y="3017520"/>
            <a:ext cx="438912" cy="438912"/>
          </a:xfrm>
          <a:prstGeom prst="ellipse">
            <a:avLst/>
          </a:prstGeom>
          <a:solidFill>
            <a:srgbClr val="7A6E3C"/>
          </a:solidFill>
          <a:ln w="12700">
            <a:solidFill>
              <a:srgbClr val="7A6E3C"/>
            </a:solidFill>
            <a:prstDash val="solid"/>
          </a:ln>
        </p:spPr>
      </p:sp>
      <p:sp>
        <p:nvSpPr>
          <p:cNvPr id="19" name="Text 15"/>
          <p:cNvSpPr/>
          <p:nvPr/>
        </p:nvSpPr>
        <p:spPr>
          <a:xfrm>
            <a:off x="5386214" y="301752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6"/>
          <p:cNvSpPr/>
          <p:nvPr/>
        </p:nvSpPr>
        <p:spPr>
          <a:xfrm>
            <a:off x="5980574" y="2926080"/>
            <a:ext cx="5708202" cy="640080"/>
          </a:xfrm>
          <a:prstGeom prst="rect">
            <a:avLst/>
          </a:prstGeom>
          <a:noFill/>
          <a:ln/>
        </p:spPr>
        <p:txBody>
          <a:bodyPr wrap="square" lIns="0" tIns="0" rIns="0" bIns="0" rtlCol="0" anchor="ctr"/>
          <a:lstStyle/>
          <a:p>
            <a:pPr indent="0" marL="0">
              <a:buNone/>
            </a:pPr>
            <a:r>
              <a:rPr lang="en-US" sz="1400" b="1" dirty="0">
                <a:solidFill>
                  <a:srgbClr val="07517A"/>
                </a:solidFill>
                <a:latin typeface="Arial" pitchFamily="34" charset="0"/>
                <a:ea typeface="Arial" pitchFamily="34" charset="-122"/>
                <a:cs typeface="Arial" pitchFamily="34" charset="-120"/>
              </a:rPr>
              <a:t>Rules (code): </a:t>
            </a:r>
            <a:pPr indent="0" marL="0">
              <a:buNone/>
            </a:pPr>
            <a:r>
              <a:rPr lang="en-US" sz="1400" dirty="0">
                <a:solidFill>
                  <a:srgbClr val="111827"/>
                </a:solidFill>
                <a:latin typeface="Arial" pitchFamily="34" charset="0"/>
                <a:ea typeface="Arial" pitchFamily="34" charset="-122"/>
                <a:cs typeface="Arial" pitchFamily="34" charset="-120"/>
              </a:rPr>
              <a:t>a frustrated learner always gets an easy A or B question; no level up after a weak answer</a:t>
            </a:r>
            <a:endParaRPr lang="en-US" sz="1400" dirty="0"/>
          </a:p>
        </p:txBody>
      </p:sp>
      <p:sp>
        <p:nvSpPr>
          <p:cNvPr id="21" name="Shape 17"/>
          <p:cNvSpPr/>
          <p:nvPr/>
        </p:nvSpPr>
        <p:spPr>
          <a:xfrm>
            <a:off x="5386214" y="3749040"/>
            <a:ext cx="438912" cy="438912"/>
          </a:xfrm>
          <a:prstGeom prst="ellipse">
            <a:avLst/>
          </a:prstGeom>
          <a:solidFill>
            <a:srgbClr val="07517A"/>
          </a:solidFill>
          <a:ln w="12700">
            <a:solidFill>
              <a:srgbClr val="07517A"/>
            </a:solidFill>
            <a:prstDash val="solid"/>
          </a:ln>
        </p:spPr>
      </p:sp>
      <p:sp>
        <p:nvSpPr>
          <p:cNvPr id="22" name="Text 18"/>
          <p:cNvSpPr/>
          <p:nvPr/>
        </p:nvSpPr>
        <p:spPr>
          <a:xfrm>
            <a:off x="5386214" y="374904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19"/>
          <p:cNvSpPr/>
          <p:nvPr/>
        </p:nvSpPr>
        <p:spPr>
          <a:xfrm>
            <a:off x="5980574" y="3657600"/>
            <a:ext cx="5708202" cy="640080"/>
          </a:xfrm>
          <a:prstGeom prst="rect">
            <a:avLst/>
          </a:prstGeom>
          <a:noFill/>
          <a:ln/>
        </p:spPr>
        <p:txBody>
          <a:bodyPr wrap="square" lIns="0" tIns="0" rIns="0" bIns="0" rtlCol="0" anchor="ctr"/>
          <a:lstStyle/>
          <a:p>
            <a:pPr indent="0" marL="0">
              <a:buNone/>
            </a:pPr>
            <a:r>
              <a:rPr lang="en-US" sz="1400" b="1" dirty="0">
                <a:solidFill>
                  <a:srgbClr val="07517A"/>
                </a:solidFill>
                <a:latin typeface="Arial" pitchFamily="34" charset="0"/>
                <a:ea typeface="Arial" pitchFamily="34" charset="-122"/>
                <a:cs typeface="Arial" pitchFamily="34" charset="-120"/>
              </a:rPr>
              <a:t>Tutor: </a:t>
            </a:r>
            <a:pPr indent="0" marL="0">
              <a:buNone/>
            </a:pPr>
            <a:r>
              <a:rPr lang="en-US" sz="1400" dirty="0">
                <a:solidFill>
                  <a:srgbClr val="111827"/>
                </a:solidFill>
                <a:latin typeface="Arial" pitchFamily="34" charset="0"/>
                <a:ea typeface="Arial" pitchFamily="34" charset="-122"/>
                <a:cs typeface="Arial" pitchFamily="34" charset="-120"/>
              </a:rPr>
              <a:t>short feedback, a hidden hint, one question; may run a quant simulation</a:t>
            </a:r>
            <a:endParaRPr lang="en-US" sz="1400" dirty="0"/>
          </a:p>
        </p:txBody>
      </p:sp>
      <p:sp>
        <p:nvSpPr>
          <p:cNvPr id="24" name="Shape 20"/>
          <p:cNvSpPr/>
          <p:nvPr/>
        </p:nvSpPr>
        <p:spPr>
          <a:xfrm>
            <a:off x="5386214" y="4480560"/>
            <a:ext cx="438912" cy="438912"/>
          </a:xfrm>
          <a:prstGeom prst="ellipse">
            <a:avLst/>
          </a:prstGeom>
          <a:solidFill>
            <a:srgbClr val="07517A"/>
          </a:solidFill>
          <a:ln w="12700">
            <a:solidFill>
              <a:srgbClr val="07517A"/>
            </a:solidFill>
            <a:prstDash val="solid"/>
          </a:ln>
        </p:spPr>
      </p:sp>
      <p:sp>
        <p:nvSpPr>
          <p:cNvPr id="25" name="Text 21"/>
          <p:cNvSpPr/>
          <p:nvPr/>
        </p:nvSpPr>
        <p:spPr>
          <a:xfrm>
            <a:off x="5386214" y="448056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6" name="Text 22"/>
          <p:cNvSpPr/>
          <p:nvPr/>
        </p:nvSpPr>
        <p:spPr>
          <a:xfrm>
            <a:off x="5980574" y="4389120"/>
            <a:ext cx="5708202" cy="640080"/>
          </a:xfrm>
          <a:prstGeom prst="rect">
            <a:avLst/>
          </a:prstGeom>
          <a:noFill/>
          <a:ln/>
        </p:spPr>
        <p:txBody>
          <a:bodyPr wrap="square" lIns="0" tIns="0" rIns="0" bIns="0" rtlCol="0" anchor="ctr"/>
          <a:lstStyle/>
          <a:p>
            <a:pPr indent="0" marL="0">
              <a:buNone/>
            </a:pPr>
            <a:r>
              <a:rPr lang="en-US" sz="1400" b="1" dirty="0">
                <a:solidFill>
                  <a:srgbClr val="07517A"/>
                </a:solidFill>
                <a:latin typeface="Arial" pitchFamily="34" charset="0"/>
                <a:ea typeface="Arial" pitchFamily="34" charset="-122"/>
                <a:cs typeface="Arial" pitchFamily="34" charset="-120"/>
              </a:rPr>
              <a:t>Checker: </a:t>
            </a:r>
            <a:pPr indent="0" marL="0">
              <a:buNone/>
            </a:pPr>
            <a:r>
              <a:rPr lang="en-US" sz="1400" dirty="0">
                <a:solidFill>
                  <a:srgbClr val="111827"/>
                </a:solidFill>
                <a:latin typeface="Arial" pitchFamily="34" charset="0"/>
                <a:ea typeface="Arial" pitchFamily="34" charset="-122"/>
                <a:cs typeface="Arial" pitchFamily="34" charset="-120"/>
              </a:rPr>
              <a:t>stops replies that give away the answer or repeat a question</a:t>
            </a:r>
            <a:endParaRPr lang="en-US" sz="1400" dirty="0"/>
          </a:p>
        </p:txBody>
      </p:sp>
      <p:sp>
        <p:nvSpPr>
          <p:cNvPr id="27" name="Shape 23"/>
          <p:cNvSpPr/>
          <p:nvPr/>
        </p:nvSpPr>
        <p:spPr>
          <a:xfrm>
            <a:off x="5386214" y="5212080"/>
            <a:ext cx="438912" cy="438912"/>
          </a:xfrm>
          <a:prstGeom prst="ellipse">
            <a:avLst/>
          </a:prstGeom>
          <a:solidFill>
            <a:srgbClr val="07517A"/>
          </a:solidFill>
          <a:ln w="12700">
            <a:solidFill>
              <a:srgbClr val="07517A"/>
            </a:solidFill>
            <a:prstDash val="solid"/>
          </a:ln>
        </p:spPr>
      </p:sp>
      <p:sp>
        <p:nvSpPr>
          <p:cNvPr id="28" name="Text 24"/>
          <p:cNvSpPr/>
          <p:nvPr/>
        </p:nvSpPr>
        <p:spPr>
          <a:xfrm>
            <a:off x="5386214" y="521208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9" name="Text 25"/>
          <p:cNvSpPr/>
          <p:nvPr/>
        </p:nvSpPr>
        <p:spPr>
          <a:xfrm>
            <a:off x="5980574" y="5120640"/>
            <a:ext cx="5708202" cy="640080"/>
          </a:xfrm>
          <a:prstGeom prst="rect">
            <a:avLst/>
          </a:prstGeom>
          <a:noFill/>
          <a:ln/>
        </p:spPr>
        <p:txBody>
          <a:bodyPr wrap="square" lIns="0" tIns="0" rIns="0" bIns="0" rtlCol="0" anchor="ctr"/>
          <a:lstStyle/>
          <a:p>
            <a:pPr indent="0" marL="0">
              <a:buNone/>
            </a:pPr>
            <a:r>
              <a:rPr lang="en-US" sz="1400" b="1" dirty="0">
                <a:solidFill>
                  <a:srgbClr val="07517A"/>
                </a:solidFill>
                <a:latin typeface="Arial" pitchFamily="34" charset="0"/>
                <a:ea typeface="Arial" pitchFamily="34" charset="-122"/>
                <a:cs typeface="Arial" pitchFamily="34" charset="-120"/>
              </a:rPr>
              <a:t>Coach: </a:t>
            </a:r>
            <a:pPr indent="0" marL="0">
              <a:buNone/>
            </a:pPr>
            <a:r>
              <a:rPr lang="en-US" sz="1400" dirty="0">
                <a:solidFill>
                  <a:srgbClr val="111827"/>
                </a:solidFill>
                <a:latin typeface="Arial" pitchFamily="34" charset="0"/>
                <a:ea typeface="Arial" pitchFamily="34" charset="-122"/>
                <a:cs typeface="Arial" pitchFamily="34" charset="-120"/>
              </a:rPr>
              <a:t>one comment at the end on how the learner answered</a:t>
            </a:r>
            <a:endParaRPr lang="en-US" sz="1400" dirty="0"/>
          </a:p>
        </p:txBody>
      </p:sp>
      <p:sp>
        <p:nvSpPr>
          <p:cNvPr id="30" name="Text 26"/>
          <p:cNvSpPr/>
          <p:nvPr/>
        </p:nvSpPr>
        <p:spPr>
          <a:xfrm>
            <a:off x="5386214" y="5943600"/>
            <a:ext cx="6302562" cy="457200"/>
          </a:xfrm>
          <a:prstGeom prst="rect">
            <a:avLst/>
          </a:prstGeom>
          <a:noFill/>
          <a:ln/>
        </p:spPr>
        <p:txBody>
          <a:bodyPr wrap="square" lIns="0" tIns="0" rIns="0" bIns="0" rtlCol="0" anchor="ctr"/>
          <a:lstStyle/>
          <a:p>
            <a:pPr indent="0" marL="0">
              <a:buNone/>
            </a:pPr>
            <a:r>
              <a:rPr lang="en-US" sz="1200" i="1" dirty="0">
                <a:solidFill>
                  <a:srgbClr val="4B5563"/>
                </a:solidFill>
                <a:latin typeface="Arial" pitchFamily="34" charset="0"/>
                <a:ea typeface="Arial" pitchFamily="34" charset="-122"/>
                <a:cs typeface="Arial" pitchFamily="34" charset="-120"/>
              </a:rPr>
              <a:t>Each agent gets a small JSON payload built by code and must reply in a fixed JSON shape. About 25 AI calls per 6-round session.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13</a:t>
            </a:r>
            <a:endParaRPr lang="en-US" sz="1000" dirty="0"/>
          </a:p>
        </p:txBody>
      </p:sp>
      <p:sp>
        <p:nvSpPr>
          <p:cNvPr id="9" name="Shape 6"/>
          <p:cNvSpPr/>
          <p:nvPr/>
        </p:nvSpPr>
        <p:spPr>
          <a:xfrm>
            <a:off x="502920" y="960120"/>
            <a:ext cx="32918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32918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Session Design (R1 to R9)</a:t>
            </a:r>
            <a:endParaRPr lang="en-US" sz="1400" dirty="0"/>
          </a:p>
        </p:txBody>
      </p:sp>
      <p:sp>
        <p:nvSpPr>
          <p:cNvPr id="11" name="Shape 8"/>
          <p:cNvSpPr/>
          <p:nvPr/>
        </p:nvSpPr>
        <p:spPr>
          <a:xfrm>
            <a:off x="475488" y="1481328"/>
            <a:ext cx="5541264" cy="3331464"/>
          </a:xfrm>
          <a:prstGeom prst="rect">
            <a:avLst/>
          </a:prstGeom>
          <a:solidFill>
            <a:srgbClr val="CBD5E1"/>
          </a:solidFill>
          <a:ln w="12700">
            <a:solidFill>
              <a:srgbClr val="CBD5E1"/>
            </a:solidFill>
            <a:prstDash val="solid"/>
          </a:ln>
        </p:spPr>
      </p:sp>
      <p:pic>
        <p:nvPicPr>
          <p:cNvPr id="12" name="Image 1" descr="C:\Users\eizma\AppData\Local\Temp\claude\c--Users-eizma-Desktop-socratic-ai\1d6c8d6d-fece-4855-be96-8b6833d2ef11\scratchpad\shots\02_reading.png">    </p:cNvPr>
          <p:cNvPicPr>
            <a:picLocks noChangeAspect="1"/>
          </p:cNvPicPr>
          <p:nvPr/>
        </p:nvPicPr>
        <p:blipFill>
          <a:blip r:embed="rId2"/>
          <a:stretch>
            <a:fillRect/>
          </a:stretch>
        </p:blipFill>
        <p:spPr>
          <a:xfrm>
            <a:off x="502920" y="1508760"/>
            <a:ext cx="5486400" cy="3276600"/>
          </a:xfrm>
          <a:prstGeom prst="rect">
            <a:avLst/>
          </a:prstGeom>
        </p:spPr>
      </p:pic>
      <p:sp>
        <p:nvSpPr>
          <p:cNvPr id="13" name="Shape 9"/>
          <p:cNvSpPr/>
          <p:nvPr/>
        </p:nvSpPr>
        <p:spPr>
          <a:xfrm>
            <a:off x="6190488" y="1481328"/>
            <a:ext cx="5541264" cy="3331464"/>
          </a:xfrm>
          <a:prstGeom prst="rect">
            <a:avLst/>
          </a:prstGeom>
          <a:solidFill>
            <a:srgbClr val="CBD5E1"/>
          </a:solidFill>
          <a:ln w="12700">
            <a:solidFill>
              <a:srgbClr val="CBD5E1"/>
            </a:solidFill>
            <a:prstDash val="solid"/>
          </a:ln>
        </p:spPr>
      </p:sp>
      <p:pic>
        <p:nvPicPr>
          <p:cNvPr id="14" name="Image 2" descr="C:\Users\eizma\AppData\Local\Temp\claude\c--Users-eizma-Desktop-socratic-ai\1d6c8d6d-fece-4855-be96-8b6833d2ef11\scratchpad\shots\04_chat.png">    </p:cNvPr>
          <p:cNvPicPr>
            <a:picLocks noChangeAspect="1"/>
          </p:cNvPicPr>
          <p:nvPr/>
        </p:nvPicPr>
        <p:blipFill>
          <a:blip r:embed="rId3"/>
          <a:stretch>
            <a:fillRect/>
          </a:stretch>
        </p:blipFill>
        <p:spPr>
          <a:xfrm>
            <a:off x="6217920" y="1508760"/>
            <a:ext cx="5486400" cy="3276600"/>
          </a:xfrm>
          <a:prstGeom prst="rect">
            <a:avLst/>
          </a:prstGeom>
        </p:spPr>
      </p:pic>
      <p:sp>
        <p:nvSpPr>
          <p:cNvPr id="15" name="Text 10"/>
          <p:cNvSpPr/>
          <p:nvPr/>
        </p:nvSpPr>
        <p:spPr>
          <a:xfrm>
            <a:off x="502920" y="4831080"/>
            <a:ext cx="5486400" cy="320040"/>
          </a:xfrm>
          <a:prstGeom prst="rect">
            <a:avLst/>
          </a:prstGeom>
          <a:noFill/>
          <a:ln/>
        </p:spPr>
        <p:txBody>
          <a:bodyPr wrap="square" lIns="0" tIns="0" rIns="0" bIns="0" rtlCol="0" anchor="ctr"/>
          <a:lstStyle/>
          <a:p>
            <a:pPr indent="0" marL="0">
              <a:buNone/>
            </a:pPr>
            <a:r>
              <a:rPr lang="en-US" sz="1200" i="1" dirty="0">
                <a:solidFill>
                  <a:srgbClr val="4B5563"/>
                </a:solidFill>
                <a:latin typeface="Arial" pitchFamily="34" charset="0"/>
                <a:ea typeface="Arial" pitchFamily="34" charset="-122"/>
                <a:cs typeface="Arial" pitchFamily="34" charset="-120"/>
              </a:rPr>
              <a:t>1. A short reading and a mission before each case</a:t>
            </a:r>
            <a:endParaRPr lang="en-US" sz="1200" dirty="0"/>
          </a:p>
        </p:txBody>
      </p:sp>
      <p:sp>
        <p:nvSpPr>
          <p:cNvPr id="16" name="Text 11"/>
          <p:cNvSpPr/>
          <p:nvPr/>
        </p:nvSpPr>
        <p:spPr>
          <a:xfrm>
            <a:off x="6217920" y="4831080"/>
            <a:ext cx="5486400" cy="320040"/>
          </a:xfrm>
          <a:prstGeom prst="rect">
            <a:avLst/>
          </a:prstGeom>
          <a:noFill/>
          <a:ln/>
        </p:spPr>
        <p:txBody>
          <a:bodyPr wrap="square" lIns="0" tIns="0" rIns="0" bIns="0" rtlCol="0" anchor="ctr"/>
          <a:lstStyle/>
          <a:p>
            <a:pPr indent="0" marL="0">
              <a:buNone/>
            </a:pPr>
            <a:r>
              <a:rPr lang="en-US" sz="1200" i="1" dirty="0">
                <a:solidFill>
                  <a:srgbClr val="4B5563"/>
                </a:solidFill>
                <a:latin typeface="Arial" pitchFamily="34" charset="0"/>
                <a:ea typeface="Arial" pitchFamily="34" charset="-122"/>
                <a:cs typeface="Arial" pitchFamily="34" charset="-120"/>
              </a:rPr>
              <a:t>2. Feedback, one question, a hidden hint, and a simulation result</a:t>
            </a:r>
            <a:endParaRPr lang="en-US" sz="1200" dirty="0"/>
          </a:p>
        </p:txBody>
      </p:sp>
      <p:sp>
        <p:nvSpPr>
          <p:cNvPr id="17" name="Shape 12"/>
          <p:cNvSpPr/>
          <p:nvPr/>
        </p:nvSpPr>
        <p:spPr>
          <a:xfrm>
            <a:off x="502920" y="5806440"/>
            <a:ext cx="1783080" cy="384048"/>
          </a:xfrm>
          <a:prstGeom prst="roundRect">
            <a:avLst>
              <a:gd name="adj" fmla="val 47619"/>
            </a:avLst>
          </a:prstGeom>
          <a:solidFill>
            <a:srgbClr val="DCEAF2"/>
          </a:solidFill>
          <a:ln w="12700">
            <a:solidFill>
              <a:srgbClr val="DCEAF2"/>
            </a:solidFill>
            <a:prstDash val="solid"/>
          </a:ln>
        </p:spPr>
      </p:sp>
      <p:sp>
        <p:nvSpPr>
          <p:cNvPr id="18" name="Text 13"/>
          <p:cNvSpPr/>
          <p:nvPr/>
        </p:nvSpPr>
        <p:spPr>
          <a:xfrm>
            <a:off x="502920" y="5806440"/>
            <a:ext cx="1783080" cy="384048"/>
          </a:xfrm>
          <a:prstGeom prst="rect">
            <a:avLst/>
          </a:prstGeom>
          <a:noFill/>
          <a:ln/>
        </p:spPr>
        <p:txBody>
          <a:bodyPr wrap="square" lIns="0" tIns="0" rIns="0" bIns="0" rtlCol="0" anchor="ctr"/>
          <a:lstStyle/>
          <a:p>
            <a:pPr algn="ctr" indent="0" marL="0">
              <a:buNone/>
            </a:pPr>
            <a:r>
              <a:rPr lang="en-US" sz="1100" b="1" dirty="0">
                <a:solidFill>
                  <a:srgbClr val="07517A"/>
                </a:solidFill>
                <a:latin typeface="Arial" pitchFamily="34" charset="0"/>
                <a:ea typeface="Arial" pitchFamily="34" charset="-122"/>
                <a:cs typeface="Arial" pitchFamily="34" charset="-120"/>
              </a:rPr>
              <a:t>3, 6 or no-limit rounds</a:t>
            </a:r>
            <a:endParaRPr lang="en-US" sz="1100" dirty="0"/>
          </a:p>
        </p:txBody>
      </p:sp>
      <p:sp>
        <p:nvSpPr>
          <p:cNvPr id="19" name="Shape 14"/>
          <p:cNvSpPr/>
          <p:nvPr/>
        </p:nvSpPr>
        <p:spPr>
          <a:xfrm>
            <a:off x="2386584" y="5806440"/>
            <a:ext cx="1783080" cy="384048"/>
          </a:xfrm>
          <a:prstGeom prst="roundRect">
            <a:avLst>
              <a:gd name="adj" fmla="val 47619"/>
            </a:avLst>
          </a:prstGeom>
          <a:solidFill>
            <a:srgbClr val="DCEAF2"/>
          </a:solidFill>
          <a:ln w="12700">
            <a:solidFill>
              <a:srgbClr val="DCEAF2"/>
            </a:solidFill>
            <a:prstDash val="solid"/>
          </a:ln>
        </p:spPr>
      </p:sp>
      <p:sp>
        <p:nvSpPr>
          <p:cNvPr id="20" name="Text 15"/>
          <p:cNvSpPr/>
          <p:nvPr/>
        </p:nvSpPr>
        <p:spPr>
          <a:xfrm>
            <a:off x="2386584" y="5806440"/>
            <a:ext cx="1783080" cy="384048"/>
          </a:xfrm>
          <a:prstGeom prst="rect">
            <a:avLst/>
          </a:prstGeom>
          <a:noFill/>
          <a:ln/>
        </p:spPr>
        <p:txBody>
          <a:bodyPr wrap="square" lIns="0" tIns="0" rIns="0" bIns="0" rtlCol="0" anchor="ctr"/>
          <a:lstStyle/>
          <a:p>
            <a:pPr algn="ctr" indent="0" marL="0">
              <a:buNone/>
            </a:pPr>
            <a:r>
              <a:rPr lang="en-US" sz="1100" b="1" dirty="0">
                <a:solidFill>
                  <a:srgbClr val="07517A"/>
                </a:solidFill>
                <a:latin typeface="Arial" pitchFamily="34" charset="0"/>
                <a:ea typeface="Arial" pitchFamily="34" charset="-122"/>
                <a:cs typeface="Arial" pitchFamily="34" charset="-120"/>
              </a:rPr>
              <a:t>Round and level shown</a:t>
            </a:r>
            <a:endParaRPr lang="en-US" sz="1100" dirty="0"/>
          </a:p>
        </p:txBody>
      </p:sp>
      <p:sp>
        <p:nvSpPr>
          <p:cNvPr id="21" name="Shape 16"/>
          <p:cNvSpPr/>
          <p:nvPr/>
        </p:nvSpPr>
        <p:spPr>
          <a:xfrm>
            <a:off x="4270248" y="5806440"/>
            <a:ext cx="1783080" cy="384048"/>
          </a:xfrm>
          <a:prstGeom prst="roundRect">
            <a:avLst>
              <a:gd name="adj" fmla="val 47619"/>
            </a:avLst>
          </a:prstGeom>
          <a:solidFill>
            <a:srgbClr val="DCEAF2"/>
          </a:solidFill>
          <a:ln w="12700">
            <a:solidFill>
              <a:srgbClr val="DCEAF2"/>
            </a:solidFill>
            <a:prstDash val="solid"/>
          </a:ln>
        </p:spPr>
      </p:sp>
      <p:sp>
        <p:nvSpPr>
          <p:cNvPr id="22" name="Text 17"/>
          <p:cNvSpPr/>
          <p:nvPr/>
        </p:nvSpPr>
        <p:spPr>
          <a:xfrm>
            <a:off x="4270248" y="5806440"/>
            <a:ext cx="1783080" cy="384048"/>
          </a:xfrm>
          <a:prstGeom prst="rect">
            <a:avLst/>
          </a:prstGeom>
          <a:noFill/>
          <a:ln/>
        </p:spPr>
        <p:txBody>
          <a:bodyPr wrap="square" lIns="0" tIns="0" rIns="0" bIns="0" rtlCol="0" anchor="ctr"/>
          <a:lstStyle/>
          <a:p>
            <a:pPr algn="ctr" indent="0" marL="0">
              <a:buNone/>
            </a:pPr>
            <a:r>
              <a:rPr lang="en-US" sz="1100" b="1" dirty="0">
                <a:solidFill>
                  <a:srgbClr val="07517A"/>
                </a:solidFill>
                <a:latin typeface="Arial" pitchFamily="34" charset="0"/>
                <a:ea typeface="Arial" pitchFamily="34" charset="-122"/>
                <a:cs typeface="Arial" pitchFamily="34" charset="-120"/>
              </a:rPr>
              <a:t>4 question formats</a:t>
            </a:r>
            <a:endParaRPr lang="en-US" sz="1100" dirty="0"/>
          </a:p>
        </p:txBody>
      </p:sp>
      <p:sp>
        <p:nvSpPr>
          <p:cNvPr id="23" name="Shape 18"/>
          <p:cNvSpPr/>
          <p:nvPr/>
        </p:nvSpPr>
        <p:spPr>
          <a:xfrm>
            <a:off x="6153912" y="5806440"/>
            <a:ext cx="1783080" cy="384048"/>
          </a:xfrm>
          <a:prstGeom prst="roundRect">
            <a:avLst>
              <a:gd name="adj" fmla="val 47619"/>
            </a:avLst>
          </a:prstGeom>
          <a:solidFill>
            <a:srgbClr val="DCEAF2"/>
          </a:solidFill>
          <a:ln w="12700">
            <a:solidFill>
              <a:srgbClr val="DCEAF2"/>
            </a:solidFill>
            <a:prstDash val="solid"/>
          </a:ln>
        </p:spPr>
      </p:sp>
      <p:sp>
        <p:nvSpPr>
          <p:cNvPr id="24" name="Text 19"/>
          <p:cNvSpPr/>
          <p:nvPr/>
        </p:nvSpPr>
        <p:spPr>
          <a:xfrm>
            <a:off x="6153912" y="5806440"/>
            <a:ext cx="1783080" cy="384048"/>
          </a:xfrm>
          <a:prstGeom prst="rect">
            <a:avLst/>
          </a:prstGeom>
          <a:noFill/>
          <a:ln/>
        </p:spPr>
        <p:txBody>
          <a:bodyPr wrap="square" lIns="0" tIns="0" rIns="0" bIns="0" rtlCol="0" anchor="ctr"/>
          <a:lstStyle/>
          <a:p>
            <a:pPr algn="ctr" indent="0" marL="0">
              <a:buNone/>
            </a:pPr>
            <a:r>
              <a:rPr lang="en-US" sz="1100" b="1" dirty="0">
                <a:solidFill>
                  <a:srgbClr val="07517A"/>
                </a:solidFill>
                <a:latin typeface="Arial" pitchFamily="34" charset="0"/>
                <a:ea typeface="Arial" pitchFamily="34" charset="-122"/>
                <a:cs typeface="Arial" pitchFamily="34" charset="-120"/>
              </a:rPr>
              <a:t>"I'm not sure" button</a:t>
            </a:r>
            <a:endParaRPr lang="en-US" sz="1100" dirty="0"/>
          </a:p>
        </p:txBody>
      </p:sp>
      <p:sp>
        <p:nvSpPr>
          <p:cNvPr id="25" name="Shape 20"/>
          <p:cNvSpPr/>
          <p:nvPr/>
        </p:nvSpPr>
        <p:spPr>
          <a:xfrm>
            <a:off x="8037576" y="5806440"/>
            <a:ext cx="1783080" cy="384048"/>
          </a:xfrm>
          <a:prstGeom prst="roundRect">
            <a:avLst>
              <a:gd name="adj" fmla="val 47619"/>
            </a:avLst>
          </a:prstGeom>
          <a:solidFill>
            <a:srgbClr val="DCEAF2"/>
          </a:solidFill>
          <a:ln w="12700">
            <a:solidFill>
              <a:srgbClr val="DCEAF2"/>
            </a:solidFill>
            <a:prstDash val="solid"/>
          </a:ln>
        </p:spPr>
      </p:sp>
      <p:sp>
        <p:nvSpPr>
          <p:cNvPr id="26" name="Text 21"/>
          <p:cNvSpPr/>
          <p:nvPr/>
        </p:nvSpPr>
        <p:spPr>
          <a:xfrm>
            <a:off x="8037576" y="5806440"/>
            <a:ext cx="1783080" cy="384048"/>
          </a:xfrm>
          <a:prstGeom prst="rect">
            <a:avLst/>
          </a:prstGeom>
          <a:noFill/>
          <a:ln/>
        </p:spPr>
        <p:txBody>
          <a:bodyPr wrap="square" lIns="0" tIns="0" rIns="0" bIns="0" rtlCol="0" anchor="ctr"/>
          <a:lstStyle/>
          <a:p>
            <a:pPr algn="ctr" indent="0" marL="0">
              <a:buNone/>
            </a:pPr>
            <a:r>
              <a:rPr lang="en-US" sz="1100" b="1" dirty="0">
                <a:solidFill>
                  <a:srgbClr val="07517A"/>
                </a:solidFill>
                <a:latin typeface="Arial" pitchFamily="34" charset="0"/>
                <a:ea typeface="Arial" pitchFamily="34" charset="-122"/>
                <a:cs typeface="Arial" pitchFamily="34" charset="-120"/>
              </a:rPr>
              <a:t>Status panel</a:t>
            </a:r>
            <a:endParaRPr lang="en-US" sz="1100" dirty="0"/>
          </a:p>
        </p:txBody>
      </p:sp>
      <p:sp>
        <p:nvSpPr>
          <p:cNvPr id="27" name="Shape 22"/>
          <p:cNvSpPr/>
          <p:nvPr/>
        </p:nvSpPr>
        <p:spPr>
          <a:xfrm>
            <a:off x="9921240" y="5806440"/>
            <a:ext cx="1783080" cy="384048"/>
          </a:xfrm>
          <a:prstGeom prst="roundRect">
            <a:avLst>
              <a:gd name="adj" fmla="val 47619"/>
            </a:avLst>
          </a:prstGeom>
          <a:solidFill>
            <a:srgbClr val="DCEAF2"/>
          </a:solidFill>
          <a:ln w="12700">
            <a:solidFill>
              <a:srgbClr val="DCEAF2"/>
            </a:solidFill>
            <a:prstDash val="solid"/>
          </a:ln>
        </p:spPr>
      </p:sp>
      <p:sp>
        <p:nvSpPr>
          <p:cNvPr id="28" name="Text 23"/>
          <p:cNvSpPr/>
          <p:nvPr/>
        </p:nvSpPr>
        <p:spPr>
          <a:xfrm>
            <a:off x="9921240" y="5806440"/>
            <a:ext cx="1783080" cy="384048"/>
          </a:xfrm>
          <a:prstGeom prst="rect">
            <a:avLst/>
          </a:prstGeom>
          <a:noFill/>
          <a:ln/>
        </p:spPr>
        <p:txBody>
          <a:bodyPr wrap="square" lIns="0" tIns="0" rIns="0" bIns="0" rtlCol="0" anchor="ctr"/>
          <a:lstStyle/>
          <a:p>
            <a:pPr algn="ctr" indent="0" marL="0">
              <a:buNone/>
            </a:pPr>
            <a:r>
              <a:rPr lang="en-US" sz="1100" b="1" dirty="0">
                <a:solidFill>
                  <a:srgbClr val="07517A"/>
                </a:solidFill>
                <a:latin typeface="Arial" pitchFamily="34" charset="0"/>
                <a:ea typeface="Arial" pitchFamily="34" charset="-122"/>
                <a:cs typeface="Arial" pitchFamily="34" charset="-120"/>
              </a:rPr>
              <a:t>Tutorial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14</a:t>
            </a:r>
            <a:endParaRPr lang="en-US" sz="1000" dirty="0"/>
          </a:p>
        </p:txBody>
      </p:sp>
      <p:sp>
        <p:nvSpPr>
          <p:cNvPr id="9" name="Shape 6"/>
          <p:cNvSpPr/>
          <p:nvPr/>
        </p:nvSpPr>
        <p:spPr>
          <a:xfrm>
            <a:off x="502920" y="960120"/>
            <a:ext cx="51206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51206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Next Stage (Goal 1): Reasoning and Knowledge Layer</a:t>
            </a:r>
            <a:endParaRPr lang="en-US" sz="1400" dirty="0"/>
          </a:p>
        </p:txBody>
      </p:sp>
      <p:pic>
        <p:nvPicPr>
          <p:cNvPr id="11" name="Image 1" descr="C:\Users\eizma\AppData\Local\Temp\claude\c--Users-eizma-Desktop-socratic-ai\1d6c8d6d-fece-4855-be96-8b6833d2ef11\scratchpad\fig_utp\framework.png">    </p:cNvPr>
          <p:cNvPicPr>
            <a:picLocks noChangeAspect="1"/>
          </p:cNvPicPr>
          <p:nvPr/>
        </p:nvPicPr>
        <p:blipFill>
          <a:blip r:embed="rId2"/>
          <a:stretch>
            <a:fillRect/>
          </a:stretch>
        </p:blipFill>
        <p:spPr>
          <a:xfrm>
            <a:off x="502920" y="1508760"/>
            <a:ext cx="6675120" cy="4477747"/>
          </a:xfrm>
          <a:prstGeom prst="rect">
            <a:avLst/>
          </a:prstGeom>
        </p:spPr>
      </p:pic>
      <p:sp>
        <p:nvSpPr>
          <p:cNvPr id="12" name="Text 8"/>
          <p:cNvSpPr/>
          <p:nvPr/>
        </p:nvSpPr>
        <p:spPr>
          <a:xfrm>
            <a:off x="7452360" y="1554480"/>
            <a:ext cx="4236415" cy="42062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Knowledge layer: each case note tagged with its type of knowledge; an agent drafts a knowledge graph</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Reasoning agent: 1 or 0 for inductive, deductive and abductive reasoning and each knowledge type, with evidence</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Question bank: several questions per skill, so there are enough trials</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Statistics: share of 1s and Hamming distance per learner [14]; factor analysis across learners</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Explainer agent: a plain scenario on why a skill matters</a:t>
            </a:r>
            <a:endParaRPr lang="en-US" sz="1400" dirty="0"/>
          </a:p>
        </p:txBody>
      </p:sp>
      <p:sp>
        <p:nvSpPr>
          <p:cNvPr id="13" name="Text 9"/>
          <p:cNvSpPr/>
          <p:nvPr/>
        </p:nvSpPr>
        <p:spPr>
          <a:xfrm>
            <a:off x="502920" y="5943600"/>
            <a:ext cx="11185855" cy="365760"/>
          </a:xfrm>
          <a:prstGeom prst="rect">
            <a:avLst/>
          </a:prstGeom>
          <a:noFill/>
          <a:ln/>
        </p:spPr>
        <p:txBody>
          <a:bodyPr wrap="square" lIns="0" tIns="0" rIns="0" bIns="0" rtlCol="0" anchor="ctr"/>
          <a:lstStyle/>
          <a:p>
            <a:pPr indent="0" marL="0">
              <a:buNone/>
            </a:pPr>
            <a:r>
              <a:rPr lang="en-US" sz="1300" i="1" dirty="0">
                <a:solidFill>
                  <a:srgbClr val="7A6E3C"/>
                </a:solidFill>
                <a:latin typeface="Arial" pitchFamily="34" charset="0"/>
                <a:ea typeface="Arial" pitchFamily="34" charset="-122"/>
                <a:cs typeface="Arial" pitchFamily="34" charset="-120"/>
              </a:rPr>
              <a:t>Example: "All the regional banks fell, not just CIMB" is inductive reasoning on relational knowledge.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15</a:t>
            </a:r>
            <a:endParaRPr lang="en-US" sz="1000" dirty="0"/>
          </a:p>
        </p:txBody>
      </p:sp>
      <p:sp>
        <p:nvSpPr>
          <p:cNvPr id="9" name="Shape 6"/>
          <p:cNvSpPr/>
          <p:nvPr/>
        </p:nvSpPr>
        <p:spPr>
          <a:xfrm>
            <a:off x="502920" y="960120"/>
            <a:ext cx="292608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292608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Evaluation Plan</a:t>
            </a:r>
            <a:endParaRPr lang="en-US" sz="1400" dirty="0"/>
          </a:p>
        </p:txBody>
      </p:sp>
      <p:sp>
        <p:nvSpPr>
          <p:cNvPr id="11" name="Shape 8"/>
          <p:cNvSpPr/>
          <p:nvPr/>
        </p:nvSpPr>
        <p:spPr>
          <a:xfrm>
            <a:off x="502920" y="1554480"/>
            <a:ext cx="5440680" cy="2148840"/>
          </a:xfrm>
          <a:prstGeom prst="roundRect">
            <a:avLst>
              <a:gd name="adj" fmla="val 4255"/>
            </a:avLst>
          </a:prstGeom>
          <a:solidFill>
            <a:srgbClr val="F7F9FB"/>
          </a:solidFill>
          <a:ln w="12700">
            <a:solidFill>
              <a:srgbClr val="CBD5E1"/>
            </a:solidFill>
            <a:prstDash val="solid"/>
          </a:ln>
        </p:spPr>
      </p:sp>
      <p:sp>
        <p:nvSpPr>
          <p:cNvPr id="12" name="Shape 9"/>
          <p:cNvSpPr/>
          <p:nvPr/>
        </p:nvSpPr>
        <p:spPr>
          <a:xfrm>
            <a:off x="731520" y="1783080"/>
            <a:ext cx="530352" cy="530352"/>
          </a:xfrm>
          <a:prstGeom prst="ellipse">
            <a:avLst/>
          </a:prstGeom>
          <a:solidFill>
            <a:srgbClr val="07517A"/>
          </a:solidFill>
          <a:ln w="12700">
            <a:solidFill>
              <a:srgbClr val="07517A"/>
            </a:solidFill>
            <a:prstDash val="solid"/>
          </a:ln>
        </p:spPr>
      </p:sp>
      <p:sp>
        <p:nvSpPr>
          <p:cNvPr id="13" name="Text 10"/>
          <p:cNvSpPr/>
          <p:nvPr/>
        </p:nvSpPr>
        <p:spPr>
          <a:xfrm>
            <a:off x="731520" y="178308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1417320" y="1783080"/>
            <a:ext cx="4297680" cy="530352"/>
          </a:xfrm>
          <a:prstGeom prst="rect">
            <a:avLst/>
          </a:prstGeom>
          <a:noFill/>
          <a:ln/>
        </p:spPr>
        <p:txBody>
          <a:bodyPr wrap="square" lIns="0" tIns="0" rIns="0" bIns="0" rtlCol="0" anchor="ctr"/>
          <a:lstStyle/>
          <a:p>
            <a:pPr indent="0" marL="0">
              <a:buNone/>
            </a:pPr>
            <a:r>
              <a:rPr lang="en-US" sz="1800" b="1" dirty="0">
                <a:solidFill>
                  <a:srgbClr val="07517A"/>
                </a:solidFill>
                <a:latin typeface="Arial" pitchFamily="34" charset="0"/>
                <a:ea typeface="Arial" pitchFamily="34" charset="-122"/>
                <a:cs typeface="Arial" pitchFamily="34" charset="-120"/>
              </a:rPr>
              <a:t>Requirement check</a:t>
            </a:r>
            <a:endParaRPr lang="en-US" sz="1800" dirty="0"/>
          </a:p>
        </p:txBody>
      </p:sp>
      <p:sp>
        <p:nvSpPr>
          <p:cNvPr id="15" name="Text 12"/>
          <p:cNvSpPr/>
          <p:nvPr/>
        </p:nvSpPr>
        <p:spPr>
          <a:xfrm>
            <a:off x="731520" y="2468880"/>
            <a:ext cx="4983480" cy="109728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Run the same scenarios on the baseline Gem tutors and on Socratic AI, and mark R1 to R9 as met or not.</a:t>
            </a:r>
            <a:endParaRPr lang="en-US" sz="1500" dirty="0"/>
          </a:p>
        </p:txBody>
      </p:sp>
      <p:sp>
        <p:nvSpPr>
          <p:cNvPr id="16" name="Shape 13"/>
          <p:cNvSpPr/>
          <p:nvPr/>
        </p:nvSpPr>
        <p:spPr>
          <a:xfrm>
            <a:off x="6172200" y="1554480"/>
            <a:ext cx="5440680" cy="2148840"/>
          </a:xfrm>
          <a:prstGeom prst="roundRect">
            <a:avLst>
              <a:gd name="adj" fmla="val 4255"/>
            </a:avLst>
          </a:prstGeom>
          <a:solidFill>
            <a:srgbClr val="F7F9FB"/>
          </a:solidFill>
          <a:ln w="12700">
            <a:solidFill>
              <a:srgbClr val="CBD5E1"/>
            </a:solidFill>
            <a:prstDash val="solid"/>
          </a:ln>
        </p:spPr>
      </p:sp>
      <p:sp>
        <p:nvSpPr>
          <p:cNvPr id="17" name="Shape 14"/>
          <p:cNvSpPr/>
          <p:nvPr/>
        </p:nvSpPr>
        <p:spPr>
          <a:xfrm>
            <a:off x="6400800" y="1783080"/>
            <a:ext cx="530352" cy="530352"/>
          </a:xfrm>
          <a:prstGeom prst="ellipse">
            <a:avLst/>
          </a:prstGeom>
          <a:solidFill>
            <a:srgbClr val="07517A"/>
          </a:solidFill>
          <a:ln w="12700">
            <a:solidFill>
              <a:srgbClr val="07517A"/>
            </a:solidFill>
            <a:prstDash val="solid"/>
          </a:ln>
        </p:spPr>
      </p:sp>
      <p:sp>
        <p:nvSpPr>
          <p:cNvPr id="18" name="Text 15"/>
          <p:cNvSpPr/>
          <p:nvPr/>
        </p:nvSpPr>
        <p:spPr>
          <a:xfrm>
            <a:off x="6400800" y="178308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9" name="Text 16"/>
          <p:cNvSpPr/>
          <p:nvPr/>
        </p:nvSpPr>
        <p:spPr>
          <a:xfrm>
            <a:off x="7086600" y="1783080"/>
            <a:ext cx="4297680" cy="530352"/>
          </a:xfrm>
          <a:prstGeom prst="rect">
            <a:avLst/>
          </a:prstGeom>
          <a:noFill/>
          <a:ln/>
        </p:spPr>
        <p:txBody>
          <a:bodyPr wrap="square" lIns="0" tIns="0" rIns="0" bIns="0" rtlCol="0" anchor="ctr"/>
          <a:lstStyle/>
          <a:p>
            <a:pPr indent="0" marL="0">
              <a:buNone/>
            </a:pPr>
            <a:r>
              <a:rPr lang="en-US" sz="1800" b="1" dirty="0">
                <a:solidFill>
                  <a:srgbClr val="07517A"/>
                </a:solidFill>
                <a:latin typeface="Arial" pitchFamily="34" charset="0"/>
                <a:ea typeface="Arial" pitchFamily="34" charset="-122"/>
                <a:cs typeface="Arial" pitchFamily="34" charset="-120"/>
              </a:rPr>
              <a:t>Assessor vs human markers</a:t>
            </a:r>
            <a:endParaRPr lang="en-US" sz="1800" dirty="0"/>
          </a:p>
        </p:txBody>
      </p:sp>
      <p:sp>
        <p:nvSpPr>
          <p:cNvPr id="20" name="Text 17"/>
          <p:cNvSpPr/>
          <p:nvPr/>
        </p:nvSpPr>
        <p:spPr>
          <a:xfrm>
            <a:off x="6400800" y="2468880"/>
            <a:ext cx="4983480" cy="109728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Mark 61 test answers by hand with a marking guide. Compare using percent agreement and Cohen's kappa per standard (parent grant target 0.8).</a:t>
            </a:r>
            <a:endParaRPr lang="en-US" sz="1500" dirty="0"/>
          </a:p>
        </p:txBody>
      </p:sp>
      <p:sp>
        <p:nvSpPr>
          <p:cNvPr id="21" name="Shape 18"/>
          <p:cNvSpPr/>
          <p:nvPr/>
        </p:nvSpPr>
        <p:spPr>
          <a:xfrm>
            <a:off x="502920" y="3931920"/>
            <a:ext cx="5440680" cy="2148840"/>
          </a:xfrm>
          <a:prstGeom prst="roundRect">
            <a:avLst>
              <a:gd name="adj" fmla="val 4255"/>
            </a:avLst>
          </a:prstGeom>
          <a:solidFill>
            <a:srgbClr val="F7F9FB"/>
          </a:solidFill>
          <a:ln w="12700">
            <a:solidFill>
              <a:srgbClr val="CBD5E1"/>
            </a:solidFill>
            <a:prstDash val="solid"/>
          </a:ln>
        </p:spPr>
      </p:sp>
      <p:sp>
        <p:nvSpPr>
          <p:cNvPr id="22" name="Shape 19"/>
          <p:cNvSpPr/>
          <p:nvPr/>
        </p:nvSpPr>
        <p:spPr>
          <a:xfrm>
            <a:off x="731520" y="4160520"/>
            <a:ext cx="530352" cy="530352"/>
          </a:xfrm>
          <a:prstGeom prst="ellipse">
            <a:avLst/>
          </a:prstGeom>
          <a:solidFill>
            <a:srgbClr val="07517A"/>
          </a:solidFill>
          <a:ln w="12700">
            <a:solidFill>
              <a:srgbClr val="07517A"/>
            </a:solidFill>
            <a:prstDash val="solid"/>
          </a:ln>
        </p:spPr>
      </p:sp>
      <p:sp>
        <p:nvSpPr>
          <p:cNvPr id="23" name="Text 20"/>
          <p:cNvSpPr/>
          <p:nvPr/>
        </p:nvSpPr>
        <p:spPr>
          <a:xfrm>
            <a:off x="731520" y="416052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4" name="Text 21"/>
          <p:cNvSpPr/>
          <p:nvPr/>
        </p:nvSpPr>
        <p:spPr>
          <a:xfrm>
            <a:off x="1417320" y="4160520"/>
            <a:ext cx="4297680" cy="530352"/>
          </a:xfrm>
          <a:prstGeom prst="rect">
            <a:avLst/>
          </a:prstGeom>
          <a:noFill/>
          <a:ln/>
        </p:spPr>
        <p:txBody>
          <a:bodyPr wrap="square" lIns="0" tIns="0" rIns="0" bIns="0" rtlCol="0" anchor="ctr"/>
          <a:lstStyle/>
          <a:p>
            <a:pPr indent="0" marL="0">
              <a:buNone/>
            </a:pPr>
            <a:r>
              <a:rPr lang="en-US" sz="1800" b="1" dirty="0">
                <a:solidFill>
                  <a:srgbClr val="07517A"/>
                </a:solidFill>
                <a:latin typeface="Arial" pitchFamily="34" charset="0"/>
                <a:ea typeface="Arial" pitchFamily="34" charset="-122"/>
                <a:cs typeface="Arial" pitchFamily="34" charset="-120"/>
              </a:rPr>
              <a:t>With and without agents</a:t>
            </a:r>
            <a:endParaRPr lang="en-US" sz="1800" dirty="0"/>
          </a:p>
        </p:txBody>
      </p:sp>
      <p:sp>
        <p:nvSpPr>
          <p:cNvPr id="25" name="Text 22"/>
          <p:cNvSpPr/>
          <p:nvPr/>
        </p:nvSpPr>
        <p:spPr>
          <a:xfrm>
            <a:off x="731520" y="4846320"/>
            <a:ext cx="4983480" cy="109728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Switch the Planner, simulations or Checker off, and compare the same sessions.</a:t>
            </a:r>
            <a:endParaRPr lang="en-US" sz="1500" dirty="0"/>
          </a:p>
        </p:txBody>
      </p:sp>
      <p:sp>
        <p:nvSpPr>
          <p:cNvPr id="26" name="Shape 23"/>
          <p:cNvSpPr/>
          <p:nvPr/>
        </p:nvSpPr>
        <p:spPr>
          <a:xfrm>
            <a:off x="6172200" y="3931920"/>
            <a:ext cx="5440680" cy="2148840"/>
          </a:xfrm>
          <a:prstGeom prst="roundRect">
            <a:avLst>
              <a:gd name="adj" fmla="val 4255"/>
            </a:avLst>
          </a:prstGeom>
          <a:solidFill>
            <a:srgbClr val="F7F9FB"/>
          </a:solidFill>
          <a:ln w="12700">
            <a:solidFill>
              <a:srgbClr val="CBD5E1"/>
            </a:solidFill>
            <a:prstDash val="solid"/>
          </a:ln>
        </p:spPr>
      </p:sp>
      <p:sp>
        <p:nvSpPr>
          <p:cNvPr id="27" name="Shape 24"/>
          <p:cNvSpPr/>
          <p:nvPr/>
        </p:nvSpPr>
        <p:spPr>
          <a:xfrm>
            <a:off x="6400800" y="4160520"/>
            <a:ext cx="530352" cy="530352"/>
          </a:xfrm>
          <a:prstGeom prst="ellipse">
            <a:avLst/>
          </a:prstGeom>
          <a:solidFill>
            <a:srgbClr val="07517A"/>
          </a:solidFill>
          <a:ln w="12700">
            <a:solidFill>
              <a:srgbClr val="07517A"/>
            </a:solidFill>
            <a:prstDash val="solid"/>
          </a:ln>
        </p:spPr>
      </p:sp>
      <p:sp>
        <p:nvSpPr>
          <p:cNvPr id="28" name="Text 25"/>
          <p:cNvSpPr/>
          <p:nvPr/>
        </p:nvSpPr>
        <p:spPr>
          <a:xfrm>
            <a:off x="6400800" y="416052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9" name="Text 26"/>
          <p:cNvSpPr/>
          <p:nvPr/>
        </p:nvSpPr>
        <p:spPr>
          <a:xfrm>
            <a:off x="7086600" y="4160520"/>
            <a:ext cx="4297680" cy="530352"/>
          </a:xfrm>
          <a:prstGeom prst="rect">
            <a:avLst/>
          </a:prstGeom>
          <a:noFill/>
          <a:ln/>
        </p:spPr>
        <p:txBody>
          <a:bodyPr wrap="square" lIns="0" tIns="0" rIns="0" bIns="0" rtlCol="0" anchor="ctr"/>
          <a:lstStyle/>
          <a:p>
            <a:pPr indent="0" marL="0">
              <a:buNone/>
            </a:pPr>
            <a:r>
              <a:rPr lang="en-US" sz="1800" b="1" dirty="0">
                <a:solidFill>
                  <a:srgbClr val="07517A"/>
                </a:solidFill>
                <a:latin typeface="Arial" pitchFamily="34" charset="0"/>
                <a:ea typeface="Arial" pitchFamily="34" charset="-122"/>
                <a:cs typeface="Arial" pitchFamily="34" charset="-120"/>
              </a:rPr>
              <a:t>Learner experience</a:t>
            </a:r>
            <a:endParaRPr lang="en-US" sz="1800" dirty="0"/>
          </a:p>
        </p:txBody>
      </p:sp>
      <p:sp>
        <p:nvSpPr>
          <p:cNvPr id="30" name="Text 27"/>
          <p:cNvSpPr/>
          <p:nvPr/>
        </p:nvSpPr>
        <p:spPr>
          <a:xfrm>
            <a:off x="6400800" y="4846320"/>
            <a:ext cx="4983480" cy="1097280"/>
          </a:xfrm>
          <a:prstGeom prst="rect">
            <a:avLst/>
          </a:prstGeom>
          <a:noFill/>
          <a:ln/>
        </p:spPr>
        <p:txBody>
          <a:bodyPr wrap="square" lIns="0" tIns="0" rIns="0" bIns="0" rtlCol="0" anchor="t"/>
          <a:lstStyle/>
          <a:p>
            <a:pPr indent="0" marL="0">
              <a:buNone/>
            </a:pPr>
            <a:r>
              <a:rPr lang="en-US" sz="1500" dirty="0">
                <a:solidFill>
                  <a:srgbClr val="111827"/>
                </a:solidFill>
                <a:latin typeface="Arial" pitchFamily="34" charset="0"/>
                <a:ea typeface="Arial" pitchFamily="34" charset="-122"/>
                <a:cs typeface="Arial" pitchFamily="34" charset="-120"/>
              </a:rPr>
              <a:t>A short questionnaire with Dr Ho's students, after ethics approval.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GANTT CHART &amp; MILESTONES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16</a:t>
            </a:r>
            <a:endParaRPr lang="en-US" sz="1000" dirty="0"/>
          </a:p>
        </p:txBody>
      </p:sp>
      <p:pic>
        <p:nvPicPr>
          <p:cNvPr id="9" name="Image 1" descr="C:\Users\eizma\AppData\Local\Temp\claude\c--Users-eizma-Desktop-socratic-ai\1d6c8d6d-fece-4855-be96-8b6833d2ef11\scratchpad\fig_utp\gantt.png">    </p:cNvPr>
          <p:cNvPicPr>
            <a:picLocks noChangeAspect="1"/>
          </p:cNvPicPr>
          <p:nvPr/>
        </p:nvPicPr>
        <p:blipFill>
          <a:blip r:embed="rId2"/>
          <a:stretch>
            <a:fillRect/>
          </a:stretch>
        </p:blipFill>
        <p:spPr>
          <a:xfrm>
            <a:off x="502920" y="1234440"/>
            <a:ext cx="7955280" cy="3413311"/>
          </a:xfrm>
          <a:prstGeom prst="rect">
            <a:avLst/>
          </a:prstGeom>
        </p:spPr>
      </p:pic>
      <p:sp>
        <p:nvSpPr>
          <p:cNvPr id="10" name="Text 6"/>
          <p:cNvSpPr/>
          <p:nvPr/>
        </p:nvSpPr>
        <p:spPr>
          <a:xfrm>
            <a:off x="8732520" y="1188720"/>
            <a:ext cx="2956255" cy="365760"/>
          </a:xfrm>
          <a:prstGeom prst="rect">
            <a:avLst/>
          </a:prstGeom>
          <a:noFill/>
          <a:ln/>
        </p:spPr>
        <p:txBody>
          <a:bodyPr wrap="square" lIns="0" tIns="0" rIns="0" bIns="0" rtlCol="0" anchor="ctr"/>
          <a:lstStyle/>
          <a:p>
            <a:pPr indent="0" marL="0">
              <a:buNone/>
            </a:pPr>
            <a:r>
              <a:rPr lang="en-US" sz="1700" b="1" dirty="0">
                <a:solidFill>
                  <a:srgbClr val="07517A"/>
                </a:solidFill>
                <a:latin typeface="Arial" pitchFamily="34" charset="0"/>
                <a:ea typeface="Arial" pitchFamily="34" charset="-122"/>
                <a:cs typeface="Arial" pitchFamily="34" charset="-120"/>
              </a:rPr>
              <a:t>Key Milestones</a:t>
            </a:r>
            <a:endParaRPr lang="en-US" sz="1700" dirty="0"/>
          </a:p>
        </p:txBody>
      </p:sp>
      <p:sp>
        <p:nvSpPr>
          <p:cNvPr id="11" name="Shape 7"/>
          <p:cNvSpPr/>
          <p:nvPr/>
        </p:nvSpPr>
        <p:spPr>
          <a:xfrm>
            <a:off x="8732520" y="1792224"/>
            <a:ext cx="237744" cy="237744"/>
          </a:xfrm>
          <a:prstGeom prst="ellipse">
            <a:avLst/>
          </a:prstGeom>
          <a:solidFill>
            <a:srgbClr val="7A6E3C"/>
          </a:solidFill>
          <a:ln w="12700">
            <a:solidFill>
              <a:srgbClr val="7A6E3C"/>
            </a:solidFill>
            <a:prstDash val="solid"/>
          </a:ln>
        </p:spPr>
      </p:sp>
      <p:sp>
        <p:nvSpPr>
          <p:cNvPr id="12" name="Text 8"/>
          <p:cNvSpPr/>
          <p:nvPr/>
        </p:nvSpPr>
        <p:spPr>
          <a:xfrm>
            <a:off x="9116568" y="1737360"/>
            <a:ext cx="2572207" cy="320040"/>
          </a:xfrm>
          <a:prstGeom prst="rect">
            <a:avLst/>
          </a:prstGeom>
          <a:noFill/>
          <a:ln/>
        </p:spPr>
        <p:txBody>
          <a:bodyPr wrap="square" lIns="0" tIns="0" rIns="0" bIns="0" rtlCol="0" anchor="ctr"/>
          <a:lstStyle/>
          <a:p>
            <a:pPr indent="0" marL="0">
              <a:buNone/>
            </a:pPr>
            <a:r>
              <a:rPr lang="en-US" sz="1400" b="1" dirty="0">
                <a:solidFill>
                  <a:srgbClr val="7A6E3C"/>
                </a:solidFill>
                <a:latin typeface="Arial" pitchFamily="34" charset="0"/>
                <a:ea typeface="Arial" pitchFamily="34" charset="-122"/>
                <a:cs typeface="Arial" pitchFamily="34" charset="-120"/>
              </a:rPr>
              <a:t>21 Oct 2026</a:t>
            </a:r>
            <a:endParaRPr lang="en-US" sz="1400" dirty="0"/>
          </a:p>
        </p:txBody>
      </p:sp>
      <p:sp>
        <p:nvSpPr>
          <p:cNvPr id="13" name="Text 9"/>
          <p:cNvSpPr/>
          <p:nvPr/>
        </p:nvSpPr>
        <p:spPr>
          <a:xfrm>
            <a:off x="9116568" y="2066544"/>
            <a:ext cx="2572207" cy="457200"/>
          </a:xfrm>
          <a:prstGeom prst="rect">
            <a:avLst/>
          </a:prstGeom>
          <a:noFill/>
          <a:ln/>
        </p:spPr>
        <p:txBody>
          <a:bodyPr wrap="square" lIns="0" tIns="0" rIns="0" bIns="0" rtlCol="0" anchor="t"/>
          <a:lstStyle/>
          <a:p>
            <a:pPr indent="0" marL="0">
              <a:buNone/>
            </a:pPr>
            <a:r>
              <a:rPr lang="en-US" sz="1300" dirty="0">
                <a:solidFill>
                  <a:srgbClr val="111827"/>
                </a:solidFill>
                <a:latin typeface="Arial" pitchFamily="34" charset="0"/>
                <a:ea typeface="Arial" pitchFamily="34" charset="-122"/>
                <a:cs typeface="Arial" pitchFamily="34" charset="-120"/>
              </a:rPr>
              <a:t>Proposal defence</a:t>
            </a:r>
            <a:endParaRPr lang="en-US" sz="1300" dirty="0"/>
          </a:p>
        </p:txBody>
      </p:sp>
      <p:sp>
        <p:nvSpPr>
          <p:cNvPr id="14" name="Shape 10"/>
          <p:cNvSpPr/>
          <p:nvPr/>
        </p:nvSpPr>
        <p:spPr>
          <a:xfrm>
            <a:off x="8732520" y="2660904"/>
            <a:ext cx="237744" cy="237744"/>
          </a:xfrm>
          <a:prstGeom prst="ellipse">
            <a:avLst/>
          </a:prstGeom>
          <a:solidFill>
            <a:srgbClr val="7A6E3C"/>
          </a:solidFill>
          <a:ln w="12700">
            <a:solidFill>
              <a:srgbClr val="7A6E3C"/>
            </a:solidFill>
            <a:prstDash val="solid"/>
          </a:ln>
        </p:spPr>
      </p:sp>
      <p:sp>
        <p:nvSpPr>
          <p:cNvPr id="15" name="Text 11"/>
          <p:cNvSpPr/>
          <p:nvPr/>
        </p:nvSpPr>
        <p:spPr>
          <a:xfrm>
            <a:off x="9116568" y="2606040"/>
            <a:ext cx="2572207" cy="320040"/>
          </a:xfrm>
          <a:prstGeom prst="rect">
            <a:avLst/>
          </a:prstGeom>
          <a:noFill/>
          <a:ln/>
        </p:spPr>
        <p:txBody>
          <a:bodyPr wrap="square" lIns="0" tIns="0" rIns="0" bIns="0" rtlCol="0" anchor="ctr"/>
          <a:lstStyle/>
          <a:p>
            <a:pPr indent="0" marL="0">
              <a:buNone/>
            </a:pPr>
            <a:r>
              <a:rPr lang="en-US" sz="1400" b="1" dirty="0">
                <a:solidFill>
                  <a:srgbClr val="7A6E3C"/>
                </a:solidFill>
                <a:latin typeface="Arial" pitchFamily="34" charset="0"/>
                <a:ea typeface="Arial" pitchFamily="34" charset="-122"/>
                <a:cs typeface="Arial" pitchFamily="34" charset="-120"/>
              </a:rPr>
              <a:t>Mid Nov 2026</a:t>
            </a:r>
            <a:endParaRPr lang="en-US" sz="1400" dirty="0"/>
          </a:p>
        </p:txBody>
      </p:sp>
      <p:sp>
        <p:nvSpPr>
          <p:cNvPr id="16" name="Text 12"/>
          <p:cNvSpPr/>
          <p:nvPr/>
        </p:nvSpPr>
        <p:spPr>
          <a:xfrm>
            <a:off x="9116568" y="2935224"/>
            <a:ext cx="2572207" cy="457200"/>
          </a:xfrm>
          <a:prstGeom prst="rect">
            <a:avLst/>
          </a:prstGeom>
          <a:noFill/>
          <a:ln/>
        </p:spPr>
        <p:txBody>
          <a:bodyPr wrap="square" lIns="0" tIns="0" rIns="0" bIns="0" rtlCol="0" anchor="t"/>
          <a:lstStyle/>
          <a:p>
            <a:pPr indent="0" marL="0">
              <a:buNone/>
            </a:pPr>
            <a:r>
              <a:rPr lang="en-US" sz="1300" dirty="0">
                <a:solidFill>
                  <a:srgbClr val="111827"/>
                </a:solidFill>
                <a:latin typeface="Arial" pitchFamily="34" charset="0"/>
                <a:ea typeface="Arial" pitchFamily="34" charset="-122"/>
                <a:cs typeface="Arial" pitchFamily="34" charset="-120"/>
              </a:rPr>
              <a:t>Goal 1 done, mock presentation</a:t>
            </a:r>
            <a:endParaRPr lang="en-US" sz="1300" dirty="0"/>
          </a:p>
        </p:txBody>
      </p:sp>
      <p:sp>
        <p:nvSpPr>
          <p:cNvPr id="17" name="Shape 13"/>
          <p:cNvSpPr/>
          <p:nvPr/>
        </p:nvSpPr>
        <p:spPr>
          <a:xfrm>
            <a:off x="8732520" y="3529584"/>
            <a:ext cx="237744" cy="237744"/>
          </a:xfrm>
          <a:prstGeom prst="ellipse">
            <a:avLst/>
          </a:prstGeom>
          <a:solidFill>
            <a:srgbClr val="7A6E3C"/>
          </a:solidFill>
          <a:ln w="12700">
            <a:solidFill>
              <a:srgbClr val="7A6E3C"/>
            </a:solidFill>
            <a:prstDash val="solid"/>
          </a:ln>
        </p:spPr>
      </p:sp>
      <p:sp>
        <p:nvSpPr>
          <p:cNvPr id="18" name="Text 14"/>
          <p:cNvSpPr/>
          <p:nvPr/>
        </p:nvSpPr>
        <p:spPr>
          <a:xfrm>
            <a:off x="9116568" y="3474720"/>
            <a:ext cx="2572207" cy="320040"/>
          </a:xfrm>
          <a:prstGeom prst="rect">
            <a:avLst/>
          </a:prstGeom>
          <a:noFill/>
          <a:ln/>
        </p:spPr>
        <p:txBody>
          <a:bodyPr wrap="square" lIns="0" tIns="0" rIns="0" bIns="0" rtlCol="0" anchor="ctr"/>
          <a:lstStyle/>
          <a:p>
            <a:pPr indent="0" marL="0">
              <a:buNone/>
            </a:pPr>
            <a:r>
              <a:rPr lang="en-US" sz="1400" b="1" dirty="0">
                <a:solidFill>
                  <a:srgbClr val="7A6E3C"/>
                </a:solidFill>
                <a:latin typeface="Arial" pitchFamily="34" charset="0"/>
                <a:ea typeface="Arial" pitchFamily="34" charset="-122"/>
                <a:cs typeface="Arial" pitchFamily="34" charset="-120"/>
              </a:rPr>
              <a:t>End of FYP 1</a:t>
            </a:r>
            <a:endParaRPr lang="en-US" sz="1400" dirty="0"/>
          </a:p>
        </p:txBody>
      </p:sp>
      <p:sp>
        <p:nvSpPr>
          <p:cNvPr id="19" name="Text 15"/>
          <p:cNvSpPr/>
          <p:nvPr/>
        </p:nvSpPr>
        <p:spPr>
          <a:xfrm>
            <a:off x="9116568" y="3803904"/>
            <a:ext cx="2572207" cy="457200"/>
          </a:xfrm>
          <a:prstGeom prst="rect">
            <a:avLst/>
          </a:prstGeom>
          <a:noFill/>
          <a:ln/>
        </p:spPr>
        <p:txBody>
          <a:bodyPr wrap="square" lIns="0" tIns="0" rIns="0" bIns="0" rtlCol="0" anchor="t"/>
          <a:lstStyle/>
          <a:p>
            <a:pPr indent="0" marL="0">
              <a:buNone/>
            </a:pPr>
            <a:r>
              <a:rPr lang="en-US" sz="1300" dirty="0">
                <a:solidFill>
                  <a:srgbClr val="111827"/>
                </a:solidFill>
                <a:latin typeface="Arial" pitchFamily="34" charset="0"/>
                <a:ea typeface="Arial" pitchFamily="34" charset="-122"/>
                <a:cs typeface="Arial" pitchFamily="34" charset="-120"/>
              </a:rPr>
              <a:t>Interim report</a:t>
            </a:r>
            <a:endParaRPr lang="en-US" sz="1300" dirty="0"/>
          </a:p>
        </p:txBody>
      </p:sp>
      <p:sp>
        <p:nvSpPr>
          <p:cNvPr id="20" name="Shape 16"/>
          <p:cNvSpPr/>
          <p:nvPr/>
        </p:nvSpPr>
        <p:spPr>
          <a:xfrm>
            <a:off x="8732520" y="4398264"/>
            <a:ext cx="237744" cy="237744"/>
          </a:xfrm>
          <a:prstGeom prst="ellipse">
            <a:avLst/>
          </a:prstGeom>
          <a:solidFill>
            <a:srgbClr val="7A6E3C"/>
          </a:solidFill>
          <a:ln w="12700">
            <a:solidFill>
              <a:srgbClr val="7A6E3C"/>
            </a:solidFill>
            <a:prstDash val="solid"/>
          </a:ln>
        </p:spPr>
      </p:sp>
      <p:sp>
        <p:nvSpPr>
          <p:cNvPr id="21" name="Text 17"/>
          <p:cNvSpPr/>
          <p:nvPr/>
        </p:nvSpPr>
        <p:spPr>
          <a:xfrm>
            <a:off x="9116568" y="4343400"/>
            <a:ext cx="2572207" cy="320040"/>
          </a:xfrm>
          <a:prstGeom prst="rect">
            <a:avLst/>
          </a:prstGeom>
          <a:noFill/>
          <a:ln/>
        </p:spPr>
        <p:txBody>
          <a:bodyPr wrap="square" lIns="0" tIns="0" rIns="0" bIns="0" rtlCol="0" anchor="ctr"/>
          <a:lstStyle/>
          <a:p>
            <a:pPr indent="0" marL="0">
              <a:buNone/>
            </a:pPr>
            <a:r>
              <a:rPr lang="en-US" sz="1400" b="1" dirty="0">
                <a:solidFill>
                  <a:srgbClr val="7A6E3C"/>
                </a:solidFill>
                <a:latin typeface="Arial" pitchFamily="34" charset="0"/>
                <a:ea typeface="Arial" pitchFamily="34" charset="-122"/>
                <a:cs typeface="Arial" pitchFamily="34" charset="-120"/>
              </a:rPr>
              <a:t>FYP 2</a:t>
            </a:r>
            <a:endParaRPr lang="en-US" sz="1400" dirty="0"/>
          </a:p>
        </p:txBody>
      </p:sp>
      <p:sp>
        <p:nvSpPr>
          <p:cNvPr id="22" name="Text 18"/>
          <p:cNvSpPr/>
          <p:nvPr/>
        </p:nvSpPr>
        <p:spPr>
          <a:xfrm>
            <a:off x="9116568" y="4672584"/>
            <a:ext cx="2572207" cy="457200"/>
          </a:xfrm>
          <a:prstGeom prst="rect">
            <a:avLst/>
          </a:prstGeom>
          <a:noFill/>
          <a:ln/>
        </p:spPr>
        <p:txBody>
          <a:bodyPr wrap="square" lIns="0" tIns="0" rIns="0" bIns="0" rtlCol="0" anchor="t"/>
          <a:lstStyle/>
          <a:p>
            <a:pPr indent="0" marL="0">
              <a:buNone/>
            </a:pPr>
            <a:r>
              <a:rPr lang="en-US" sz="1300" dirty="0">
                <a:solidFill>
                  <a:srgbClr val="111827"/>
                </a:solidFill>
                <a:latin typeface="Arial" pitchFamily="34" charset="0"/>
                <a:ea typeface="Arial" pitchFamily="34" charset="-122"/>
                <a:cs typeface="Arial" pitchFamily="34" charset="-120"/>
              </a:rPr>
              <a:t>Assessor validation, learner tests, second topic</a:t>
            </a:r>
            <a:endParaRPr lang="en-US" sz="1300" dirty="0"/>
          </a:p>
        </p:txBody>
      </p:sp>
      <p:sp>
        <p:nvSpPr>
          <p:cNvPr id="23" name="Shape 19"/>
          <p:cNvSpPr/>
          <p:nvPr/>
        </p:nvSpPr>
        <p:spPr>
          <a:xfrm>
            <a:off x="8732520" y="5266944"/>
            <a:ext cx="237744" cy="237744"/>
          </a:xfrm>
          <a:prstGeom prst="ellipse">
            <a:avLst/>
          </a:prstGeom>
          <a:solidFill>
            <a:srgbClr val="7A6E3C"/>
          </a:solidFill>
          <a:ln w="12700">
            <a:solidFill>
              <a:srgbClr val="7A6E3C"/>
            </a:solidFill>
            <a:prstDash val="solid"/>
          </a:ln>
        </p:spPr>
      </p:sp>
      <p:sp>
        <p:nvSpPr>
          <p:cNvPr id="24" name="Text 20"/>
          <p:cNvSpPr/>
          <p:nvPr/>
        </p:nvSpPr>
        <p:spPr>
          <a:xfrm>
            <a:off x="9116568" y="5212080"/>
            <a:ext cx="2572207" cy="320040"/>
          </a:xfrm>
          <a:prstGeom prst="rect">
            <a:avLst/>
          </a:prstGeom>
          <a:noFill/>
          <a:ln/>
        </p:spPr>
        <p:txBody>
          <a:bodyPr wrap="square" lIns="0" tIns="0" rIns="0" bIns="0" rtlCol="0" anchor="ctr"/>
          <a:lstStyle/>
          <a:p>
            <a:pPr indent="0" marL="0">
              <a:buNone/>
            </a:pPr>
            <a:r>
              <a:rPr lang="en-US" sz="1400" b="1" dirty="0">
                <a:solidFill>
                  <a:srgbClr val="7A6E3C"/>
                </a:solidFill>
                <a:latin typeface="Arial" pitchFamily="34" charset="0"/>
                <a:ea typeface="Arial" pitchFamily="34" charset="-122"/>
                <a:cs typeface="Arial" pitchFamily="34" charset="-120"/>
              </a:rPr>
              <a:t>End of FYP 2</a:t>
            </a:r>
            <a:endParaRPr lang="en-US" sz="1400" dirty="0"/>
          </a:p>
        </p:txBody>
      </p:sp>
      <p:sp>
        <p:nvSpPr>
          <p:cNvPr id="25" name="Text 21"/>
          <p:cNvSpPr/>
          <p:nvPr/>
        </p:nvSpPr>
        <p:spPr>
          <a:xfrm>
            <a:off x="9116568" y="5541264"/>
            <a:ext cx="2572207" cy="457200"/>
          </a:xfrm>
          <a:prstGeom prst="rect">
            <a:avLst/>
          </a:prstGeom>
          <a:noFill/>
          <a:ln/>
        </p:spPr>
        <p:txBody>
          <a:bodyPr wrap="square" lIns="0" tIns="0" rIns="0" bIns="0" rtlCol="0" anchor="t"/>
          <a:lstStyle/>
          <a:p>
            <a:pPr indent="0" marL="0">
              <a:buNone/>
            </a:pPr>
            <a:r>
              <a:rPr lang="en-US" sz="1300" dirty="0">
                <a:solidFill>
                  <a:srgbClr val="111827"/>
                </a:solidFill>
                <a:latin typeface="Arial" pitchFamily="34" charset="0"/>
                <a:ea typeface="Arial" pitchFamily="34" charset="-122"/>
                <a:cs typeface="Arial" pitchFamily="34" charset="-120"/>
              </a:rPr>
              <a:t>Dissertation and technical paper</a:t>
            </a:r>
            <a:endParaRPr lang="en-US" sz="1300" dirty="0"/>
          </a:p>
        </p:txBody>
      </p:sp>
      <p:sp>
        <p:nvSpPr>
          <p:cNvPr id="26" name="Text 22"/>
          <p:cNvSpPr/>
          <p:nvPr/>
        </p:nvSpPr>
        <p:spPr>
          <a:xfrm>
            <a:off x="502920" y="6126480"/>
            <a:ext cx="7955280" cy="274320"/>
          </a:xfrm>
          <a:prstGeom prst="rect">
            <a:avLst/>
          </a:prstGeom>
          <a:noFill/>
          <a:ln/>
        </p:spPr>
        <p:txBody>
          <a:bodyPr wrap="square" lIns="0" tIns="0" rIns="0" bIns="0" rtlCol="0" anchor="ctr"/>
          <a:lstStyle/>
          <a:p>
            <a:pPr indent="0" marL="0">
              <a:buNone/>
            </a:pPr>
            <a:r>
              <a:rPr lang="en-US" sz="1100" i="1" dirty="0">
                <a:solidFill>
                  <a:srgbClr val="4B5563"/>
                </a:solidFill>
                <a:latin typeface="Arial" pitchFamily="34" charset="0"/>
                <a:ea typeface="Arial" pitchFamily="34" charset="-122"/>
                <a:cs typeface="Arial" pitchFamily="34" charset="-120"/>
              </a:rPr>
              <a:t>FYP 2 dates are a first plan, to be confirmed with the supervisor.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PRELIMINARY RESULTS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17</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42062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A Real 3-Round Session (Gemini)</a:t>
            </a:r>
            <a:endParaRPr lang="en-US" sz="1400" dirty="0"/>
          </a:p>
        </p:txBody>
      </p:sp>
      <p:sp>
        <p:nvSpPr>
          <p:cNvPr id="11" name="Shape 8"/>
          <p:cNvSpPr/>
          <p:nvPr/>
        </p:nvSpPr>
        <p:spPr>
          <a:xfrm>
            <a:off x="475488" y="1481328"/>
            <a:ext cx="6089904" cy="3659124"/>
          </a:xfrm>
          <a:prstGeom prst="rect">
            <a:avLst/>
          </a:prstGeom>
          <a:solidFill>
            <a:srgbClr val="CBD5E1"/>
          </a:solidFill>
          <a:ln w="12700">
            <a:solidFill>
              <a:srgbClr val="CBD5E1"/>
            </a:solidFill>
            <a:prstDash val="solid"/>
          </a:ln>
        </p:spPr>
      </p:sp>
      <p:pic>
        <p:nvPicPr>
          <p:cNvPr id="12" name="Image 1" descr="C:\Users\eizma\AppData\Local\Temp\claude\c--Users-eizma-Desktop-socratic-ai\1d6c8d6d-fece-4855-be96-8b6833d2ef11\scratchpad\shots\07_profile.png">    </p:cNvPr>
          <p:cNvPicPr>
            <a:picLocks noChangeAspect="1"/>
          </p:cNvPicPr>
          <p:nvPr/>
        </p:nvPicPr>
        <p:blipFill>
          <a:blip r:embed="rId2"/>
          <a:stretch>
            <a:fillRect/>
          </a:stretch>
        </p:blipFill>
        <p:spPr>
          <a:xfrm>
            <a:off x="502920" y="1508760"/>
            <a:ext cx="6035040" cy="3604260"/>
          </a:xfrm>
          <a:prstGeom prst="rect">
            <a:avLst/>
          </a:prstGeom>
        </p:spPr>
      </p:pic>
      <p:sp>
        <p:nvSpPr>
          <p:cNvPr id="13" name="Text 9"/>
          <p:cNvSpPr/>
          <p:nvPr/>
        </p:nvSpPr>
        <p:spPr>
          <a:xfrm>
            <a:off x="502920" y="5177028"/>
            <a:ext cx="6035040" cy="320040"/>
          </a:xfrm>
          <a:prstGeom prst="rect">
            <a:avLst/>
          </a:prstGeom>
          <a:noFill/>
          <a:ln/>
        </p:spPr>
        <p:txBody>
          <a:bodyPr wrap="square" lIns="0" tIns="0" rIns="0" bIns="0" rtlCol="0" anchor="ctr"/>
          <a:lstStyle/>
          <a:p>
            <a:pPr indent="0" marL="0">
              <a:buNone/>
            </a:pPr>
            <a:r>
              <a:rPr lang="en-US" sz="1200" i="1" dirty="0">
                <a:solidFill>
                  <a:srgbClr val="4B5563"/>
                </a:solidFill>
                <a:latin typeface="Arial" pitchFamily="34" charset="0"/>
                <a:ea typeface="Arial" pitchFamily="34" charset="-122"/>
                <a:cs typeface="Arial" pitchFamily="34" charset="-120"/>
              </a:rPr>
              <a:t>End profile: level reached, the 9 standards chart and the Coach comment</a:t>
            </a:r>
            <a:endParaRPr lang="en-US" sz="1200" dirty="0"/>
          </a:p>
        </p:txBody>
      </p:sp>
      <p:sp>
        <p:nvSpPr>
          <p:cNvPr id="14" name="Shape 10"/>
          <p:cNvSpPr/>
          <p:nvPr/>
        </p:nvSpPr>
        <p:spPr>
          <a:xfrm>
            <a:off x="6858000" y="1508760"/>
            <a:ext cx="4830775" cy="1280160"/>
          </a:xfrm>
          <a:prstGeom prst="roundRect">
            <a:avLst>
              <a:gd name="adj" fmla="val 7143"/>
            </a:avLst>
          </a:prstGeom>
          <a:solidFill>
            <a:srgbClr val="DCEAF2"/>
          </a:solidFill>
          <a:ln w="12700">
            <a:solidFill>
              <a:srgbClr val="DCEAF2"/>
            </a:solidFill>
            <a:prstDash val="solid"/>
          </a:ln>
        </p:spPr>
      </p:sp>
      <p:sp>
        <p:nvSpPr>
          <p:cNvPr id="15" name="Text 11"/>
          <p:cNvSpPr/>
          <p:nvPr/>
        </p:nvSpPr>
        <p:spPr>
          <a:xfrm>
            <a:off x="7086600" y="1508760"/>
            <a:ext cx="1737360" cy="1280160"/>
          </a:xfrm>
          <a:prstGeom prst="rect">
            <a:avLst/>
          </a:prstGeom>
          <a:noFill/>
          <a:ln/>
        </p:spPr>
        <p:txBody>
          <a:bodyPr wrap="square" lIns="0" tIns="0" rIns="0" bIns="0" rtlCol="0" anchor="ctr"/>
          <a:lstStyle/>
          <a:p>
            <a:pPr indent="0" marL="0">
              <a:buNone/>
            </a:pPr>
            <a:r>
              <a:rPr lang="en-US" sz="3400" b="1" dirty="0">
                <a:solidFill>
                  <a:srgbClr val="07517A"/>
                </a:solidFill>
                <a:latin typeface="Arial" pitchFamily="34" charset="0"/>
                <a:ea typeface="Arial" pitchFamily="34" charset="-122"/>
                <a:cs typeface="Arial" pitchFamily="34" charset="-120"/>
              </a:rPr>
              <a:t>0</a:t>
            </a:r>
            <a:endParaRPr lang="en-US" sz="3400" dirty="0"/>
          </a:p>
        </p:txBody>
      </p:sp>
      <p:sp>
        <p:nvSpPr>
          <p:cNvPr id="16" name="Text 12"/>
          <p:cNvSpPr/>
          <p:nvPr/>
        </p:nvSpPr>
        <p:spPr>
          <a:xfrm>
            <a:off x="8823960" y="1508760"/>
            <a:ext cx="2681935" cy="1280160"/>
          </a:xfrm>
          <a:prstGeom prst="rect">
            <a:avLst/>
          </a:prstGeom>
          <a:noFill/>
          <a:ln/>
        </p:spPr>
        <p:txBody>
          <a:bodyPr wrap="square" lIns="0" tIns="0" rIns="0" bIns="0" rtlCol="0" anchor="ctr"/>
          <a:lstStyle/>
          <a:p>
            <a:pPr indent="0" marL="0">
              <a:buNone/>
            </a:pPr>
            <a:r>
              <a:rPr lang="en-US" sz="1400" dirty="0">
                <a:solidFill>
                  <a:srgbClr val="111827"/>
                </a:solidFill>
                <a:latin typeface="Arial" pitchFamily="34" charset="0"/>
                <a:ea typeface="Arial" pitchFamily="34" charset="-122"/>
                <a:cs typeface="Arial" pitchFamily="34" charset="-120"/>
              </a:rPr>
              <a:t>times the answer was given away, even when asked to ignore the rules</a:t>
            </a:r>
            <a:endParaRPr lang="en-US" sz="1400" dirty="0"/>
          </a:p>
        </p:txBody>
      </p:sp>
      <p:sp>
        <p:nvSpPr>
          <p:cNvPr id="17" name="Shape 13"/>
          <p:cNvSpPr/>
          <p:nvPr/>
        </p:nvSpPr>
        <p:spPr>
          <a:xfrm>
            <a:off x="6858000" y="2971800"/>
            <a:ext cx="4830775" cy="1280160"/>
          </a:xfrm>
          <a:prstGeom prst="roundRect">
            <a:avLst>
              <a:gd name="adj" fmla="val 7143"/>
            </a:avLst>
          </a:prstGeom>
          <a:solidFill>
            <a:srgbClr val="DCEAF2"/>
          </a:solidFill>
          <a:ln w="12700">
            <a:solidFill>
              <a:srgbClr val="DCEAF2"/>
            </a:solidFill>
            <a:prstDash val="solid"/>
          </a:ln>
        </p:spPr>
      </p:sp>
      <p:sp>
        <p:nvSpPr>
          <p:cNvPr id="18" name="Text 14"/>
          <p:cNvSpPr/>
          <p:nvPr/>
        </p:nvSpPr>
        <p:spPr>
          <a:xfrm>
            <a:off x="7086600" y="2971800"/>
            <a:ext cx="1737360" cy="1280160"/>
          </a:xfrm>
          <a:prstGeom prst="rect">
            <a:avLst/>
          </a:prstGeom>
          <a:noFill/>
          <a:ln/>
        </p:spPr>
        <p:txBody>
          <a:bodyPr wrap="square" lIns="0" tIns="0" rIns="0" bIns="0" rtlCol="0" anchor="ctr"/>
          <a:lstStyle/>
          <a:p>
            <a:pPr indent="0" marL="0">
              <a:buNone/>
            </a:pPr>
            <a:r>
              <a:rPr lang="en-US" sz="3400" b="1" dirty="0">
                <a:solidFill>
                  <a:srgbClr val="07517A"/>
                </a:solidFill>
                <a:latin typeface="Arial" pitchFamily="34" charset="0"/>
                <a:ea typeface="Arial" pitchFamily="34" charset="-122"/>
                <a:cs typeface="Arial" pitchFamily="34" charset="-120"/>
              </a:rPr>
              <a:t>5 of 5</a:t>
            </a:r>
            <a:endParaRPr lang="en-US" sz="3400" dirty="0"/>
          </a:p>
        </p:txBody>
      </p:sp>
      <p:sp>
        <p:nvSpPr>
          <p:cNvPr id="19" name="Text 15"/>
          <p:cNvSpPr/>
          <p:nvPr/>
        </p:nvSpPr>
        <p:spPr>
          <a:xfrm>
            <a:off x="8823960" y="2971800"/>
            <a:ext cx="2681935" cy="1280160"/>
          </a:xfrm>
          <a:prstGeom prst="rect">
            <a:avLst/>
          </a:prstGeom>
          <a:noFill/>
          <a:ln/>
        </p:spPr>
        <p:txBody>
          <a:bodyPr wrap="square" lIns="0" tIns="0" rIns="0" bIns="0" rtlCol="0" anchor="ctr"/>
          <a:lstStyle/>
          <a:p>
            <a:pPr indent="0" marL="0">
              <a:buNone/>
            </a:pPr>
            <a:r>
              <a:rPr lang="en-US" sz="1400" dirty="0">
                <a:solidFill>
                  <a:srgbClr val="111827"/>
                </a:solidFill>
                <a:latin typeface="Arial" pitchFamily="34" charset="0"/>
                <a:ea typeface="Arial" pitchFamily="34" charset="-122"/>
                <a:cs typeface="Arial" pitchFamily="34" charset="-120"/>
              </a:rPr>
              <a:t>problems found in testing were fixed</a:t>
            </a:r>
            <a:endParaRPr lang="en-US" sz="1400" dirty="0"/>
          </a:p>
        </p:txBody>
      </p:sp>
      <p:sp>
        <p:nvSpPr>
          <p:cNvPr id="20" name="Shape 16"/>
          <p:cNvSpPr/>
          <p:nvPr/>
        </p:nvSpPr>
        <p:spPr>
          <a:xfrm>
            <a:off x="6858000" y="4434840"/>
            <a:ext cx="4830775" cy="1280160"/>
          </a:xfrm>
          <a:prstGeom prst="roundRect">
            <a:avLst>
              <a:gd name="adj" fmla="val 7143"/>
            </a:avLst>
          </a:prstGeom>
          <a:solidFill>
            <a:srgbClr val="DCEAF2"/>
          </a:solidFill>
          <a:ln w="12700">
            <a:solidFill>
              <a:srgbClr val="DCEAF2"/>
            </a:solidFill>
            <a:prstDash val="solid"/>
          </a:ln>
        </p:spPr>
      </p:sp>
      <p:sp>
        <p:nvSpPr>
          <p:cNvPr id="21" name="Text 17"/>
          <p:cNvSpPr/>
          <p:nvPr/>
        </p:nvSpPr>
        <p:spPr>
          <a:xfrm>
            <a:off x="7086600" y="4434840"/>
            <a:ext cx="1737360" cy="1280160"/>
          </a:xfrm>
          <a:prstGeom prst="rect">
            <a:avLst/>
          </a:prstGeom>
          <a:noFill/>
          <a:ln/>
        </p:spPr>
        <p:txBody>
          <a:bodyPr wrap="square" lIns="0" tIns="0" rIns="0" bIns="0" rtlCol="0" anchor="ctr"/>
          <a:lstStyle/>
          <a:p>
            <a:pPr indent="0" marL="0">
              <a:buNone/>
            </a:pPr>
            <a:r>
              <a:rPr lang="en-US" sz="3400" b="1" dirty="0">
                <a:solidFill>
                  <a:srgbClr val="07517A"/>
                </a:solidFill>
                <a:latin typeface="Arial" pitchFamily="34" charset="0"/>
                <a:ea typeface="Arial" pitchFamily="34" charset="-122"/>
                <a:cs typeface="Arial" pitchFamily="34" charset="-120"/>
              </a:rPr>
              <a:t>~24</a:t>
            </a:r>
            <a:endParaRPr lang="en-US" sz="3400" dirty="0"/>
          </a:p>
        </p:txBody>
      </p:sp>
      <p:sp>
        <p:nvSpPr>
          <p:cNvPr id="22" name="Text 18"/>
          <p:cNvSpPr/>
          <p:nvPr/>
        </p:nvSpPr>
        <p:spPr>
          <a:xfrm>
            <a:off x="8823960" y="4434840"/>
            <a:ext cx="2681935" cy="1280160"/>
          </a:xfrm>
          <a:prstGeom prst="rect">
            <a:avLst/>
          </a:prstGeom>
          <a:noFill/>
          <a:ln/>
        </p:spPr>
        <p:txBody>
          <a:bodyPr wrap="square" lIns="0" tIns="0" rIns="0" bIns="0" rtlCol="0" anchor="ctr"/>
          <a:lstStyle/>
          <a:p>
            <a:pPr indent="0" marL="0">
              <a:buNone/>
            </a:pPr>
            <a:r>
              <a:rPr lang="en-US" sz="1400" dirty="0">
                <a:solidFill>
                  <a:srgbClr val="111827"/>
                </a:solidFill>
                <a:latin typeface="Arial" pitchFamily="34" charset="0"/>
                <a:ea typeface="Arial" pitchFamily="34" charset="-122"/>
                <a:cs typeface="Arial" pitchFamily="34" charset="-120"/>
              </a:rPr>
              <a:t>AI calls per session, inside the free tier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PRELIMINARY RESULTS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18</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sp>
      <p:sp>
        <p:nvSpPr>
          <p:cNvPr id="10" name="Text 7"/>
          <p:cNvSpPr/>
          <p:nvPr/>
        </p:nvSpPr>
        <p:spPr>
          <a:xfrm>
            <a:off x="502920" y="960120"/>
            <a:ext cx="4206240" cy="384048"/>
          </a:xfrm>
          <a:prstGeom prst="rect">
            <a:avLst/>
          </a:prstGeom>
          <a:noFill/>
          <a:ln/>
        </p:spPr>
        <p:txBody>
          <a:bodyPr wrap="square" lIns="0" tIns="0" rIns="0" bIns="0" rtlCol="0" anchor="ctr"/>
          <a:lstStyle/>
          <a:p>
            <a:pPr algn="ctr" indent="0" marL="0">
              <a:buNone/>
            </a:pPr>
            <a:r>
              <a:rPr lang="en-US" sz="1400" b="1" dirty="0">
                <a:solidFill>
                  <a:srgbClr val="07517A"/>
                </a:solidFill>
                <a:latin typeface="Arial" pitchFamily="34" charset="0"/>
                <a:ea typeface="Arial" pitchFamily="34" charset="-122"/>
                <a:cs typeface="Arial" pitchFamily="34" charset="-120"/>
              </a:rPr>
              <a:t>Assessor on a 61-Answer Test Set</a:t>
            </a:r>
            <a:endParaRPr lang="en-US" sz="1400" dirty="0"/>
          </a:p>
        </p:txBody>
      </p:sp>
      <p:graphicFrame>
        <p:nvGraphicFramePr>
          <p:cNvPr id="11" name="Chart 0" descr=""/>
          <p:cNvGraphicFramePr/>
          <p:nvPr/>
        </p:nvGraphicFramePr>
        <p:xfrm>
          <a:off x="502920" y="1508760"/>
          <a:ext cx="5852160" cy="329184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p:nvPr/>
        </p:nvSpPr>
        <p:spPr>
          <a:xfrm>
            <a:off x="502920" y="4983480"/>
            <a:ext cx="5852160" cy="822960"/>
          </a:xfrm>
          <a:prstGeom prst="rect">
            <a:avLst/>
          </a:prstGeom>
          <a:noFill/>
          <a:ln/>
        </p:spPr>
        <p:txBody>
          <a:bodyPr wrap="square" lIns="0" tIns="0" rIns="0" bIns="0" rtlCol="0" anchor="ctr"/>
          <a:lstStyle/>
          <a:p>
            <a:pPr indent="0" marL="0">
              <a:buNone/>
            </a:pPr>
            <a:r>
              <a:rPr lang="en-US" sz="1300" i="1" dirty="0">
                <a:solidFill>
                  <a:srgbClr val="4B5563"/>
                </a:solidFill>
                <a:latin typeface="Arial" pitchFamily="34" charset="0"/>
                <a:ea typeface="Arial" pitchFamily="34" charset="-122"/>
                <a:cs typeface="Arial" pitchFamily="34" charset="-120"/>
              </a:rPr>
              <a:t>37 real answers from test sessions and 24 constructed answers. Not yet compared with human markers, so this is not a validation yet.</a:t>
            </a:r>
            <a:endParaRPr lang="en-US" sz="1300" dirty="0"/>
          </a:p>
        </p:txBody>
      </p:sp>
      <p:sp>
        <p:nvSpPr>
          <p:cNvPr id="13" name="Text 9"/>
          <p:cNvSpPr/>
          <p:nvPr/>
        </p:nvSpPr>
        <p:spPr>
          <a:xfrm>
            <a:off x="6720840" y="1554480"/>
            <a:ext cx="4967935" cy="365760"/>
          </a:xfrm>
          <a:prstGeom prst="rect">
            <a:avLst/>
          </a:prstGeom>
          <a:noFill/>
          <a:ln/>
        </p:spPr>
        <p:txBody>
          <a:bodyPr wrap="square" lIns="0" tIns="0" rIns="0" bIns="0" rtlCol="0" anchor="ctr"/>
          <a:lstStyle/>
          <a:p>
            <a:pPr indent="0" marL="0">
              <a:buNone/>
            </a:pPr>
            <a:r>
              <a:rPr lang="en-US" sz="1700" b="1" dirty="0">
                <a:solidFill>
                  <a:srgbClr val="07517A"/>
                </a:solidFill>
                <a:latin typeface="Arial" pitchFamily="34" charset="0"/>
                <a:ea typeface="Arial" pitchFamily="34" charset="-122"/>
                <a:cs typeface="Arial" pitchFamily="34" charset="-120"/>
              </a:rPr>
              <a:t>Problems found and fixed</a:t>
            </a:r>
            <a:endParaRPr lang="en-US" sz="1700" dirty="0"/>
          </a:p>
        </p:txBody>
      </p:sp>
      <p:sp>
        <p:nvSpPr>
          <p:cNvPr id="14" name="Text 10"/>
          <p:cNvSpPr/>
          <p:nvPr/>
        </p:nvSpPr>
        <p:spPr>
          <a:xfrm>
            <a:off x="6720840" y="2011680"/>
            <a:ext cx="4967935" cy="32918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welcome said there was no round limit: now written by code</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same question asked again in new words: the Checker now compares questions</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Planner's simulation was ignored: the rules now run it</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Levels rose too fast: now 2 good answers in a row, or 1 strong answer</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Assessor was generous: strict rules per standard; standards met fell from 24 to 16 on 12 real answers</a:t>
            </a:r>
            <a:endParaRPr lang="en-US" sz="1400" dirty="0"/>
          </a:p>
        </p:txBody>
      </p:sp>
      <p:sp>
        <p:nvSpPr>
          <p:cNvPr id="15" name="Shape 11"/>
          <p:cNvSpPr/>
          <p:nvPr/>
        </p:nvSpPr>
        <p:spPr>
          <a:xfrm>
            <a:off x="6720840" y="5257800"/>
            <a:ext cx="4967935" cy="868680"/>
          </a:xfrm>
          <a:prstGeom prst="roundRect">
            <a:avLst>
              <a:gd name="adj" fmla="val 10526"/>
            </a:avLst>
          </a:prstGeom>
          <a:solidFill>
            <a:srgbClr val="F3EEDC"/>
          </a:solidFill>
          <a:ln w="12700">
            <a:solidFill>
              <a:srgbClr val="F3EEDC"/>
            </a:solidFill>
            <a:prstDash val="solid"/>
          </a:ln>
        </p:spPr>
      </p:sp>
      <p:sp>
        <p:nvSpPr>
          <p:cNvPr id="16" name="Text 12"/>
          <p:cNvSpPr/>
          <p:nvPr/>
        </p:nvSpPr>
        <p:spPr>
          <a:xfrm>
            <a:off x="6903720" y="5257800"/>
            <a:ext cx="4602175" cy="868680"/>
          </a:xfrm>
          <a:prstGeom prst="rect">
            <a:avLst/>
          </a:prstGeom>
          <a:noFill/>
          <a:ln/>
        </p:spPr>
        <p:txBody>
          <a:bodyPr wrap="square" lIns="0" tIns="0" rIns="0" bIns="0" rtlCol="0" anchor="ctr"/>
          <a:lstStyle/>
          <a:p>
            <a:pPr indent="0" marL="0">
              <a:buNone/>
            </a:pPr>
            <a:r>
              <a:rPr lang="en-US" sz="1400" b="1" dirty="0">
                <a:solidFill>
                  <a:srgbClr val="7A6E3C"/>
                </a:solidFill>
                <a:latin typeface="Arial" pitchFamily="34" charset="0"/>
                <a:ea typeface="Arial" pitchFamily="34" charset="-122"/>
                <a:cs typeface="Arial" pitchFamily="34" charset="-120"/>
              </a:rPr>
              <a:t>Next: keyword-only answers still score about 4 of 9, so the Assessor prompt is tightened again.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CONCLUSIONS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19</a:t>
            </a:r>
            <a:endParaRPr lang="en-US" sz="1000" dirty="0"/>
          </a:p>
        </p:txBody>
      </p:sp>
      <p:sp>
        <p:nvSpPr>
          <p:cNvPr id="9" name="Shape 6"/>
          <p:cNvSpPr/>
          <p:nvPr/>
        </p:nvSpPr>
        <p:spPr>
          <a:xfrm>
            <a:off x="914400" y="1280160"/>
            <a:ext cx="10362895" cy="3383280"/>
          </a:xfrm>
          <a:prstGeom prst="roundRect">
            <a:avLst>
              <a:gd name="adj" fmla="val 2703"/>
            </a:avLst>
          </a:prstGeom>
          <a:solidFill>
            <a:srgbClr val="DCEAF2"/>
          </a:solidFill>
          <a:ln w="12700">
            <a:solidFill>
              <a:srgbClr val="DCEAF2"/>
            </a:solidFill>
            <a:prstDash val="solid"/>
          </a:ln>
        </p:spPr>
      </p:sp>
      <p:sp>
        <p:nvSpPr>
          <p:cNvPr id="10" name="Text 7"/>
          <p:cNvSpPr/>
          <p:nvPr/>
        </p:nvSpPr>
        <p:spPr>
          <a:xfrm>
            <a:off x="1234440" y="1371600"/>
            <a:ext cx="9722815" cy="3200400"/>
          </a:xfrm>
          <a:prstGeom prst="rect">
            <a:avLst/>
          </a:prstGeom>
          <a:noFill/>
          <a:ln/>
        </p:spPr>
        <p:txBody>
          <a:bodyPr wrap="square" lIns="0" tIns="0" rIns="0" bIns="0" rtlCol="0" anchor="ctr"/>
          <a:lstStyle/>
          <a:p>
            <a:pPr algn="ctr" indent="0" marL="0">
              <a:buNone/>
            </a:pPr>
            <a:r>
              <a:rPr lang="en-US" sz="1700" dirty="0">
                <a:solidFill>
                  <a:srgbClr val="111827"/>
                </a:solidFill>
                <a:latin typeface="Arial" pitchFamily="34" charset="0"/>
                <a:ea typeface="Arial" pitchFamily="34" charset="-122"/>
                <a:cs typeface="Arial" pitchFamily="34" charset="-120"/>
              </a:rPr>
              <a:t>Generative AI makes it easy to skip thinking, and existing Socratic tutors have no structured question ladder, no assessment against a framework and no clear session. This project has built Socratic AI, a working multi-agent tutor that follows Paul's six question levels, marks every answer against the nine intellectual standards, and uses plain-code rules to guard every AI decision. First tests show it never gives the answer away and ends every session with a learner profile. The next stage shows which type of reasoning and knowledge a learner used, measured over many questions, and validates the Assessor against human markers.</a:t>
            </a:r>
            <a:endParaRPr lang="en-US" sz="1700" dirty="0"/>
          </a:p>
        </p:txBody>
      </p:sp>
      <p:sp>
        <p:nvSpPr>
          <p:cNvPr id="11" name="Text 8"/>
          <p:cNvSpPr/>
          <p:nvPr/>
        </p:nvSpPr>
        <p:spPr>
          <a:xfrm>
            <a:off x="914400" y="4983480"/>
            <a:ext cx="10362895" cy="365760"/>
          </a:xfrm>
          <a:prstGeom prst="rect">
            <a:avLst/>
          </a:prstGeom>
          <a:noFill/>
          <a:ln/>
        </p:spPr>
        <p:txBody>
          <a:bodyPr wrap="square" lIns="0" tIns="0" rIns="0" bIns="0" rtlCol="0" anchor="ctr"/>
          <a:lstStyle/>
          <a:p>
            <a:pPr algn="ctr" indent="0" marL="0">
              <a:buNone/>
            </a:pPr>
            <a:r>
              <a:rPr lang="en-US" sz="1500" b="1" dirty="0">
                <a:solidFill>
                  <a:srgbClr val="7A6E3C"/>
                </a:solidFill>
                <a:latin typeface="Arial" pitchFamily="34" charset="0"/>
                <a:ea typeface="Arial" pitchFamily="34" charset="-122"/>
                <a:cs typeface="Arial" pitchFamily="34" charset="-120"/>
              </a:rPr>
              <a:t>Take-home message</a:t>
            </a:r>
            <a:endParaRPr lang="en-US" sz="1500" dirty="0"/>
          </a:p>
        </p:txBody>
      </p:sp>
      <p:sp>
        <p:nvSpPr>
          <p:cNvPr id="12" name="Text 9"/>
          <p:cNvSpPr/>
          <p:nvPr/>
        </p:nvSpPr>
        <p:spPr>
          <a:xfrm>
            <a:off x="914400" y="5349240"/>
            <a:ext cx="10362895" cy="731520"/>
          </a:xfrm>
          <a:prstGeom prst="rect">
            <a:avLst/>
          </a:prstGeom>
          <a:noFill/>
          <a:ln/>
        </p:spPr>
        <p:txBody>
          <a:bodyPr wrap="square" lIns="0" tIns="0" rIns="0" bIns="0" rtlCol="0" anchor="t"/>
          <a:lstStyle/>
          <a:p>
            <a:pPr algn="ctr" indent="0" marL="0">
              <a:buNone/>
            </a:pPr>
            <a:r>
              <a:rPr lang="en-US" sz="1700" b="1" dirty="0">
                <a:solidFill>
                  <a:srgbClr val="07517A"/>
                </a:solidFill>
                <a:latin typeface="Arial" pitchFamily="34" charset="0"/>
                <a:ea typeface="Arial" pitchFamily="34" charset="-122"/>
                <a:cs typeface="Arial" pitchFamily="34" charset="-120"/>
              </a:rPr>
              <a:t>This is a reasoning trainer, not an answer machine, built in a new way: many prompted agents working together, guarded by code.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C:\Users\eizma\AppData\Local\Temp\claude\c--Users-eizma-Desktop-socratic-ai\1d6c8d6d-fece-4855-be96-8b6833d2ef11\scratchpad\deck\utp_logo_wide.png">    </p:cNvPr>
          <p:cNvPicPr>
            <a:picLocks noChangeAspect="1"/>
          </p:cNvPicPr>
          <p:nvPr/>
        </p:nvPicPr>
        <p:blipFill>
          <a:blip r:embed="rId1"/>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sp>
      <p:sp>
        <p:nvSpPr>
          <p:cNvPr id="4" name="Text 1"/>
          <p:cNvSpPr/>
          <p:nvPr/>
        </p:nvSpPr>
        <p:spPr>
          <a:xfrm>
            <a:off x="2057400" y="109728"/>
            <a:ext cx="9905695" cy="56692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REFERENCES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sp>
      <p:sp>
        <p:nvSpPr>
          <p:cNvPr id="8" name="Text 5"/>
          <p:cNvSpPr/>
          <p:nvPr/>
        </p:nvSpPr>
        <p:spPr>
          <a:xfrm>
            <a:off x="11368735" y="6473952"/>
            <a:ext cx="457200" cy="256032"/>
          </a:xfrm>
          <a:prstGeom prst="rect">
            <a:avLst/>
          </a:prstGeom>
          <a:noFill/>
          <a:ln/>
        </p:spPr>
        <p:txBody>
          <a:bodyPr wrap="square" lIns="0" tIns="0" rIns="0" bIns="0" rtlCol="0" anchor="ctr"/>
          <a:lstStyle/>
          <a:p>
            <a:pPr algn="r" indent="0" marL="0">
              <a:buNone/>
            </a:pPr>
            <a:r>
              <a:rPr lang="en-US" sz="1000" dirty="0">
                <a:solidFill>
                  <a:srgbClr val="4B5563"/>
                </a:solidFill>
                <a:latin typeface="Arial" pitchFamily="34" charset="0"/>
                <a:ea typeface="Arial" pitchFamily="34" charset="-122"/>
                <a:cs typeface="Arial" pitchFamily="34" charset="-120"/>
              </a:rPr>
              <a:t>20</a:t>
            </a:r>
            <a:endParaRPr lang="en-US" sz="1000" dirty="0"/>
          </a:p>
        </p:txBody>
      </p:sp>
      <p:sp>
        <p:nvSpPr>
          <p:cNvPr id="9" name="Text 6"/>
          <p:cNvSpPr/>
          <p:nvPr/>
        </p:nvSpPr>
        <p:spPr>
          <a:xfrm>
            <a:off x="502920" y="1051560"/>
            <a:ext cx="11185855" cy="5349240"/>
          </a:xfrm>
          <a:prstGeom prst="rect">
            <a:avLst/>
          </a:prstGeom>
          <a:noFill/>
          <a:ln/>
        </p:spPr>
        <p:txBody>
          <a:bodyPr wrap="square" lIns="0" tIns="0" rIns="0" bIns="0" rtlCol="0" anchor="t"/>
          <a:lstStyle/>
          <a:p>
            <a:pPr indent="0" marL="0">
              <a:spcAft>
                <a:spcPts val="400"/>
              </a:spcAft>
              <a:buNone/>
            </a:pPr>
            <a:r>
              <a:rPr lang="en-US" sz="1100" dirty="0">
                <a:solidFill>
                  <a:srgbClr val="111827"/>
                </a:solidFill>
                <a:latin typeface="Arial" pitchFamily="34" charset="0"/>
                <a:ea typeface="Arial" pitchFamily="34" charset="-122"/>
                <a:cs typeface="Arial" pitchFamily="34" charset="-120"/>
              </a:rPr>
              <a:t>[1] R. Paul and L. Elder, The Thinker's Guide to the Art of Socratic Questioning. Foundation for Critical Thinking (year and edition to be confirmed).</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[2] L. W. Anderson and D. R. Krathwohl, Eds., A Taxonomy for Learning, Teaching, and Assessing. Longman, 2001.</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[3] J. B. Biggs and K. F. Collis, Evaluating the Quality of Learning: The SOLO Taxonomy. Academic Press, 1982.</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[4] H. Sahamid, "Developing critical thinking through Socratic questioning," Int. J. Educ. Literacy Stud., vol. 4, no. 3, pp. 62-72, 2016.</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[5] A. Makhene, "The use of Socratic inquiry to facilitate critical thinking in nursing education," Health SA Gesondheid, vol. 24, a1224, 2019.</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[6] Y.-R. Ho, B.-Y. Chen and C.-M. Li, "Thinking more wisely: Using the Socratic method to develop critical thinking skills amongst healthcare students," BMC Med. Educ., vol. 23, 173, 2023.</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[7] P.-B. Degen and I. Asanov, "Beyond automation: Socratic AI, epistemic agency, and ... multi-agent learning architectures," arXiv:2508.05116, 2025.</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[8] F. Fan, "Socratic scaffolding in AI education: A framework for critical thinking," Regional Educ. Technol. J., vol. 8, no. 1, 2025.</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[9] K. W. Lee, Y. S. Ang and J. W. Lai, "Learning analytics with scalable Bloom's taxonomy labeling of Socratic chatbot dialogues," Computers, vol. 14, no. 12, 555, 2025.</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[10] H.-P. Lee et al., "The impact of generative AI on critical thinking," in Proc. CHI '25, Art. 1121, 2025.</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[11] A. Sarkar, "How to stop AI from killing your critical thinking," TEDAI Vienna, 2025.</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[12] L. Brand, "A practical guide to agentic AI in higher education," QS, 11 Sep. 2026.</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[13] L. Yan et al., "Practical and ethical challenges of large language models in education," Br. J. Educ. Technol., vol. 55, no. 1, pp. 90-112, 2023.</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[14] R. W. Hamming, "Error detecting and error correcting codes," Bell Syst. Tech. J., vol. 29, no. 2, pp. 147-160, 1950.</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[15] P. Lewis et al., "Retrieval-augmented generation for knowledge-intensive NLP tasks," NeurIPS, vol. 33, pp. 9459-9474, 2020.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82880"/>
            <a:ext cx="3749040" cy="54864"/>
          </a:xfrm>
          <a:prstGeom prst="rect">
            <a:avLst/>
          </a:prstGeom>
          <a:solidFill>
            <a:srgbClr val="07517A"/>
          </a:solidFill>
          <a:ln w="12700">
            <a:solidFill>
              <a:srgbClr val="07517A"/>
            </a:solidFill>
            <a:prstDash val="solid"/>
          </a:ln>
        </p:spPr>
      </p:sp>
      <p:sp>
        <p:nvSpPr>
          <p:cNvPr id="3" name="Shape 1"/>
          <p:cNvSpPr/>
          <p:nvPr/>
        </p:nvSpPr>
        <p:spPr>
          <a:xfrm>
            <a:off x="4114800" y="182880"/>
            <a:ext cx="3931920" cy="54864"/>
          </a:xfrm>
          <a:prstGeom prst="rect">
            <a:avLst/>
          </a:prstGeom>
          <a:solidFill>
            <a:srgbClr val="7A6E3C"/>
          </a:solidFill>
          <a:ln w="12700">
            <a:solidFill>
              <a:srgbClr val="7A6E3C"/>
            </a:solidFill>
            <a:prstDash val="solid"/>
          </a:ln>
        </p:spPr>
      </p:sp>
      <p:sp>
        <p:nvSpPr>
          <p:cNvPr id="4" name="Shape 2"/>
          <p:cNvSpPr/>
          <p:nvPr/>
        </p:nvSpPr>
        <p:spPr>
          <a:xfrm>
            <a:off x="8183880" y="182880"/>
            <a:ext cx="3776472" cy="54864"/>
          </a:xfrm>
          <a:prstGeom prst="rect">
            <a:avLst/>
          </a:prstGeom>
          <a:solidFill>
            <a:srgbClr val="07517A"/>
          </a:solidFill>
          <a:ln w="12700">
            <a:solidFill>
              <a:srgbClr val="07517A"/>
            </a:solidFill>
            <a:prstDash val="solid"/>
          </a:ln>
        </p:spPr>
      </p:sp>
      <p:pic>
        <p:nvPicPr>
          <p:cNvPr id="5" name="Image 0" descr="C:\Users\eizma\AppData\Local\Temp\claude\c--Users-eizma-Desktop-socratic-ai\1d6c8d6d-fece-4855-be96-8b6833d2ef11\scratchpad\deck\utp_logo_cover.jpeg">    </p:cNvPr>
          <p:cNvPicPr>
            <a:picLocks noChangeAspect="1"/>
          </p:cNvPicPr>
          <p:nvPr/>
        </p:nvPicPr>
        <p:blipFill>
          <a:blip r:embed="rId1"/>
          <a:stretch>
            <a:fillRect/>
          </a:stretch>
        </p:blipFill>
        <p:spPr>
          <a:xfrm>
            <a:off x="5090008" y="914400"/>
            <a:ext cx="2011680" cy="2011680"/>
          </a:xfrm>
          <a:prstGeom prst="rect">
            <a:avLst/>
          </a:prstGeom>
        </p:spPr>
      </p:pic>
      <p:sp>
        <p:nvSpPr>
          <p:cNvPr id="6" name="Text 3"/>
          <p:cNvSpPr/>
          <p:nvPr/>
        </p:nvSpPr>
        <p:spPr>
          <a:xfrm>
            <a:off x="0" y="3246120"/>
            <a:ext cx="12191695" cy="822960"/>
          </a:xfrm>
          <a:prstGeom prst="rect">
            <a:avLst/>
          </a:prstGeom>
          <a:noFill/>
          <a:ln/>
        </p:spPr>
        <p:txBody>
          <a:bodyPr wrap="square" lIns="0" tIns="0" rIns="0" bIns="0" rtlCol="0" anchor="ctr"/>
          <a:lstStyle/>
          <a:p>
            <a:pPr algn="ctr" indent="0" marL="0">
              <a:buNone/>
            </a:pPr>
            <a:r>
              <a:rPr lang="en-US" sz="4400" b="1" dirty="0">
                <a:solidFill>
                  <a:srgbClr val="07517A"/>
                </a:solidFill>
                <a:latin typeface="Arial" pitchFamily="34" charset="0"/>
                <a:ea typeface="Arial" pitchFamily="34" charset="-122"/>
                <a:cs typeface="Arial" pitchFamily="34" charset="-120"/>
              </a:rPr>
              <a:t>THANK YOU</a:t>
            </a:r>
            <a:endParaRPr lang="en-US" sz="4400" dirty="0"/>
          </a:p>
        </p:txBody>
      </p:sp>
      <p:sp>
        <p:nvSpPr>
          <p:cNvPr id="7" name="Text 4"/>
          <p:cNvSpPr/>
          <p:nvPr/>
        </p:nvSpPr>
        <p:spPr>
          <a:xfrm>
            <a:off x="0" y="4069080"/>
            <a:ext cx="12191695" cy="640080"/>
          </a:xfrm>
          <a:prstGeom prst="rect">
            <a:avLst/>
          </a:prstGeom>
          <a:noFill/>
          <a:ln/>
        </p:spPr>
        <p:txBody>
          <a:bodyPr wrap="square" lIns="0" tIns="0" rIns="0" bIns="0" rtlCol="0" anchor="ctr"/>
          <a:lstStyle/>
          <a:p>
            <a:pPr algn="ctr" indent="0" marL="0">
              <a:buNone/>
            </a:pPr>
            <a:r>
              <a:rPr lang="en-US" sz="2800" dirty="0">
                <a:solidFill>
                  <a:srgbClr val="7A6E3C"/>
                </a:solidFill>
                <a:latin typeface="Arial" pitchFamily="34" charset="0"/>
                <a:ea typeface="Arial" pitchFamily="34" charset="-122"/>
                <a:cs typeface="Arial" pitchFamily="34" charset="-120"/>
              </a:rPr>
              <a:t>Q &amp; A</a:t>
            </a:r>
            <a:endParaRPr lang="en-US" sz="2800" dirty="0"/>
          </a:p>
        </p:txBody>
      </p:sp>
      <p:sp>
        <p:nvSpPr>
          <p:cNvPr id="8" name="Shape 5"/>
          <p:cNvSpPr/>
          <p:nvPr/>
        </p:nvSpPr>
        <p:spPr>
          <a:xfrm>
            <a:off x="228600" y="6583680"/>
            <a:ext cx="3749040" cy="54864"/>
          </a:xfrm>
          <a:prstGeom prst="rect">
            <a:avLst/>
          </a:prstGeom>
          <a:solidFill>
            <a:srgbClr val="07517A"/>
          </a:solidFill>
          <a:ln w="12700">
            <a:solidFill>
              <a:srgbClr val="07517A"/>
            </a:solidFill>
            <a:prstDash val="solid"/>
          </a:ln>
        </p:spPr>
      </p:sp>
      <p:sp>
        <p:nvSpPr>
          <p:cNvPr id="9" name="Shape 6"/>
          <p:cNvSpPr/>
          <p:nvPr/>
        </p:nvSpPr>
        <p:spPr>
          <a:xfrm>
            <a:off x="4114800" y="6583680"/>
            <a:ext cx="3931920" cy="54864"/>
          </a:xfrm>
          <a:prstGeom prst="rect">
            <a:avLst/>
          </a:prstGeom>
          <a:solidFill>
            <a:srgbClr val="7A6E3C"/>
          </a:solidFill>
          <a:ln w="12700">
            <a:solidFill>
              <a:srgbClr val="7A6E3C"/>
            </a:solidFill>
            <a:prstDash val="solid"/>
          </a:ln>
        </p:spPr>
      </p:sp>
      <p:sp>
        <p:nvSpPr>
          <p:cNvPr id="10" name="Shape 7"/>
          <p:cNvSpPr/>
          <p:nvPr/>
        </p:nvSpPr>
        <p:spPr>
          <a:xfrm>
            <a:off x="8183880" y="6583680"/>
            <a:ext cx="3776472" cy="54864"/>
          </a:xfrm>
          <a:prstGeom prst="rect">
            <a:avLst/>
          </a:prstGeom>
          <a:solidFill>
            <a:srgbClr val="07517A"/>
          </a:solidFill>
          <a:ln w="12700">
            <a:solidFill>
              <a:srgbClr val="07517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Socratic AI: FYP 1 Proposal Defence</dc:title>
  <dc:subject>PptxGenJS Presentation</dc:subject>
  <dc:creator>PptxGenJS</dc:creator>
  <cp:lastModifiedBy>PptxGenJS</cp:lastModifiedBy>
  <cp:revision>1</cp:revision>
  <dcterms:created xsi:type="dcterms:W3CDTF">2026-10-20T06:14:39Z</dcterms:created>
  <dcterms:modified xsi:type="dcterms:W3CDTF">2026-10-20T06:14:39Z</dcterms:modified>
</cp:coreProperties>
</file>