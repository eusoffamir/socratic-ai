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B5563"/>
                </a:solidFill>
                <a:latin typeface="Arial"/>
              </a:defRPr>
            </a:pPr>
            <a:r>
              <a:rPr sz="1300" b="0" i="0" u="none" strike="noStrike">
                <a:solidFill>
                  <a:srgbClr val="4B5563"/>
                </a:solidFill>
                <a:latin typeface="Arial"/>
              </a:rPr>
              <a:t>Average standards met, out of 9 (approximate)</a:t>
            </a:r>
          </a:p>
        </c:rich>
      </c:tx>
      <c:layout/>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Trick answers</c:v>
                  </c:pt>
                  <c:pt idx="1">
                    <c:v>Keyword-only answers</c:v>
                  </c:pt>
                  <c:pt idx="2">
                    <c:v>Strong answers</c:v>
                  </c:pt>
                </c:lvl>
              </c:multiLvlStrCache>
            </c:multiLvlStrRef>
          </c:cat>
          <c:val>
            <c:numRef>
              <c:f>Sheet1!$B$2:$B$4</c:f>
              <c:numCache>
                <c:formatCode>General</c:formatCode>
                <c:ptCount val="3"/>
                <c:pt idx="0">
                  <c:v>1.5</c:v>
                </c:pt>
                <c:pt idx="1">
                  <c:v>4</c:v>
                </c:pt>
                <c:pt idx="2">
                  <c:v>8.5</c:v>
                </c:pt>
              </c:numCache>
            </c:numRef>
          </c:val>
        </c:ser>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My name is Eusoff, and my supervisor is Dr Ho Tatt Wei. My project is Socratic AI, an AI tutor that does not give answers. It asks questions step by step and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outline. I will cover the introduction, the problem, objectives and scope, the literature, my methodology, the timeline, my first results and the conclusion. On the right is the working app, which is already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ask an AI for a finished answer and copy it. A QS report found 62 percent of students use generative AI every week, and a study of 319 workers found that people who trust AI more think less critically. My idea is to use the same AI the other way round: a tutor that asks questions in a set order, and that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tools already refuse to give answers, like Gemini Gems. I tested two of them and found three problems. The questions have no structure, there is no real assessment of reasoning, and the experience is poor. My tester wrote: bro I explained this before. So one prompt is not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five objectives. Build the multi-agent tutor. Use the six Socratic levels and the nine standards. Objective three, in gold, is new from my latest meeting with Dr Ho: show which type of reasoning and knowledge the learner used, over many questions. Then adapt to each learner, and evaluate against the baseline tutors.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it small, the prototype covers one quant topic: is a pattern in data real, or just luck. It uses four AI agents guarded by code, and it assesses reasoning against a framework. A second topic, real reading material and knowledge graphs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agentic AI building blocks come from Dr Ho's course modules. Each technique maps to a part of my system: Chain of Thought in the Planner, ReAct in the Tutor's simulation loop, and multi-agent systems in the four agent roles. RAG and MCP are future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literature gives several frameworks. From Paul and Elder, the six question levels tell the tutor what to ask, and the nine standards tell the assessor how good the answer is. The eight elements of thought, the revised Bloom's taxonomy and the SOLO taxonomy will add the type of knowledge and the complexity,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AI can do it at scale. Degen and Asanov in 2025 found a Socratic AI tutor gave more support for reflective thinking than a plain chatbot, and they argue for multi-agent systems. But most of this work is self-reported, and it does not measure the reasoning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comparison of existing tutors. They refuse to give answers, but none combine a principled question ladder, assessment against a framework, and a clear goal with progress and an end. None show which type of reasoning the learner used. Socratic AI covers these, and the last column is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this. AI can reduce thinking, Socratic tutors have no principled ladder, reasoning is rarely measured against a framework, and no tool shows which type of reasoning a learner used. My project answers each point: a tutor that follows the six levels, a separate assessor marking the nine standards, code rules guarding the AI, and next, reasoning and knowledge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turned what failed into nine design requirements, built the prototype, tested it with real sessions and fixed what broke, and next I evaluate it. It uses Python, FastAPI, LangGraph and the free Gemini model, and it is hosted for free. No GPU is needed, because the AI runs in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Every answer goes through these steps. The Assessor marks it. The Planner proposes the next move. Then plain code rules check the plan, so the AI cannot break important rules. The Tutor writes the reply and may run a small simulation, and the Checker reviews it before the learner sees it. So the agents decide, and the rules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sees. On the left, each case starts with a short reading. On the right, a real session: the tutor gives short feedback, one question, a hint that stays hidden until the learner opens it, and here it ran a simulation: out of 500 random stocks, 15 went up every day by luck. Underneath are the other features from the design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my last meeting, Dr Ho and I widened the framework. Navy parts are built, gold parts are planned. Besides quality, we want to know which type of reasoning the student used, like inductive or deductive, and which type of knowledge, like causal or relational. New agents will do this, without rebuilding the old ones. Each skill is measured over several questions, then simple statistics. For example, noticing that all regional banks fell, not just one bank, is inductive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evaluate in four ways. A requirement check against the baseline tutors. The Assessor against human markers using Cohen's kappa, where the parent grant targets 0.8. Switching agents on and off to see what each one adds. And a short questionnaire with real learners after ethics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The dark bars are done: the tests, the requirements and the working prototype. By mid November I add the reasoning and knowledge layer, then the interim report. In FYP 2 I validate the Assessor with human markers, test with learners and try a second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results from real sessions with Gemini. On the left is the end profile from a real 3-round session: the level reached, the nine standards and the Coach's comment. In my two full test sessions, the tutor never gave the answer away, even when I asked it to ignore its rules. I found five problems and fixed all five, and a session uses about 24 AI calls, which fits the free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then ran the Assessor on 61 test answers. Strong answers met about 8 or 9 standards and trick answers about 1 or 2, which is the right direction. But answers that only repeat keywords still score about 4, so that is the next fix. These numbers are approximate and not yet compared with human markers. On the right are the five problems I found in testing and how each was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Current tutors have no question ladder and no real assessment. Socratic AI follows the six levels, marks the nine standards and never gives the answer away. Next, it will show which type of reasoning and knowledge a learner used, checked against human markers. It is a reasoning trainer, not an answer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references. The full list is in my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rest of my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indent="0" marL="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indent="0" marL="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indent="0" marL="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sp>
      <p:sp>
        <p:nvSpPr>
          <p:cNvPr id="10" name="Text 7"/>
          <p:cNvSpPr/>
          <p:nvPr/>
        </p:nvSpPr>
        <p:spPr>
          <a:xfrm>
            <a:off x="3566160" y="3291840"/>
            <a:ext cx="7955280" cy="2971800"/>
          </a:xfrm>
          <a:prstGeom prst="rect">
            <a:avLst/>
          </a:prstGeom>
          <a:noFill/>
          <a:ln/>
        </p:spPr>
        <p:txBody>
          <a:bodyPr wrap="square" lIns="0" tIns="0" rIns="0" bIns="0" rtlCol="0" anchor="ctr"/>
          <a:lstStyle/>
          <a:p>
            <a:pPr indent="0" marL="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Department : Electrical and Electronics Engineering</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Course : EFB4042 Final Year Project 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Project code : 26S004</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sp>
      <p:sp>
        <p:nvSpPr>
          <p:cNvPr id="10" name="Text 7"/>
          <p:cNvSpPr/>
          <p:nvPr/>
        </p:nvSpPr>
        <p:spPr>
          <a:xfrm>
            <a:off x="1097280" y="11887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sp>
      <p:sp>
        <p:nvSpPr>
          <p:cNvPr id="13" name="Text 10"/>
          <p:cNvSpPr/>
          <p:nvPr/>
        </p:nvSpPr>
        <p:spPr>
          <a:xfrm>
            <a:off x="109728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sp>
      <p:sp>
        <p:nvSpPr>
          <p:cNvPr id="16" name="Text 13"/>
          <p:cNvSpPr/>
          <p:nvPr/>
        </p:nvSpPr>
        <p:spPr>
          <a:xfrm>
            <a:off x="1097280" y="265176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sp>
      <p:sp>
        <p:nvSpPr>
          <p:cNvPr id="19" name="Text 16"/>
          <p:cNvSpPr/>
          <p:nvPr/>
        </p:nvSpPr>
        <p:spPr>
          <a:xfrm>
            <a:off x="1097280" y="33832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sp>
      <p:sp>
        <p:nvSpPr>
          <p:cNvPr id="22" name="Text 19"/>
          <p:cNvSpPr/>
          <p:nvPr/>
        </p:nvSpPr>
        <p:spPr>
          <a:xfrm>
            <a:off x="1097280" y="4114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sp>
      <p:sp>
        <p:nvSpPr>
          <p:cNvPr id="25" name="Text 22"/>
          <p:cNvSpPr/>
          <p:nvPr/>
        </p:nvSpPr>
        <p:spPr>
          <a:xfrm>
            <a:off x="1097280" y="48463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sp>
      <p:sp>
        <p:nvSpPr>
          <p:cNvPr id="28" name="Text 25"/>
          <p:cNvSpPr/>
          <p:nvPr/>
        </p:nvSpPr>
        <p:spPr>
          <a:xfrm>
            <a:off x="1097280" y="55778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sp>
      <p:pic>
        <p:nvPicPr>
          <p:cNvPr id="31" name="Image 1" descr="C:\Users\eizma\AppData\Local\Temp\claude\c--Users-eizma-Desktop-socratic-ai\1d6c8d6d-fece-4855-be96-8b6833d2ef11\scratchpad\shots\01_home.png">    </p:cNvPr>
          <p:cNvPicPr>
            <a:picLocks noChangeAspect="1"/>
          </p:cNvPicPr>
          <p:nvPr/>
        </p:nvPicPr>
        <p:blipFill>
          <a:blip r:embed="rId2"/>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algn="ctr" indent="0" marL="0">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pPr indent="0" marL="0">
              <a:buNone/>
            </a:pPr>
            <a:r>
              <a:rPr lang="en-US" sz="1800" b="1" dirty="0">
                <a:solidFill>
                  <a:srgbClr val="111827"/>
                </a:solidFill>
                <a:latin typeface="Arial" pitchFamily="34" charset="0"/>
                <a:ea typeface="Arial" pitchFamily="34" charset="-122"/>
                <a:cs typeface="Arial" pitchFamily="34" charset="-120"/>
              </a:rPr>
              <a:t>Generative AI now gives students a finished answer in seconds, so they can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sp>
      <p:sp>
        <p:nvSpPr>
          <p:cNvPr id="11" name="Text 8"/>
          <p:cNvSpPr/>
          <p:nvPr/>
        </p:nvSpPr>
        <p:spPr>
          <a:xfrm>
            <a:off x="731520"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of students 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sp>
      <p:sp>
        <p:nvSpPr>
          <p:cNvPr id="14" name="Text 11"/>
          <p:cNvSpPr/>
          <p:nvPr/>
        </p:nvSpPr>
        <p:spPr>
          <a:xfrm>
            <a:off x="4498848"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98848"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knowledge workers studied: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sp>
      <p:sp>
        <p:nvSpPr>
          <p:cNvPr id="17" name="Text 14"/>
          <p:cNvSpPr/>
          <p:nvPr/>
        </p:nvSpPr>
        <p:spPr>
          <a:xfrm>
            <a:off x="8266176"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66176"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costs of "outsourced reasoning": fewer ideas, less effort, weaker memory, less reflection [11]</a:t>
            </a:r>
            <a:endParaRPr lang="en-US" sz="1500" dirty="0"/>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sp>
      <p:sp>
        <p:nvSpPr>
          <p:cNvPr id="20" name="Text 17"/>
          <p:cNvSpPr/>
          <p:nvPr/>
        </p:nvSpPr>
        <p:spPr>
          <a:xfrm>
            <a:off x="777240" y="4434840"/>
            <a:ext cx="10637215" cy="1737360"/>
          </a:xfrm>
          <a:prstGeom prst="rect">
            <a:avLst/>
          </a:prstGeom>
          <a:noFill/>
          <a:ln/>
        </p:spPr>
        <p:txBody>
          <a:bodyPr wrap="square" lIns="0" tIns="0" rIns="0" bIns="0" rtlCol="0" anchor="ctr"/>
          <a:lstStyle/>
          <a:p>
            <a:pPr indent="0" marL="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indent="0" marL="0">
              <a:spcAft>
                <a:spcPts val="600"/>
              </a:spcAft>
              <a:buNone/>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learner builds the understanding, and then measure the quality of the learner's reasoning against a framework.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1051560"/>
            <a:ext cx="11185855" cy="411480"/>
          </a:xfrm>
          <a:prstGeom prst="rect">
            <a:avLst/>
          </a:prstGeom>
          <a:noFill/>
          <a:ln/>
        </p:spPr>
        <p:txBody>
          <a:bodyPr wrap="square" lIns="0" tIns="0" rIns="0" bIns="0" rtlCol="0" anchor="ctr"/>
          <a:lstStyle/>
          <a:p>
            <a:pPr indent="0" marL="0">
              <a:buNone/>
            </a:pPr>
            <a:r>
              <a:rPr lang="en-US" sz="1500" dirty="0">
                <a:solidFill>
                  <a:srgbClr val="4B5563"/>
                </a:solidFill>
                <a:latin typeface="Arial" pitchFamily="34" charset="0"/>
                <a:ea typeface="Arial" pitchFamily="34" charset="-122"/>
                <a:cs typeface="Arial" pitchFamily="34" charset="-120"/>
              </a:rPr>
              <a:t>Two Gemini Gem tutors were tested (an online Socratic Tutor and the first project prompt). Three problems were found.</a:t>
            </a:r>
            <a:endParaRPr lang="en-US" sz="1500" dirty="0"/>
          </a:p>
        </p:txBody>
      </p:sp>
      <p:sp>
        <p:nvSpPr>
          <p:cNvPr id="10" name="Shape 7"/>
          <p:cNvSpPr/>
          <p:nvPr/>
        </p:nvSpPr>
        <p:spPr>
          <a:xfrm>
            <a:off x="502920" y="1645920"/>
            <a:ext cx="3547872" cy="2514600"/>
          </a:xfrm>
          <a:prstGeom prst="roundRect">
            <a:avLst>
              <a:gd name="adj" fmla="val 3636"/>
            </a:avLst>
          </a:prstGeom>
          <a:solidFill>
            <a:srgbClr val="F7F9FB"/>
          </a:solidFill>
          <a:ln w="12700">
            <a:solidFill>
              <a:srgbClr val="CBD5E1"/>
            </a:solidFill>
            <a:prstDash val="solid"/>
          </a:ln>
        </p:spPr>
      </p:sp>
      <p:sp>
        <p:nvSpPr>
          <p:cNvPr id="11" name="Shape 8"/>
          <p:cNvSpPr/>
          <p:nvPr/>
        </p:nvSpPr>
        <p:spPr>
          <a:xfrm>
            <a:off x="731520" y="1828800"/>
            <a:ext cx="530352" cy="530352"/>
          </a:xfrm>
          <a:prstGeom prst="ellipse">
            <a:avLst/>
          </a:prstGeom>
          <a:solidFill>
            <a:srgbClr val="7A6E3C"/>
          </a:solidFill>
          <a:ln w="12700">
            <a:solidFill>
              <a:srgbClr val="7A6E3C"/>
            </a:solidFill>
            <a:prstDash val="solid"/>
          </a:ln>
        </p:spPr>
      </p:sp>
      <p:sp>
        <p:nvSpPr>
          <p:cNvPr id="12" name="Text 9"/>
          <p:cNvSpPr/>
          <p:nvPr/>
        </p:nvSpPr>
        <p:spPr>
          <a:xfrm>
            <a:off x="731520"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structure</a:t>
            </a:r>
            <a:endParaRPr lang="en-US" sz="2000" dirty="0"/>
          </a:p>
        </p:txBody>
      </p:sp>
      <p:sp>
        <p:nvSpPr>
          <p:cNvPr id="14" name="Text 11"/>
          <p:cNvSpPr/>
          <p:nvPr/>
        </p:nvSpPr>
        <p:spPr>
          <a:xfrm>
            <a:off x="731520"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Questions do not climb step by step from clarifying to questioning the question itself.</a:t>
            </a:r>
            <a:endParaRPr lang="en-US" sz="1500" dirty="0"/>
          </a:p>
        </p:txBody>
      </p:sp>
      <p:sp>
        <p:nvSpPr>
          <p:cNvPr id="15" name="Shape 12"/>
          <p:cNvSpPr/>
          <p:nvPr/>
        </p:nvSpPr>
        <p:spPr>
          <a:xfrm>
            <a:off x="4270248" y="1645920"/>
            <a:ext cx="3547872" cy="2514600"/>
          </a:xfrm>
          <a:prstGeom prst="roundRect">
            <a:avLst>
              <a:gd name="adj" fmla="val 3636"/>
            </a:avLst>
          </a:prstGeom>
          <a:solidFill>
            <a:srgbClr val="F7F9FB"/>
          </a:solidFill>
          <a:ln w="12700">
            <a:solidFill>
              <a:srgbClr val="CBD5E1"/>
            </a:solidFill>
            <a:prstDash val="solid"/>
          </a:ln>
        </p:spPr>
      </p:sp>
      <p:sp>
        <p:nvSpPr>
          <p:cNvPr id="16" name="Shape 13"/>
          <p:cNvSpPr/>
          <p:nvPr/>
        </p:nvSpPr>
        <p:spPr>
          <a:xfrm>
            <a:off x="4498848" y="1828800"/>
            <a:ext cx="530352" cy="530352"/>
          </a:xfrm>
          <a:prstGeom prst="ellipse">
            <a:avLst/>
          </a:prstGeom>
          <a:solidFill>
            <a:srgbClr val="7A6E3C"/>
          </a:solidFill>
          <a:ln w="12700">
            <a:solidFill>
              <a:srgbClr val="7A6E3C"/>
            </a:solidFill>
            <a:prstDash val="solid"/>
          </a:ln>
        </p:spPr>
      </p:sp>
      <p:sp>
        <p:nvSpPr>
          <p:cNvPr id="17" name="Text 14"/>
          <p:cNvSpPr/>
          <p:nvPr/>
        </p:nvSpPr>
        <p:spPr>
          <a:xfrm>
            <a:off x="4498848"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assessment</a:t>
            </a:r>
            <a:endParaRPr lang="en-US" sz="2000" dirty="0"/>
          </a:p>
        </p:txBody>
      </p:sp>
      <p:sp>
        <p:nvSpPr>
          <p:cNvPr id="19" name="Text 16"/>
          <p:cNvSpPr/>
          <p:nvPr/>
        </p:nvSpPr>
        <p:spPr>
          <a:xfrm>
            <a:off x="4498848"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 tutor cannot say how well the learner reasoned against any framework.</a:t>
            </a:r>
            <a:endParaRPr lang="en-US" sz="1500" dirty="0"/>
          </a:p>
        </p:txBody>
      </p:sp>
      <p:sp>
        <p:nvSpPr>
          <p:cNvPr id="20" name="Shape 17"/>
          <p:cNvSpPr/>
          <p:nvPr/>
        </p:nvSpPr>
        <p:spPr>
          <a:xfrm>
            <a:off x="8037576" y="1645920"/>
            <a:ext cx="3547872" cy="2514600"/>
          </a:xfrm>
          <a:prstGeom prst="roundRect">
            <a:avLst>
              <a:gd name="adj" fmla="val 3636"/>
            </a:avLst>
          </a:prstGeom>
          <a:solidFill>
            <a:srgbClr val="F7F9FB"/>
          </a:solidFill>
          <a:ln w="12700">
            <a:solidFill>
              <a:srgbClr val="CBD5E1"/>
            </a:solidFill>
            <a:prstDash val="solid"/>
          </a:ln>
        </p:spPr>
      </p:sp>
      <p:sp>
        <p:nvSpPr>
          <p:cNvPr id="21" name="Shape 18"/>
          <p:cNvSpPr/>
          <p:nvPr/>
        </p:nvSpPr>
        <p:spPr>
          <a:xfrm>
            <a:off x="8266176" y="1828800"/>
            <a:ext cx="530352" cy="530352"/>
          </a:xfrm>
          <a:prstGeom prst="ellipse">
            <a:avLst/>
          </a:prstGeom>
          <a:solidFill>
            <a:srgbClr val="7A6E3C"/>
          </a:solidFill>
          <a:ln w="12700">
            <a:solidFill>
              <a:srgbClr val="7A6E3C"/>
            </a:solidFill>
            <a:prstDash val="solid"/>
          </a:ln>
        </p:spPr>
      </p:sp>
      <p:sp>
        <p:nvSpPr>
          <p:cNvPr id="22" name="Text 19"/>
          <p:cNvSpPr/>
          <p:nvPr/>
        </p:nvSpPr>
        <p:spPr>
          <a:xfrm>
            <a:off x="8266176" y="1828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514600"/>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Poor experience</a:t>
            </a:r>
            <a:endParaRPr lang="en-US" sz="2000" dirty="0"/>
          </a:p>
        </p:txBody>
      </p:sp>
      <p:sp>
        <p:nvSpPr>
          <p:cNvPr id="24" name="Text 21"/>
          <p:cNvSpPr/>
          <p:nvPr/>
        </p:nvSpPr>
        <p:spPr>
          <a:xfrm>
            <a:off x="8266176" y="3017520"/>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It repeated questions, forgot answers, ignored frustration and never said when it would end.</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sp>
      <p:sp>
        <p:nvSpPr>
          <p:cNvPr id="26" name="Text 23"/>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BFD7E6"/>
                </a:solidFill>
                <a:latin typeface="Arial" pitchFamily="34" charset="0"/>
                <a:ea typeface="Arial" pitchFamily="34" charset="-122"/>
                <a:cs typeface="Arial" pitchFamily="34" charset="-120"/>
              </a:rPr>
              <a:t>Real tester messages:  </a:t>
            </a:r>
            <a:pPr indent="0" marL="0">
              <a:spcAft>
                <a:spcPts val="800"/>
              </a:spcAft>
              <a:buNone/>
            </a:pPr>
            <a:r>
              <a:rPr lang="en-US" sz="1600" i="1" dirty="0">
                <a:solidFill>
                  <a:srgbClr val="FFFFFF"/>
                </a:solidFill>
                <a:latin typeface="Arial" pitchFamily="34" charset="0"/>
                <a:ea typeface="Arial" pitchFamily="34" charset="-122"/>
                <a:cs typeface="Arial" pitchFamily="34" charset="-120"/>
              </a:rPr>
              <a:t>"bro i explained this before"  and  "you are asking way too much follow up questions"</a:t>
            </a:r>
            <a:endParaRPr lang="en-US" sz="1600" dirty="0"/>
          </a:p>
          <a:p>
            <a:pPr indent="0" marL="0">
              <a:spcAft>
                <a:spcPts val="800"/>
              </a:spcAft>
              <a:buNone/>
            </a:pPr>
            <a:r>
              <a:rPr lang="en-US" sz="1600" dirty="0">
                <a:solidFill>
                  <a:srgbClr val="FFFFFF"/>
                </a:solidFill>
                <a:latin typeface="Arial" pitchFamily="34" charset="0"/>
                <a:ea typeface="Arial" pitchFamily="34" charset="-122"/>
                <a:cs typeface="Arial" pitchFamily="34" charset="-120"/>
              </a:rPr>
              <a:t>So a single Socratic prompt is not enough. The tutor needs a structured ladder, a separate assessor, memory, and a clear goal, progress and end.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170432"/>
            <a:ext cx="603504" cy="603504"/>
          </a:xfrm>
          <a:prstGeom prst="ellipse">
            <a:avLst/>
          </a:prstGeom>
          <a:solidFill>
            <a:srgbClr val="07517A"/>
          </a:solidFill>
          <a:ln w="12700">
            <a:solidFill>
              <a:srgbClr val="07517A"/>
            </a:solidFill>
            <a:prstDash val="solid"/>
          </a:ln>
        </p:spPr>
      </p:sp>
      <p:sp>
        <p:nvSpPr>
          <p:cNvPr id="10" name="Text 7"/>
          <p:cNvSpPr/>
          <p:nvPr/>
        </p:nvSpPr>
        <p:spPr>
          <a:xfrm>
            <a:off x="594360" y="1170432"/>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1" name="Shape 8"/>
          <p:cNvSpPr/>
          <p:nvPr/>
        </p:nvSpPr>
        <p:spPr>
          <a:xfrm>
            <a:off x="1417320" y="1097280"/>
            <a:ext cx="10271455" cy="786384"/>
          </a:xfrm>
          <a:prstGeom prst="roundRect">
            <a:avLst>
              <a:gd name="adj" fmla="val 11628"/>
            </a:avLst>
          </a:prstGeom>
          <a:solidFill>
            <a:srgbClr val="F7F9FB"/>
          </a:solidFill>
          <a:ln w="12700">
            <a:solidFill>
              <a:srgbClr val="CBD5E1"/>
            </a:solidFill>
            <a:prstDash val="solid"/>
          </a:ln>
        </p:spPr>
      </p:sp>
      <p:sp>
        <p:nvSpPr>
          <p:cNvPr id="12" name="Text 9"/>
          <p:cNvSpPr/>
          <p:nvPr/>
        </p:nvSpPr>
        <p:spPr>
          <a:xfrm>
            <a:off x="1645920" y="1097280"/>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design and build Socratic AI, a multi-agent tutoring prototype that teaches beginners one quant topic through Socratic dialogue.</a:t>
            </a:r>
            <a:endParaRPr lang="en-US" sz="1600" dirty="0"/>
          </a:p>
        </p:txBody>
      </p:sp>
      <p:sp>
        <p:nvSpPr>
          <p:cNvPr id="13" name="Shape 10"/>
          <p:cNvSpPr/>
          <p:nvPr/>
        </p:nvSpPr>
        <p:spPr>
          <a:xfrm>
            <a:off x="594360" y="2194560"/>
            <a:ext cx="603504" cy="603504"/>
          </a:xfrm>
          <a:prstGeom prst="ellipse">
            <a:avLst/>
          </a:prstGeom>
          <a:solidFill>
            <a:srgbClr val="07517A"/>
          </a:solidFill>
          <a:ln w="12700">
            <a:solidFill>
              <a:srgbClr val="07517A"/>
            </a:solidFill>
            <a:prstDash val="solid"/>
          </a:ln>
        </p:spPr>
      </p:sp>
      <p:sp>
        <p:nvSpPr>
          <p:cNvPr id="14" name="Text 11"/>
          <p:cNvSpPr/>
          <p:nvPr/>
        </p:nvSpPr>
        <p:spPr>
          <a:xfrm>
            <a:off x="594360" y="2194560"/>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Shape 12"/>
          <p:cNvSpPr/>
          <p:nvPr/>
        </p:nvSpPr>
        <p:spPr>
          <a:xfrm>
            <a:off x="1417320" y="2121408"/>
            <a:ext cx="10271455" cy="786384"/>
          </a:xfrm>
          <a:prstGeom prst="roundRect">
            <a:avLst>
              <a:gd name="adj" fmla="val 11628"/>
            </a:avLst>
          </a:prstGeom>
          <a:solidFill>
            <a:srgbClr val="F7F9FB"/>
          </a:solidFill>
          <a:ln w="12700">
            <a:solidFill>
              <a:srgbClr val="CBD5E1"/>
            </a:solidFill>
            <a:prstDash val="solid"/>
          </a:ln>
        </p:spPr>
      </p:sp>
      <p:sp>
        <p:nvSpPr>
          <p:cNvPr id="16" name="Text 13"/>
          <p:cNvSpPr/>
          <p:nvPr/>
        </p:nvSpPr>
        <p:spPr>
          <a:xfrm>
            <a:off x="1645920" y="2121408"/>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guide the tutor through six levels of Socratic questioning, and to assess the learner with the nine intellectual standards.</a:t>
            </a:r>
            <a:endParaRPr lang="en-US" sz="1600" dirty="0"/>
          </a:p>
        </p:txBody>
      </p:sp>
      <p:sp>
        <p:nvSpPr>
          <p:cNvPr id="17" name="Shape 14"/>
          <p:cNvSpPr/>
          <p:nvPr/>
        </p:nvSpPr>
        <p:spPr>
          <a:xfrm>
            <a:off x="594360" y="3218688"/>
            <a:ext cx="603504" cy="603504"/>
          </a:xfrm>
          <a:prstGeom prst="ellipse">
            <a:avLst/>
          </a:prstGeom>
          <a:solidFill>
            <a:srgbClr val="7A6E3C"/>
          </a:solidFill>
          <a:ln w="12700">
            <a:solidFill>
              <a:srgbClr val="7A6E3C"/>
            </a:solidFill>
            <a:prstDash val="solid"/>
          </a:ln>
        </p:spPr>
      </p:sp>
      <p:sp>
        <p:nvSpPr>
          <p:cNvPr id="18" name="Text 15"/>
          <p:cNvSpPr/>
          <p:nvPr/>
        </p:nvSpPr>
        <p:spPr>
          <a:xfrm>
            <a:off x="594360" y="3218688"/>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9" name="Shape 16"/>
          <p:cNvSpPr/>
          <p:nvPr/>
        </p:nvSpPr>
        <p:spPr>
          <a:xfrm>
            <a:off x="1417320" y="3145536"/>
            <a:ext cx="10271455" cy="786384"/>
          </a:xfrm>
          <a:prstGeom prst="roundRect">
            <a:avLst>
              <a:gd name="adj" fmla="val 11628"/>
            </a:avLst>
          </a:prstGeom>
          <a:solidFill>
            <a:srgbClr val="F3EEDC"/>
          </a:solidFill>
          <a:ln w="12700">
            <a:solidFill>
              <a:srgbClr val="F3EEDC"/>
            </a:solidFill>
            <a:prstDash val="solid"/>
          </a:ln>
        </p:spPr>
      </p:sp>
      <p:sp>
        <p:nvSpPr>
          <p:cNvPr id="20" name="Text 17"/>
          <p:cNvSpPr/>
          <p:nvPr/>
        </p:nvSpPr>
        <p:spPr>
          <a:xfrm>
            <a:off x="1645920" y="3145536"/>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show which type of reasoning (inductive, deductive, abductive) and which types of knowledge the learner used, measured over many questions.</a:t>
            </a:r>
            <a:endParaRPr lang="en-US" sz="1600" dirty="0"/>
          </a:p>
        </p:txBody>
      </p:sp>
      <p:sp>
        <p:nvSpPr>
          <p:cNvPr id="21" name="Shape 18"/>
          <p:cNvSpPr/>
          <p:nvPr/>
        </p:nvSpPr>
        <p:spPr>
          <a:xfrm>
            <a:off x="594360" y="4242816"/>
            <a:ext cx="603504" cy="603504"/>
          </a:xfrm>
          <a:prstGeom prst="ellipse">
            <a:avLst/>
          </a:prstGeom>
          <a:solidFill>
            <a:srgbClr val="07517A"/>
          </a:solidFill>
          <a:ln w="12700">
            <a:solidFill>
              <a:srgbClr val="07517A"/>
            </a:solidFill>
            <a:prstDash val="solid"/>
          </a:ln>
        </p:spPr>
      </p:sp>
      <p:sp>
        <p:nvSpPr>
          <p:cNvPr id="22" name="Text 19"/>
          <p:cNvSpPr/>
          <p:nvPr/>
        </p:nvSpPr>
        <p:spPr>
          <a:xfrm>
            <a:off x="594360" y="4242816"/>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3" name="Shape 20"/>
          <p:cNvSpPr/>
          <p:nvPr/>
        </p:nvSpPr>
        <p:spPr>
          <a:xfrm>
            <a:off x="1417320" y="4169664"/>
            <a:ext cx="10271455" cy="786384"/>
          </a:xfrm>
          <a:prstGeom prst="roundRect">
            <a:avLst>
              <a:gd name="adj" fmla="val 11628"/>
            </a:avLst>
          </a:prstGeom>
          <a:solidFill>
            <a:srgbClr val="F7F9FB"/>
          </a:solidFill>
          <a:ln w="12700">
            <a:solidFill>
              <a:srgbClr val="CBD5E1"/>
            </a:solidFill>
            <a:prstDash val="solid"/>
          </a:ln>
        </p:spPr>
      </p:sp>
      <p:sp>
        <p:nvSpPr>
          <p:cNvPr id="24" name="Text 21"/>
          <p:cNvSpPr/>
          <p:nvPr/>
        </p:nvSpPr>
        <p:spPr>
          <a:xfrm>
            <a:off x="1645920" y="4169664"/>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adapt the difficulty and support to each learner, with a clear goal, feedback after each answer and a progress view.</a:t>
            </a:r>
            <a:endParaRPr lang="en-US" sz="1600" dirty="0"/>
          </a:p>
        </p:txBody>
      </p:sp>
      <p:sp>
        <p:nvSpPr>
          <p:cNvPr id="25" name="Shape 22"/>
          <p:cNvSpPr/>
          <p:nvPr/>
        </p:nvSpPr>
        <p:spPr>
          <a:xfrm>
            <a:off x="594360" y="5266944"/>
            <a:ext cx="603504" cy="603504"/>
          </a:xfrm>
          <a:prstGeom prst="ellipse">
            <a:avLst/>
          </a:prstGeom>
          <a:solidFill>
            <a:srgbClr val="07517A"/>
          </a:solidFill>
          <a:ln w="12700">
            <a:solidFill>
              <a:srgbClr val="07517A"/>
            </a:solidFill>
            <a:prstDash val="solid"/>
          </a:ln>
        </p:spPr>
      </p:sp>
      <p:sp>
        <p:nvSpPr>
          <p:cNvPr id="26" name="Text 23"/>
          <p:cNvSpPr/>
          <p:nvPr/>
        </p:nvSpPr>
        <p:spPr>
          <a:xfrm>
            <a:off x="594360" y="5266944"/>
            <a:ext cx="603504" cy="603504"/>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27" name="Shape 24"/>
          <p:cNvSpPr/>
          <p:nvPr/>
        </p:nvSpPr>
        <p:spPr>
          <a:xfrm>
            <a:off x="1417320" y="5193792"/>
            <a:ext cx="10271455" cy="786384"/>
          </a:xfrm>
          <a:prstGeom prst="roundRect">
            <a:avLst>
              <a:gd name="adj" fmla="val 11628"/>
            </a:avLst>
          </a:prstGeom>
          <a:solidFill>
            <a:srgbClr val="F7F9FB"/>
          </a:solidFill>
          <a:ln w="12700">
            <a:solidFill>
              <a:srgbClr val="CBD5E1"/>
            </a:solidFill>
            <a:prstDash val="solid"/>
          </a:ln>
        </p:spPr>
      </p:sp>
      <p:sp>
        <p:nvSpPr>
          <p:cNvPr id="28" name="Text 25"/>
          <p:cNvSpPr/>
          <p:nvPr/>
        </p:nvSpPr>
        <p:spPr>
          <a:xfrm>
            <a:off x="1645920" y="5193792"/>
            <a:ext cx="9814255" cy="786384"/>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To evaluate the prototype against the baseline tutors from early testing.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sp>
      <p:sp>
        <p:nvSpPr>
          <p:cNvPr id="10" name="Text 7"/>
          <p:cNvSpPr/>
          <p:nvPr/>
        </p:nvSpPr>
        <p:spPr>
          <a:xfrm>
            <a:off x="1965960"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sp>
      <p:sp>
        <p:nvSpPr>
          <p:cNvPr id="13" name="Text 10"/>
          <p:cNvSpPr/>
          <p:nvPr/>
        </p:nvSpPr>
        <p:spPr>
          <a:xfrm>
            <a:off x="731520"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Telling a real pattern in data from luck, for beginners, with no complex machine learning. Three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sp>
      <p:sp>
        <p:nvSpPr>
          <p:cNvPr id="16" name="Text 13"/>
          <p:cNvSpPr/>
          <p:nvPr/>
        </p:nvSpPr>
        <p:spPr>
          <a:xfrm>
            <a:off x="5733288"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sp>
      <p:sp>
        <p:nvSpPr>
          <p:cNvPr id="19" name="Text 16"/>
          <p:cNvSpPr/>
          <p:nvPr/>
        </p:nvSpPr>
        <p:spPr>
          <a:xfrm>
            <a:off x="4498848"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on the free Gemini model.</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sp>
      <p:sp>
        <p:nvSpPr>
          <p:cNvPr id="22" name="Text 19"/>
          <p:cNvSpPr/>
          <p:nvPr/>
        </p:nvSpPr>
        <p:spPr>
          <a:xfrm>
            <a:off x="9500616"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sp>
      <p:sp>
        <p:nvSpPr>
          <p:cNvPr id="25" name="Text 22"/>
          <p:cNvSpPr/>
          <p:nvPr/>
        </p:nvSpPr>
        <p:spPr>
          <a:xfrm>
            <a:off x="8266176"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sp>
      <p:sp>
        <p:nvSpPr>
          <p:cNvPr id="28" name="Text 25"/>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pPr indent="0" marL="0">
              <a:spcAft>
                <a:spcPts val="800"/>
              </a:spcAft>
              <a:buNone/>
            </a:pP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indent="0" marL="0">
              <a:spcAft>
                <a:spcPts val="800"/>
              </a:spcAft>
              <a:buNone/>
            </a:pPr>
            <a:r>
              <a:rPr lang="en-US" sz="1600" b="1" dirty="0">
                <a:solidFill>
                  <a:srgbClr val="111827"/>
                </a:solidFill>
                <a:latin typeface="Arial" pitchFamily="34" charset="0"/>
                <a:ea typeface="Arial" pitchFamily="34" charset="-122"/>
                <a:cs typeface="Arial" pitchFamily="34" charset="-120"/>
              </a:rPr>
              <a:t>Future work, outside FYP: </a:t>
            </a:r>
            <a:pPr indent="0" marL="0">
              <a:spcAft>
                <a:spcPts val="800"/>
              </a:spcAft>
              <a:buNone/>
            </a:pPr>
            <a:r>
              <a:rPr lang="en-US" sz="1600" dirty="0">
                <a:solidFill>
                  <a:srgbClr val="111827"/>
                </a:solidFill>
                <a:latin typeface="Arial" pitchFamily="34" charset="0"/>
                <a:ea typeface="Arial" pitchFamily="34" charset="-122"/>
                <a:cs typeface="Arial" pitchFamily="34" charset="-120"/>
              </a:rPr>
              <a:t>a second topic, real reading material with retrieval (RAG) [15], knowledge graphs,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103120"/>
                <a:gridCol w="685800"/>
                <a:gridCol w="3840480"/>
                <a:gridCol w="3657600"/>
                <a:gridCol w="896112"/>
              </a:tblGrid>
              <a:tr h="58521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Case notes now; real RAG and knowledge graphs are future 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[15], [19]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Future: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[21], [22]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Based on the supervisor's course slides [16], [23] and the DeepLearning.AI short courses he recommended [24].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240280"/>
                <a:gridCol w="594360"/>
                <a:gridCol w="3063240"/>
                <a:gridCol w="2377440"/>
                <a:gridCol w="2377440"/>
                <a:gridCol w="530352"/>
              </a:tblGrid>
              <a:tr h="7863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1920240"/>
                <a:gridCol w="640080"/>
                <a:gridCol w="2651760"/>
                <a:gridCol w="3291840"/>
                <a:gridCol w="2148840"/>
                <a:gridCol w="530352"/>
              </a:tblGrid>
              <a:tr h="62179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3291840"/>
                <a:gridCol w="1463040"/>
                <a:gridCol w="1463040"/>
                <a:gridCol w="1965960"/>
                <a:gridCol w="1508760"/>
                <a:gridCol w="1490472"/>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indent="0" marL="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sp>
      <p:sp>
        <p:nvSpPr>
          <p:cNvPr id="10" name="Text 7"/>
          <p:cNvSpPr/>
          <p:nvPr/>
        </p:nvSpPr>
        <p:spPr>
          <a:xfrm>
            <a:off x="777240"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use can reduce critical thinking effort, and current tutors are mostly answer machines.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are promising, but their questions have no principled ladder.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Reasoning is rarely measured against a defined framework, and evidence is mostly self-reported.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learner which type of reasoning or knowledge they used.</a:t>
            </a:r>
            <a:endParaRPr lang="en-US" sz="1600" dirty="0"/>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sp>
      <p:sp>
        <p:nvSpPr>
          <p:cNvPr id="13" name="Text 10"/>
          <p:cNvSpPr/>
          <p:nvPr/>
        </p:nvSpPr>
        <p:spPr>
          <a:xfrm>
            <a:off x="6530188"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questions climb in a set order.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every answer against the nine standards, with evidence, so it can be checked against human markers.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Plain-code rules guard every AI decision, so steps are fair and testable ("agents decide, rules guard").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add reasoning type and knowledge type, measured over many questions.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sp>
      <p:sp>
        <p:nvSpPr>
          <p:cNvPr id="11" name="Text 8"/>
          <p:cNvSpPr/>
          <p:nvPr/>
        </p:nvSpPr>
        <p:spPr>
          <a:xfrm>
            <a:off x="594360"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sp>
      <p:sp>
        <p:nvSpPr>
          <p:cNvPr id="13" name="Text 10"/>
          <p:cNvSpPr/>
          <p:nvPr/>
        </p:nvSpPr>
        <p:spPr>
          <a:xfrm>
            <a:off x="594360"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sp>
      <p:sp>
        <p:nvSpPr>
          <p:cNvPr id="16" name="Text 13"/>
          <p:cNvSpPr/>
          <p:nvPr/>
        </p:nvSpPr>
        <p:spPr>
          <a:xfrm>
            <a:off x="2258568"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sp>
      <p:sp>
        <p:nvSpPr>
          <p:cNvPr id="18" name="Text 15"/>
          <p:cNvSpPr/>
          <p:nvPr/>
        </p:nvSpPr>
        <p:spPr>
          <a:xfrm>
            <a:off x="2258568"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sp>
      <p:sp>
        <p:nvSpPr>
          <p:cNvPr id="21" name="Text 18"/>
          <p:cNvSpPr/>
          <p:nvPr/>
        </p:nvSpPr>
        <p:spPr>
          <a:xfrm>
            <a:off x="3922776"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sp>
      <p:sp>
        <p:nvSpPr>
          <p:cNvPr id="23" name="Text 20"/>
          <p:cNvSpPr/>
          <p:nvPr/>
        </p:nvSpPr>
        <p:spPr>
          <a:xfrm>
            <a:off x="3922776"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sp>
      <p:sp>
        <p:nvSpPr>
          <p:cNvPr id="26" name="Text 23"/>
          <p:cNvSpPr/>
          <p:nvPr/>
        </p:nvSpPr>
        <p:spPr>
          <a:xfrm>
            <a:off x="5586984"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sp>
      <p:sp>
        <p:nvSpPr>
          <p:cNvPr id="28" name="Text 25"/>
          <p:cNvSpPr/>
          <p:nvPr/>
        </p:nvSpPr>
        <p:spPr>
          <a:xfrm>
            <a:off x="5586984"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sp>
      <p:sp>
        <p:nvSpPr>
          <p:cNvPr id="31" name="Text 28"/>
          <p:cNvSpPr/>
          <p:nvPr/>
        </p:nvSpPr>
        <p:spPr>
          <a:xfrm>
            <a:off x="7251192"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sp>
      <p:sp>
        <p:nvSpPr>
          <p:cNvPr id="33" name="Text 30"/>
          <p:cNvSpPr/>
          <p:nvPr/>
        </p:nvSpPr>
        <p:spPr>
          <a:xfrm>
            <a:off x="7251192"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sp>
      <p:sp>
        <p:nvSpPr>
          <p:cNvPr id="36" name="Text 33"/>
          <p:cNvSpPr/>
          <p:nvPr/>
        </p:nvSpPr>
        <p:spPr>
          <a:xfrm>
            <a:off x="640080"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sp>
      <p:sp>
        <p:nvSpPr>
          <p:cNvPr id="38" name="Text 35"/>
          <p:cNvSpPr/>
          <p:nvPr/>
        </p:nvSpPr>
        <p:spPr>
          <a:xfrm>
            <a:off x="3493008"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sp>
      <p:sp>
        <p:nvSpPr>
          <p:cNvPr id="40" name="Text 37"/>
          <p:cNvSpPr/>
          <p:nvPr/>
        </p:nvSpPr>
        <p:spPr>
          <a:xfrm>
            <a:off x="6345936"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sp>
      <p:sp>
        <p:nvSpPr>
          <p:cNvPr id="42" name="Text 39"/>
          <p:cNvSpPr/>
          <p:nvPr/>
        </p:nvSpPr>
        <p:spPr>
          <a:xfrm>
            <a:off x="640080"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sp>
      <p:sp>
        <p:nvSpPr>
          <p:cNvPr id="44" name="Text 41"/>
          <p:cNvSpPr/>
          <p:nvPr/>
        </p:nvSpPr>
        <p:spPr>
          <a:xfrm>
            <a:off x="3493008"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sp>
      <p:sp>
        <p:nvSpPr>
          <p:cNvPr id="46" name="Text 43"/>
          <p:cNvSpPr/>
          <p:nvPr/>
        </p:nvSpPr>
        <p:spPr>
          <a:xfrm>
            <a:off x="6345936"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sp>
      <p:sp>
        <p:nvSpPr>
          <p:cNvPr id="48" name="Text 45"/>
          <p:cNvSpPr/>
          <p:nvPr/>
        </p:nvSpPr>
        <p:spPr>
          <a:xfrm>
            <a:off x="640080"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sp>
      <p:sp>
        <p:nvSpPr>
          <p:cNvPr id="50" name="Text 47"/>
          <p:cNvSpPr/>
          <p:nvPr/>
        </p:nvSpPr>
        <p:spPr>
          <a:xfrm>
            <a:off x="3493008"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sp>
      <p:sp>
        <p:nvSpPr>
          <p:cNvPr id="52" name="Text 49"/>
          <p:cNvSpPr/>
          <p:nvPr/>
        </p:nvSpPr>
        <p:spPr>
          <a:xfrm>
            <a:off x="6345936"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sp>
      <p:sp>
        <p:nvSpPr>
          <p:cNvPr id="54" name="Text 51"/>
          <p:cNvSpPr/>
          <p:nvPr/>
        </p:nvSpPr>
        <p:spPr>
          <a:xfrm>
            <a:off x="9509760" y="1280160"/>
            <a:ext cx="2041855" cy="4846320"/>
          </a:xfrm>
          <a:prstGeom prst="rect">
            <a:avLst/>
          </a:prstGeom>
          <a:noFill/>
          <a:ln/>
        </p:spPr>
        <p:txBody>
          <a:bodyPr wrap="square" lIns="0" tIns="0" rIns="0" bIns="0" rtlCol="0" anchor="t"/>
          <a:lstStyle/>
          <a:p>
            <a:pPr indent="0" marL="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Gemini 3.5 Flash Lite (free tier)</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indent="0" marL="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48056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C:\Users\eizma\AppData\Local\Temp\claude\c--Users-eizma-Desktop-socratic-ai\1d6c8d6d-fece-4855-be96-8b6833d2ef11\scratchpad\fig_utp\agent_flow.png">    </p:cNvPr>
          <p:cNvPicPr>
            <a:picLocks noChangeAspect="1"/>
          </p:cNvPicPr>
          <p:nvPr/>
        </p:nvPicPr>
        <p:blipFill>
          <a:blip r:embed="rId2"/>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sp>
      <p:sp>
        <p:nvSpPr>
          <p:cNvPr id="13" name="Text 9"/>
          <p:cNvSpPr/>
          <p:nvPr/>
        </p:nvSpPr>
        <p:spPr>
          <a:xfrm>
            <a:off x="5386214" y="15544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Assessor: </a:t>
            </a:r>
            <a:pPr indent="0" marL="0">
              <a:buNone/>
            </a:pP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sp>
      <p:sp>
        <p:nvSpPr>
          <p:cNvPr id="16" name="Text 12"/>
          <p:cNvSpPr/>
          <p:nvPr/>
        </p:nvSpPr>
        <p:spPr>
          <a:xfrm>
            <a:off x="5386214" y="22860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Planner: </a:t>
            </a:r>
            <a:pPr indent="0" marL="0">
              <a:buNone/>
            </a:pP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sp>
      <p:sp>
        <p:nvSpPr>
          <p:cNvPr id="19" name="Text 15"/>
          <p:cNvSpPr/>
          <p:nvPr/>
        </p:nvSpPr>
        <p:spPr>
          <a:xfrm>
            <a:off x="5386214" y="30175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Rules (code): </a:t>
            </a:r>
            <a:pPr indent="0" marL="0">
              <a:buNone/>
            </a:pP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sp>
      <p:sp>
        <p:nvSpPr>
          <p:cNvPr id="22" name="Text 18"/>
          <p:cNvSpPr/>
          <p:nvPr/>
        </p:nvSpPr>
        <p:spPr>
          <a:xfrm>
            <a:off x="5386214" y="374904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Tutor: </a:t>
            </a:r>
            <a:pPr indent="0" marL="0">
              <a:buNone/>
            </a:pP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sp>
      <p:sp>
        <p:nvSpPr>
          <p:cNvPr id="25" name="Text 21"/>
          <p:cNvSpPr/>
          <p:nvPr/>
        </p:nvSpPr>
        <p:spPr>
          <a:xfrm>
            <a:off x="5386214" y="44805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Checker: </a:t>
            </a:r>
            <a:pPr indent="0" marL="0">
              <a:buNone/>
            </a:pP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sp>
      <p:sp>
        <p:nvSpPr>
          <p:cNvPr id="28" name="Text 24"/>
          <p:cNvSpPr/>
          <p:nvPr/>
        </p:nvSpPr>
        <p:spPr>
          <a:xfrm>
            <a:off x="5386214" y="52120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Coach: </a:t>
            </a:r>
            <a:pPr indent="0" marL="0">
              <a:buNone/>
            </a:pP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32918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2_reading.png">    </p:cNvPr>
          <p:cNvPicPr>
            <a:picLocks noChangeAspect="1"/>
          </p:cNvPicPr>
          <p:nvPr/>
        </p:nvPicPr>
        <p:blipFill>
          <a:blip r:embed="rId2"/>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sp>
      <p:pic>
        <p:nvPicPr>
          <p:cNvPr id="14" name="Image 2" descr="C:\Users\eizma\AppData\Local\Temp\claude\c--Users-eizma-Desktop-socratic-ai\1d6c8d6d-fece-4855-be96-8b6833d2ef11\scratchpad\shots\04_chat.png">    </p:cNvPr>
          <p:cNvPicPr>
            <a:picLocks noChangeAspect="1"/>
          </p:cNvPicPr>
          <p:nvPr/>
        </p:nvPicPr>
        <p:blipFill>
          <a:blip r:embed="rId3"/>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sp>
      <p:sp>
        <p:nvSpPr>
          <p:cNvPr id="18" name="Text 13"/>
          <p:cNvSpPr/>
          <p:nvPr/>
        </p:nvSpPr>
        <p:spPr>
          <a:xfrm>
            <a:off x="50292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sp>
      <p:sp>
        <p:nvSpPr>
          <p:cNvPr id="20" name="Text 15"/>
          <p:cNvSpPr/>
          <p:nvPr/>
        </p:nvSpPr>
        <p:spPr>
          <a:xfrm>
            <a:off x="2386584"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sp>
      <p:sp>
        <p:nvSpPr>
          <p:cNvPr id="22" name="Text 17"/>
          <p:cNvSpPr/>
          <p:nvPr/>
        </p:nvSpPr>
        <p:spPr>
          <a:xfrm>
            <a:off x="4270248"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sp>
      <p:sp>
        <p:nvSpPr>
          <p:cNvPr id="24" name="Text 19"/>
          <p:cNvSpPr/>
          <p:nvPr/>
        </p:nvSpPr>
        <p:spPr>
          <a:xfrm>
            <a:off x="6153912"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sp>
      <p:sp>
        <p:nvSpPr>
          <p:cNvPr id="26" name="Text 21"/>
          <p:cNvSpPr/>
          <p:nvPr/>
        </p:nvSpPr>
        <p:spPr>
          <a:xfrm>
            <a:off x="8037576"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sp>
      <p:sp>
        <p:nvSpPr>
          <p:cNvPr id="28" name="Text 23"/>
          <p:cNvSpPr/>
          <p:nvPr/>
        </p:nvSpPr>
        <p:spPr>
          <a:xfrm>
            <a:off x="992124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51206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pic>
        <p:nvPicPr>
          <p:cNvPr id="11" name="Image 1" descr="C:\Users\eizma\AppData\Local\Temp\claude\c--Users-eizma-Desktop-socratic-ai\1d6c8d6d-fece-4855-be96-8b6833d2ef11\scratchpad\fig_utp\framework.png">    </p:cNvPr>
          <p:cNvPicPr>
            <a:picLocks noChangeAspect="1"/>
          </p:cNvPicPr>
          <p:nvPr/>
        </p:nvPicPr>
        <p:blipFill>
          <a:blip r:embed="rId2"/>
          <a:stretch>
            <a:fillRect/>
          </a:stretch>
        </p:blipFill>
        <p:spPr>
          <a:xfrm>
            <a:off x="502920" y="1508760"/>
            <a:ext cx="6675120" cy="4477747"/>
          </a:xfrm>
          <a:prstGeom prst="rect">
            <a:avLst/>
          </a:prstGeom>
        </p:spPr>
      </p:pic>
      <p:sp>
        <p:nvSpPr>
          <p:cNvPr id="12" name="Text 8"/>
          <p:cNvSpPr/>
          <p:nvPr/>
        </p:nvSpPr>
        <p:spPr>
          <a:xfrm>
            <a:off x="7452360" y="1554480"/>
            <a:ext cx="4236415" cy="42062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Knowledge layer: each case note tagged with its type of knowledge; an agent drafts a knowledge graph</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Reasoning agent: 1 or 0 for inductive, deductive and abductive reasoning and each knowledge type, with evidence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Question bank: several questions per skill, so there are enough trials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Statistics: share of 1s and Hamming distance per learner [14]; factor analysis across learners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Explainer agent: a plain scenario on why a skill matters</a:t>
            </a:r>
            <a:endParaRPr lang="en-US" sz="1400" dirty="0"/>
          </a:p>
        </p:txBody>
      </p:sp>
      <p:sp>
        <p:nvSpPr>
          <p:cNvPr id="13" name="Text 9"/>
          <p:cNvSpPr/>
          <p:nvPr/>
        </p:nvSpPr>
        <p:spPr>
          <a:xfrm>
            <a:off x="502920" y="5943600"/>
            <a:ext cx="11185855" cy="365760"/>
          </a:xfrm>
          <a:prstGeom prst="rect">
            <a:avLst/>
          </a:prstGeom>
          <a:noFill/>
          <a:ln/>
        </p:spPr>
        <p:txBody>
          <a:bodyPr wrap="square" lIns="0" tIns="0" rIns="0" bIns="0" rtlCol="0" anchor="ctr"/>
          <a:lstStyle/>
          <a:p>
            <a:pPr indent="0" marL="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292608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sp>
      <p:sp>
        <p:nvSpPr>
          <p:cNvPr id="13" name="Text 10"/>
          <p:cNvSpPr/>
          <p:nvPr/>
        </p:nvSpPr>
        <p:spPr>
          <a:xfrm>
            <a:off x="73152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Text 11"/>
          <p:cNvSpPr/>
          <p:nvPr/>
        </p:nvSpPr>
        <p:spPr>
          <a:xfrm>
            <a:off x="141732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5" name="Text 12"/>
          <p:cNvSpPr/>
          <p:nvPr/>
        </p:nvSpPr>
        <p:spPr>
          <a:xfrm>
            <a:off x="73152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6" name="Shape 13"/>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sp>
      <p:sp>
        <p:nvSpPr>
          <p:cNvPr id="17" name="Shape 14"/>
          <p:cNvSpPr/>
          <p:nvPr/>
        </p:nvSpPr>
        <p:spPr>
          <a:xfrm>
            <a:off x="6400800" y="1783080"/>
            <a:ext cx="530352" cy="530352"/>
          </a:xfrm>
          <a:prstGeom prst="ellipse">
            <a:avLst/>
          </a:prstGeom>
          <a:solidFill>
            <a:srgbClr val="07517A"/>
          </a:solidFill>
          <a:ln w="12700">
            <a:solidFill>
              <a:srgbClr val="07517A"/>
            </a:solidFill>
            <a:prstDash val="solid"/>
          </a:ln>
        </p:spPr>
      </p:sp>
      <p:sp>
        <p:nvSpPr>
          <p:cNvPr id="18" name="Text 15"/>
          <p:cNvSpPr/>
          <p:nvPr/>
        </p:nvSpPr>
        <p:spPr>
          <a:xfrm>
            <a:off x="640080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9" name="Text 16"/>
          <p:cNvSpPr/>
          <p:nvPr/>
        </p:nvSpPr>
        <p:spPr>
          <a:xfrm>
            <a:off x="7086600" y="178308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0" name="Text 17"/>
          <p:cNvSpPr/>
          <p:nvPr/>
        </p:nvSpPr>
        <p:spPr>
          <a:xfrm>
            <a:off x="640080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1" name="Shape 18"/>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sp>
      <p:sp>
        <p:nvSpPr>
          <p:cNvPr id="22" name="Shape 19"/>
          <p:cNvSpPr/>
          <p:nvPr/>
        </p:nvSpPr>
        <p:spPr>
          <a:xfrm>
            <a:off x="731520" y="4160520"/>
            <a:ext cx="530352" cy="530352"/>
          </a:xfrm>
          <a:prstGeom prst="ellipse">
            <a:avLst/>
          </a:prstGeom>
          <a:solidFill>
            <a:srgbClr val="07517A"/>
          </a:solidFill>
          <a:ln w="12700">
            <a:solidFill>
              <a:srgbClr val="07517A"/>
            </a:solidFill>
            <a:prstDash val="solid"/>
          </a:ln>
        </p:spPr>
      </p:sp>
      <p:sp>
        <p:nvSpPr>
          <p:cNvPr id="23" name="Text 20"/>
          <p:cNvSpPr/>
          <p:nvPr/>
        </p:nvSpPr>
        <p:spPr>
          <a:xfrm>
            <a:off x="73152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4" name="Text 21"/>
          <p:cNvSpPr/>
          <p:nvPr/>
        </p:nvSpPr>
        <p:spPr>
          <a:xfrm>
            <a:off x="141732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25" name="Text 22"/>
          <p:cNvSpPr/>
          <p:nvPr/>
        </p:nvSpPr>
        <p:spPr>
          <a:xfrm>
            <a:off x="73152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26" name="Shape 23"/>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sp>
      <p:sp>
        <p:nvSpPr>
          <p:cNvPr id="27" name="Shape 24"/>
          <p:cNvSpPr/>
          <p:nvPr/>
        </p:nvSpPr>
        <p:spPr>
          <a:xfrm>
            <a:off x="6400800" y="4160520"/>
            <a:ext cx="530352" cy="530352"/>
          </a:xfrm>
          <a:prstGeom prst="ellipse">
            <a:avLst/>
          </a:prstGeom>
          <a:solidFill>
            <a:srgbClr val="07517A"/>
          </a:solidFill>
          <a:ln w="12700">
            <a:solidFill>
              <a:srgbClr val="07517A"/>
            </a:solidFill>
            <a:prstDash val="solid"/>
          </a:ln>
        </p:spPr>
      </p:sp>
      <p:sp>
        <p:nvSpPr>
          <p:cNvPr id="28" name="Text 25"/>
          <p:cNvSpPr/>
          <p:nvPr/>
        </p:nvSpPr>
        <p:spPr>
          <a:xfrm>
            <a:off x="640080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9" name="Text 26"/>
          <p:cNvSpPr/>
          <p:nvPr/>
        </p:nvSpPr>
        <p:spPr>
          <a:xfrm>
            <a:off x="7086600" y="4160520"/>
            <a:ext cx="429768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0" name="Text 27"/>
          <p:cNvSpPr/>
          <p:nvPr/>
        </p:nvSpPr>
        <p:spPr>
          <a:xfrm>
            <a:off x="640080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9" name="Image 1" descr="C:\Users\eizma\AppData\Local\Temp\claude\c--Users-eizma-Desktop-socratic-ai\1d6c8d6d-fece-4855-be96-8b6833d2ef11\scratchpad\fig_utp\gantt.png">    </p:cNvPr>
          <p:cNvPicPr>
            <a:picLocks noChangeAspect="1"/>
          </p:cNvPicPr>
          <p:nvPr/>
        </p:nvPicPr>
        <p:blipFill>
          <a:blip r:embed="rId2"/>
          <a:stretch>
            <a:fillRect/>
          </a:stretch>
        </p:blipFill>
        <p:spPr>
          <a:xfrm>
            <a:off x="502920" y="1234440"/>
            <a:ext cx="7955280" cy="3413311"/>
          </a:xfrm>
          <a:prstGeom prst="rect">
            <a:avLst/>
          </a:prstGeom>
        </p:spPr>
      </p:pic>
      <p:sp>
        <p:nvSpPr>
          <p:cNvPr id="10" name="Text 6"/>
          <p:cNvSpPr/>
          <p:nvPr/>
        </p:nvSpPr>
        <p:spPr>
          <a:xfrm>
            <a:off x="8732520" y="1188720"/>
            <a:ext cx="295625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Key Milestones</a:t>
            </a:r>
            <a:endParaRPr lang="en-US" sz="1700" dirty="0"/>
          </a:p>
        </p:txBody>
      </p:sp>
      <p:sp>
        <p:nvSpPr>
          <p:cNvPr id="11" name="Shape 7"/>
          <p:cNvSpPr/>
          <p:nvPr/>
        </p:nvSpPr>
        <p:spPr>
          <a:xfrm>
            <a:off x="8732520" y="1792224"/>
            <a:ext cx="237744" cy="237744"/>
          </a:xfrm>
          <a:prstGeom prst="ellipse">
            <a:avLst/>
          </a:prstGeom>
          <a:solidFill>
            <a:srgbClr val="7A6E3C"/>
          </a:solidFill>
          <a:ln w="12700">
            <a:solidFill>
              <a:srgbClr val="7A6E3C"/>
            </a:solidFill>
            <a:prstDash val="solid"/>
          </a:ln>
        </p:spPr>
      </p:sp>
      <p:sp>
        <p:nvSpPr>
          <p:cNvPr id="12" name="Text 8"/>
          <p:cNvSpPr/>
          <p:nvPr/>
        </p:nvSpPr>
        <p:spPr>
          <a:xfrm>
            <a:off x="9116568" y="173736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21 Oct 2026</a:t>
            </a:r>
            <a:endParaRPr lang="en-US" sz="1400" dirty="0"/>
          </a:p>
        </p:txBody>
      </p:sp>
      <p:sp>
        <p:nvSpPr>
          <p:cNvPr id="13" name="Text 9"/>
          <p:cNvSpPr/>
          <p:nvPr/>
        </p:nvSpPr>
        <p:spPr>
          <a:xfrm>
            <a:off x="9116568" y="206654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Proposal defence</a:t>
            </a:r>
            <a:endParaRPr lang="en-US" sz="1300" dirty="0"/>
          </a:p>
        </p:txBody>
      </p:sp>
      <p:sp>
        <p:nvSpPr>
          <p:cNvPr id="14" name="Shape 10"/>
          <p:cNvSpPr/>
          <p:nvPr/>
        </p:nvSpPr>
        <p:spPr>
          <a:xfrm>
            <a:off x="8732520" y="2660904"/>
            <a:ext cx="237744" cy="237744"/>
          </a:xfrm>
          <a:prstGeom prst="ellipse">
            <a:avLst/>
          </a:prstGeom>
          <a:solidFill>
            <a:srgbClr val="7A6E3C"/>
          </a:solidFill>
          <a:ln w="12700">
            <a:solidFill>
              <a:srgbClr val="7A6E3C"/>
            </a:solidFill>
            <a:prstDash val="solid"/>
          </a:ln>
        </p:spPr>
      </p:sp>
      <p:sp>
        <p:nvSpPr>
          <p:cNvPr id="15" name="Text 11"/>
          <p:cNvSpPr/>
          <p:nvPr/>
        </p:nvSpPr>
        <p:spPr>
          <a:xfrm>
            <a:off x="9116568" y="260604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Mid Nov 2026</a:t>
            </a:r>
            <a:endParaRPr lang="en-US" sz="1400" dirty="0"/>
          </a:p>
        </p:txBody>
      </p:sp>
      <p:sp>
        <p:nvSpPr>
          <p:cNvPr id="16" name="Text 12"/>
          <p:cNvSpPr/>
          <p:nvPr/>
        </p:nvSpPr>
        <p:spPr>
          <a:xfrm>
            <a:off x="9116568" y="293522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Goal 1 done, mock presentation</a:t>
            </a:r>
            <a:endParaRPr lang="en-US" sz="1300" dirty="0"/>
          </a:p>
        </p:txBody>
      </p:sp>
      <p:sp>
        <p:nvSpPr>
          <p:cNvPr id="17" name="Shape 13"/>
          <p:cNvSpPr/>
          <p:nvPr/>
        </p:nvSpPr>
        <p:spPr>
          <a:xfrm>
            <a:off x="8732520" y="3529584"/>
            <a:ext cx="237744" cy="237744"/>
          </a:xfrm>
          <a:prstGeom prst="ellipse">
            <a:avLst/>
          </a:prstGeom>
          <a:solidFill>
            <a:srgbClr val="7A6E3C"/>
          </a:solidFill>
          <a:ln w="12700">
            <a:solidFill>
              <a:srgbClr val="7A6E3C"/>
            </a:solidFill>
            <a:prstDash val="solid"/>
          </a:ln>
        </p:spPr>
      </p:sp>
      <p:sp>
        <p:nvSpPr>
          <p:cNvPr id="18" name="Text 14"/>
          <p:cNvSpPr/>
          <p:nvPr/>
        </p:nvSpPr>
        <p:spPr>
          <a:xfrm>
            <a:off x="9116568" y="347472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1</a:t>
            </a:r>
            <a:endParaRPr lang="en-US" sz="1400" dirty="0"/>
          </a:p>
        </p:txBody>
      </p:sp>
      <p:sp>
        <p:nvSpPr>
          <p:cNvPr id="19" name="Text 15"/>
          <p:cNvSpPr/>
          <p:nvPr/>
        </p:nvSpPr>
        <p:spPr>
          <a:xfrm>
            <a:off x="9116568" y="380390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Interim report</a:t>
            </a:r>
            <a:endParaRPr lang="en-US" sz="1300" dirty="0"/>
          </a:p>
        </p:txBody>
      </p:sp>
      <p:sp>
        <p:nvSpPr>
          <p:cNvPr id="20" name="Shape 16"/>
          <p:cNvSpPr/>
          <p:nvPr/>
        </p:nvSpPr>
        <p:spPr>
          <a:xfrm>
            <a:off x="8732520" y="4398264"/>
            <a:ext cx="237744" cy="237744"/>
          </a:xfrm>
          <a:prstGeom prst="ellipse">
            <a:avLst/>
          </a:prstGeom>
          <a:solidFill>
            <a:srgbClr val="7A6E3C"/>
          </a:solidFill>
          <a:ln w="12700">
            <a:solidFill>
              <a:srgbClr val="7A6E3C"/>
            </a:solidFill>
            <a:prstDash val="solid"/>
          </a:ln>
        </p:spPr>
      </p:sp>
      <p:sp>
        <p:nvSpPr>
          <p:cNvPr id="21" name="Text 17"/>
          <p:cNvSpPr/>
          <p:nvPr/>
        </p:nvSpPr>
        <p:spPr>
          <a:xfrm>
            <a:off x="9116568" y="434340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FYP 2</a:t>
            </a:r>
            <a:endParaRPr lang="en-US" sz="1400" dirty="0"/>
          </a:p>
        </p:txBody>
      </p:sp>
      <p:sp>
        <p:nvSpPr>
          <p:cNvPr id="22" name="Text 18"/>
          <p:cNvSpPr/>
          <p:nvPr/>
        </p:nvSpPr>
        <p:spPr>
          <a:xfrm>
            <a:off x="9116568" y="467258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Assessor validation, learner tests, second topic</a:t>
            </a:r>
            <a:endParaRPr lang="en-US" sz="1300" dirty="0"/>
          </a:p>
        </p:txBody>
      </p:sp>
      <p:sp>
        <p:nvSpPr>
          <p:cNvPr id="23" name="Shape 19"/>
          <p:cNvSpPr/>
          <p:nvPr/>
        </p:nvSpPr>
        <p:spPr>
          <a:xfrm>
            <a:off x="8732520" y="5266944"/>
            <a:ext cx="237744" cy="237744"/>
          </a:xfrm>
          <a:prstGeom prst="ellipse">
            <a:avLst/>
          </a:prstGeom>
          <a:solidFill>
            <a:srgbClr val="7A6E3C"/>
          </a:solidFill>
          <a:ln w="12700">
            <a:solidFill>
              <a:srgbClr val="7A6E3C"/>
            </a:solidFill>
            <a:prstDash val="solid"/>
          </a:ln>
        </p:spPr>
      </p:sp>
      <p:sp>
        <p:nvSpPr>
          <p:cNvPr id="24" name="Text 20"/>
          <p:cNvSpPr/>
          <p:nvPr/>
        </p:nvSpPr>
        <p:spPr>
          <a:xfrm>
            <a:off x="9116568" y="5212080"/>
            <a:ext cx="2572207" cy="32004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End of FYP 2</a:t>
            </a:r>
            <a:endParaRPr lang="en-US" sz="1400" dirty="0"/>
          </a:p>
        </p:txBody>
      </p:sp>
      <p:sp>
        <p:nvSpPr>
          <p:cNvPr id="25" name="Text 21"/>
          <p:cNvSpPr/>
          <p:nvPr/>
        </p:nvSpPr>
        <p:spPr>
          <a:xfrm>
            <a:off x="9116568" y="5541264"/>
            <a:ext cx="2572207" cy="457200"/>
          </a:xfrm>
          <a:prstGeom prst="rect">
            <a:avLst/>
          </a:prstGeom>
          <a:noFill/>
          <a:ln/>
        </p:spPr>
        <p:txBody>
          <a:bodyPr wrap="square" lIns="0" tIns="0" rIns="0" bIns="0" rtlCol="0" anchor="t"/>
          <a:lstStyle/>
          <a:p>
            <a:pPr indent="0" marL="0">
              <a:buNone/>
            </a:pPr>
            <a:r>
              <a:rPr lang="en-US" sz="1300" dirty="0">
                <a:solidFill>
                  <a:srgbClr val="111827"/>
                </a:solidFill>
                <a:latin typeface="Arial" pitchFamily="34" charset="0"/>
                <a:ea typeface="Arial" pitchFamily="34" charset="-122"/>
                <a:cs typeface="Arial" pitchFamily="34" charset="-120"/>
              </a:rPr>
              <a:t>Dissertation and technical paper</a:t>
            </a:r>
            <a:endParaRPr lang="en-US" sz="1300" dirty="0"/>
          </a:p>
        </p:txBody>
      </p:sp>
      <p:sp>
        <p:nvSpPr>
          <p:cNvPr id="26" name="Text 22"/>
          <p:cNvSpPr/>
          <p:nvPr/>
        </p:nvSpPr>
        <p:spPr>
          <a:xfrm>
            <a:off x="502920" y="6126480"/>
            <a:ext cx="7955280" cy="274320"/>
          </a:xfrm>
          <a:prstGeom prst="rect">
            <a:avLst/>
          </a:prstGeom>
          <a:noFill/>
          <a:ln/>
        </p:spPr>
        <p:txBody>
          <a:bodyPr wrap="square" lIns="0" tIns="0" rIns="0" bIns="0" rtlCol="0" anchor="ctr"/>
          <a:lstStyle/>
          <a:p>
            <a:pPr indent="0" marL="0">
              <a:buNone/>
            </a:pPr>
            <a:r>
              <a:rPr lang="en-US" sz="1100" i="1" dirty="0">
                <a:solidFill>
                  <a:srgbClr val="4B5563"/>
                </a:solidFill>
                <a:latin typeface="Arial" pitchFamily="34" charset="0"/>
                <a:ea typeface="Arial" pitchFamily="34" charset="-122"/>
                <a:cs typeface="Arial" pitchFamily="34" charset="-120"/>
              </a:rPr>
              <a:t>FYP 2 dates are a first plan, to be confirmed with the supervisor.</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sp>
      <p:pic>
        <p:nvPicPr>
          <p:cNvPr id="12" name="Image 1" descr="C:\Users\eizma\AppData\Local\Temp\claude\c--Users-eizma-Desktop-socratic-ai\1d6c8d6d-fece-4855-be96-8b6833d2ef11\scratchpad\shots\07_profile.png">    </p:cNvPr>
          <p:cNvPicPr>
            <a:picLocks noChangeAspect="1"/>
          </p:cNvPicPr>
          <p:nvPr/>
        </p:nvPicPr>
        <p:blipFill>
          <a:blip r:embed="rId2"/>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sp>
      <p:sp>
        <p:nvSpPr>
          <p:cNvPr id="15" name="Text 11"/>
          <p:cNvSpPr/>
          <p:nvPr/>
        </p:nvSpPr>
        <p:spPr>
          <a:xfrm>
            <a:off x="7086600" y="150876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sp>
      <p:sp>
        <p:nvSpPr>
          <p:cNvPr id="18" name="Text 14"/>
          <p:cNvSpPr/>
          <p:nvPr/>
        </p:nvSpPr>
        <p:spPr>
          <a:xfrm>
            <a:off x="7086600" y="297180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sp>
      <p:sp>
        <p:nvSpPr>
          <p:cNvPr id="21" name="Text 17"/>
          <p:cNvSpPr/>
          <p:nvPr/>
        </p:nvSpPr>
        <p:spPr>
          <a:xfrm>
            <a:off x="7086600" y="443484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descr=""/>
          <p:cNvGraphicFramePr/>
          <p:nvPr/>
        </p:nvGraphicFramePr>
        <p:xfrm>
          <a:off x="502920" y="150876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96793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sp>
      <p:sp>
        <p:nvSpPr>
          <p:cNvPr id="16" name="Text 12"/>
          <p:cNvSpPr/>
          <p:nvPr/>
        </p:nvSpPr>
        <p:spPr>
          <a:xfrm>
            <a:off x="6903720" y="5257800"/>
            <a:ext cx="4602175" cy="86868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sp>
      <p:sp>
        <p:nvSpPr>
          <p:cNvPr id="10" name="Text 7"/>
          <p:cNvSpPr/>
          <p:nvPr/>
        </p:nvSpPr>
        <p:spPr>
          <a:xfrm>
            <a:off x="1234440" y="1463040"/>
            <a:ext cx="9722815" cy="2286000"/>
          </a:xfrm>
          <a:prstGeom prst="rect">
            <a:avLst/>
          </a:prstGeom>
          <a:noFill/>
          <a:ln/>
        </p:spPr>
        <p:txBody>
          <a:bodyPr wrap="square" lIns="0" tIns="0" rIns="0" bIns="0" rtlCol="0" anchor="ctr"/>
          <a:lstStyle/>
          <a:p>
            <a:pPr algn="ctr" indent="0" marL="0">
              <a:buNone/>
            </a:pPr>
            <a:r>
              <a:rPr lang="en-US" sz="2000" dirty="0">
                <a:solidFill>
                  <a:srgbClr val="111827"/>
                </a:solidFill>
                <a:latin typeface="Arial" pitchFamily="34" charset="0"/>
                <a:ea typeface="Arial" pitchFamily="34" charset="-122"/>
                <a:cs typeface="Arial" pitchFamily="34" charset="-120"/>
              </a:rPr>
              <a:t>Existing Socratic AI tutors have no question ladder and no real assessment. Socratic AI is a working multi-agent tutor that follows Paul's six levels, marks every answer against the nine standards, and never gives the answer away. Next, it will show which type of reasoning and knowledge a learner used, and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algn="ctr" indent="0" marL="0">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algn="ctr" indent="0" marL="0">
              <a:buNone/>
            </a:pPr>
            <a:r>
              <a:rPr lang="en-US" sz="1900" b="1" dirty="0">
                <a:solidFill>
                  <a:srgbClr val="07517A"/>
                </a:solidFill>
                <a:latin typeface="Arial" pitchFamily="34" charset="0"/>
                <a:ea typeface="Arial" pitchFamily="34" charset="-122"/>
                <a:cs typeface="Arial" pitchFamily="34" charset="-120"/>
              </a:rPr>
              <a:t>This is a reasoning trainer, not an answer machine, built in a new way: many prompted agents working together, guarded by code.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C:\Users\eizma\AppData\Local\Temp\claude\c--Users-eizma-Desktop-socratic-ai\1d6c8d6d-fece-4855-be96-8b6833d2ef11\scratchpad\deck\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[16] T. W. Ho, Foundations of Modern Deep Neural Networks, Module 8: Towards Agentic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[17] J. Wei et al., "Chain-of-thought prompting elicits reasoning in large language models," NeurIPS, vol. 35, pp. 24824-24837, 2022.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[18] S. Yao et al., "ReAct: Synergizing reasoning and acting in language models," in Proc. ICLR,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[19] Y. Gao et al., "Retrieval-augmented generation for large language models: A survey," arXiv:2312.10997,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[20] Anthropic, "Introducing the Model Context Protocol," 25 Nov. 2024. [Online]. Available: https://www.anthropic.com/news/model-context-protocol</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[21] S. Hong et al., "MetaGPT: Meta programming for a multi-agent collaborative framework," in Proc. ICLR,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[22] M. H. Nguyen, T. P. Chau, P. X. Nguyen and N. D. Q. Bui, "AgileCoder: Dynamic collaborative agents for software development based on agile methodology," arXiv:2406.11912,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[23] T. W. Ho, Foundations of Modern Deep Neural Networks, Module 7: Foundation Models and Generative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[24]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AppData\Local\Temp\claude\c--Users-eizma-Desktop-socratic-ai\1d6c8d6d-fece-4855-be96-8b6833d2ef11\scratchpad\deck\utp_logo_cover.jpeg">    </p:cNvPr>
          <p:cNvPicPr>
            <a:picLocks noChangeAspect="1"/>
          </p:cNvPicPr>
          <p:nvPr/>
        </p:nvPicPr>
        <p:blipFill>
          <a:blip r:embed="rId1"/>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algn="ctr" indent="0" marL="0">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algn="ctr" indent="0" marL="0">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PptxGenJS</cp:lastModifiedBy>
  <cp:revision>1</cp:revision>
  <dcterms:created xsi:type="dcterms:W3CDTF">2026-10-20T08:25:14Z</dcterms:created>
  <dcterms:modified xsi:type="dcterms:W3CDTF">2026-10-20T08:25:14Z</dcterms:modified>
</cp:coreProperties>
</file>